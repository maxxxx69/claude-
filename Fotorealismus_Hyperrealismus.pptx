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stieg" id="{65bac779-7938-741b-26ea-076d2d4e8b94}">
          <p14:sldIdLst>
            <p14:sldId id="256"/>
            <p14:sldId id="257"/>
            <p14:sldId id="258"/>
          </p14:sldIdLst>
        </p14:section>
        <p14:section name="Zeitliche Einordnung" id="{7df43458-8435-b4b2-9938-5264f48f919e}">
          <p14:sldIdLst>
            <p14:sldId id="259"/>
            <p14:sldId id="260"/>
          </p14:sldIdLst>
        </p14:section>
        <p14:section name="Merkmale" id="{c2147c89-55e6-627d-82ca-56822568a317}">
          <p14:sldIdLst>
            <p14:sldId id="261"/>
            <p14:sldId id="262"/>
            <p14:sldId id="263"/>
            <p14:sldId id="264"/>
          </p14:sldIdLst>
        </p14:section>
        <p14:section name="Motive" id="{69b003f3-dde4-cb12-d433-7553ab742b72}">
          <p14:sldIdLst>
            <p14:sldId id="265"/>
          </p14:sldIdLst>
        </p14:section>
        <p14:section name="Hauptvertreter" id="{7a7b0aff-7684-c10d-4f9a-4081ceb7afee}">
          <p14:sldIdLst>
            <p14:sldId id="266"/>
            <p14:sldId id="267"/>
          </p14:sldIdLst>
        </p14:section>
        <p14:section name="Werkbeispiele" id="{4c19fb95-e77b-d4f8-308a-36bbecd6f576}">
          <p14:sldIdLst>
            <p14:sldId id="268"/>
            <p14:sldId id="269"/>
            <p14:sldId id="270"/>
            <p14:sldId id="271"/>
            <p14:sldId id="272"/>
          </p14:sldIdLst>
        </p14:section>
        <p14:section name="Fazit &amp; Quellen" id="{ab6b5560-02b8-44cc-3ca6-a0c380b37df1}">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Begrüßung. Mein Referat handelt vom Fotorealismus und vom Hyperrealismus – zwei Kunstrichtungen, bei denen Gemälde und Skulpturen so echt aussehen, dass man sie für Fotos oder echte Menschen halten kann. Die Leitfrage lautet: Wirklicher als die Wirklichkeit? (ca. 20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ins Publikum fragen: Ist das ein Foto oder ein Gemälde? – Auflösung: Es ist ein Gemälde, über zwei Meter breit! Ralph Goings: Airstream, 1970. Jede Spiegelung auf dem glänzenden Aluminium und jeder Schatten ist von Hand gemalt, nach einem Foto. Genau diese Verwechslungsgefahr ist das Thema des Fotorealismus. (ca. 40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Zuerst ordne ich die Epoche zeitlich ein und zeige, wie sie sich entwickelt hat. Dann stelle ich die typischen Merkmale vor und weise sie an zwei Bildern nach. Danach geht es um die Motive und die wichtigsten Künstlerinnen und Künstler. Anschließend zeige ich weitere Werkbeispiele, und am Ende ziehe ich ein Fazit. Die Quellen stehen auf den letzten beiden Folien. (ca. 20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Fotorealismus entsteht Ende der 1960er-Jahre in den USA, vor allem in New York und Kalifornien. Er ist eine Gegenbewegung zum Abstrakten Expressionismus, bei dem man jeden Pinselschwung sieht. Von der Pop Art übernehmen die Fotorealisten den Blick auf Werbung, Konsum und Alltag. 1966 malt Malcolm Morley ein Kreuzfahrtschiff nach einer Postkarte – das gilt als eines der ersten Werke dieser Art. 1969 prägt der New Yorker Galerist Louis K. Meisel den Begriff „Photo-Realism“, 1970 steht er zum ersten Mal gedruckt, im Katalog einer Ausstellung im Whitney Museum. 1972 zeigt die documenta 5 in Kassel viele Fotorealisten – ihr erster großer Auftritt in Europa. 1973 kommt in Brüssel der Begriff „Hyperrealismus“ auf. 1980 erscheint Meisels Standardwerk über die erste Generation. Seit etwa 2000 erlebt der Hyperrealismus einen Boom – durch digitale Fotografie und neue Materialien wie Silikon. (ca. 75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Wie hängen die beiden Begriffe zusammen? Oft werden sie gleichbedeutend verwendet, man kann aber eine Entwicklung erkennen. Der Fotorealismus ist kühl und neutral: Er überträgt das Foto möglichst genau, sogar mit fotografischen Fehlern wie Unschärfe. Gemalt werden vor allem Szenen aus dem amerikanischen Alltag. Der Hyperrealismus geht einen Schritt weiter: Die Werke sind oft noch detailreicher als jedes Foto, sie erzählen Geschichten, wecken Gefühle oder üben Kritik. Außerdem gibt es nun auch hyperrealistische Skulpturen. (ca. 50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Diese sechs Merkmale fassen zusammen, woran man Fotorealismus erkennt. Erstens: Die Vorlage ist immer ein Foto. Zweitens: Das Foto wird mechanisch übertragen, zum Beispiel mit einem Raster oder einem Projektor. Drittens: Man sieht keine Handschrift des Künstlers, also keine Pinselspuren. Viertens: Der Blick ist fotografisch – Ausschnitt, Spiegelungen und sogar Unschärfen stammen aus dem Foto. Fünftens: Die Bilder sind oft riesig. Und sechstens: Die Motive kommen aus dem Alltag und werden neutral, ohne Bewertung, gezeigt. Zwei dieser Merkmale weise ich jetzt an Bildbeispielen nach. (ca. 60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erste Bildbeispiel: Richard Estes: Telephone Booths, 1967. Man sieht eine Reihe von Telefonzellen in New York. Auffällig sind die Spiegelungen im Glas und im Metall – Spiegelungen sind das Markenzeichen von Estes. Außerdem ist alles gleich scharf, vom Vordergrund bis zum Hintergrund – das schafft weder unser Auge noch eine Kamera auf einmal. Möglich wird das, weil Estes ohne Projektor arbeitet und mehrere eigene Fotos zu einem Bild zusammensetzt. Man sieht keinen einzigen Pinselstrich, und das Motiv ist völlig alltäglich und wird ohne Wertung gezeigt. Das Bild ist also schärfer als die Wirklichkeit. (ca. 55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zweite Bildbeispiel: Chuck Close: Big Self-Portrait, 1967–68. Das Bild ist 2,73 Meter hoch – das Gesicht wirkt dadurch monumental. Close hat über ein Foto von sich ein Raster aus Quadraten gelegt und es Feld für Feld auf die Leinwand übertragen, mit der Spritzpistole, also Airbrush, in Schwarz-Weiß. Interessant ist: Close übernimmt sogar die Unschärfe der Kamera. Die Augen sind scharf, Nasenspitze und Ohren verschwimmen – so, wie es eine Kamera bei geringer Tiefenschärfe aufnimmt. Und das Porträt ist nicht geschönt: Zigarette im Mund, zerzauste Haare, Bartstoppeln. Übrigens war es das erste Bild, das Close verkauft hat – 1969 an das Walker Art Center. (ca. 55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entsteht ein fotorealistisches Bild: Zuerst wird fotografiert, oft werden mehrere Fotos kombiniert. Dann wird das Bild übertragen – mit einem Raster oder indem man ein Dia direkt auf die Leinwand projiziert und nachzeichnet. Danach wird Schicht für Schicht gemalt, oft mit Airbrush. An einem Bild arbeiten die Künstler häufig mehrere Monate. Der Galerist Louis K. Meisel hat 1972 fünf Kriterien formuliert: Fotorealisten arbeiten mit Kamera und Foto, übertragen mechanisch, haben das Können für eine fotografische Wirkung – und die beiden letzten Kriterien grenzen die Kerngruppe zeitlich ein. Kritiker meinten übrigens, Meisel habe die Kriterien so gewählt, dass vor allem seine eigenen Künstler hineinpassen. (ca. 65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Motive stammen fast immer aus dem Alltag. Besonders beliebt sind Großstadtansichten und Schaufenster mit Spiegelungen, Autos und Motorräder als Symbole des amerikanischen Lebensstils, und Diner – also typisch amerikanische Imbissrestaurants. Dazu kommen Porträts im Riesenformat und Stillleben mit Konsumgütern, etwa Kaugummiautomaten. Im Hyperrealismus steht dann oft der Mensch selbst im Mittelpunkt – als lebensechte Skulptur oder in Bildern von Haut und Wasser. (ca. 45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wichtigsten Fotorealisten kommen aus den USA. Richard Estes ist bekannt für seine New Yorker Stadtansichten mit Spiegelungen. Chuck Close malte riesige Porträts mit der Rastertechnik. Ralph Goings malte vor allem Diner und Pick-up-Trucks, Audrey Flack war eine der wenigen Frauen der Bewegung und malte Stillleben mit Airbrush. Robert Bechtle zeigt die kalifornische Vorstadt mit Autos und Familien. Der wichtigste Europäer ist der Schweizer Franz Gertsch, der auf der documenta 5 bekannt wurde. (ca. 50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Hyperrealismus spielen Skulpturen eine große Rolle. Duane Hanson schuf lebensgroße Figuren von Alltagsmenschen, mit echter Kleidung. John De Andrea arbeitet ähnlich, zeigt aber nackte Figuren. Ron Mueck spielt mit dem Maßstab: Seine Figuren sind riesig oder winzig, aber bis zur Pore detailliert. In der Malerei sind zum Beispiel Gottfried Helnwein, Roberto Bernardi und Robin Eley wichtig – bei Eley sieht man Menschen in Plastikfolie, aber die Folie ist nur gemalt. (ca. 45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Links: Malcolm Morley: SS Amsterdam in Front of Rotterdam, 1966. Morley malte das Schiff nach einem gedruckten Werbebild der Reederei und übertrug es mit einem Raster Feld für Feld – sogar der weiße Rand der Vorlage ist mitgemalt. Morley nannte seine Malweise „Superrealism“. Rechts: Franz Gertsch: Medici, 1971/72. Fünf junge Männer lehnen an einer Bauabsperrung der Firma „Medici“ – daher der Titel. Das Bild ist vier mal sechs Meter groß, entstand nach einem einzigen Schnappschuss und brachte Gertsch 1972 auf der documenta 5 den Durchbruch. (ca. 45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Links: Robert Bechtle: ’61 Pontiac, 1968–69. Der Künstler steht mit seiner Familie vor ihrem Pontiac-Kombi – Vorlage war ein ganz normales Familienfoto. Das Bild hing 1972 auf der documenta 5. Rechts: Don Eddy: New Shoes for H, 1973–74. Man blickt in ein Schuhgeschäft; Spiegelungen der Straße legen sich über die Schuhe, sodass man kaum sagen kann, was vor und was hinter der Scheibe ist. (ca. 40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Links: Audrey Flack: Marilyn (Vanitas), 1977. Ein Vanitas-Stillleben rund um ein Foto der jungen Marilyn Monroe: Sanduhr, Kerze, Obst und Schminke stehen für Schönheit und Vergänglichkeit. Flack hat die Dinge arrangiert, fotografiert und das Dia direkt auf die Leinwand projiziert. Rechts: Charles Bell: Gum Ball No. 10: „Sugar Daddy“, 1975. Ein Kaugummiautomat, vergrößert auf 1,68 Meter – ein billiges Konsumprodukt wird zum monumentalen Bild, und Bell zeigt, wie Licht in Glas gespiegelt und gebrochen wird. (ca. 45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Links: Duane Hanson: Supermarket Lady, 1969/70. Eine Hausfrau mit Lockenwicklern schiebt einen Einkaufswagen voller echter Lebensmittelverpackungen. Hanson hat die Figur über einem lebenden Menschen abgegossen und naturgetreu bemalt; die Kleidung ist echt. Im Museum halten Besucher sie oft für eine echte Person. Man versteht sie auch als Kritik an der Konsumgesellschaft. Rechts: Ron Mueck: Mask II, 2001–02. Ein riesiger Kopf – ein Selbstporträt von Mueck – liegt wie schlafend auf der Seite. Jede Pore und jede Bartstoppel ist zu sehen. Von hinten ist der Kopf hohl wie eine Maske: Die Illusion wird bewusst gebrochen. (ca. 50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Links: Gottfried Helnwein: Epiphany II (Adoration of the Shepherds), 1998. Aus Helnweins Serie „Epiphany“: Er verbindet ein christliches Bildthema mit Figuren in Uniformen der NS-Zeit. Das Bild wirkt wie ein riesiges historisches Foto und will provozieren – Hyperrealismus wird hier zum Mittel der Gesellschaftskritik. Rechts: Gregory Thielker: Exhale, 2023. Wir blicken durch eine verregnete Windschutzscheibe. Die Tropfen sind gestochen scharf, die Landschaft dahinter verschwimmt – Thielker malt also, wie eine Kameralinse sieht. Der Hyperrealismus ist bis heute lebendig. (ca. 45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Zum Schluss: Dem Fotorealismus wurde oft vorgeworfen, er sei nur handwerklich perfektes Abmalen ohne eigene Idee. Man kann es aber auch anders sehen: Die Werke machen uns bewusst, wie sehr wir Bildern vertrauen – und fragen, was eigentlich echt ist. Heute, wo jeder ständig fotografiert, Bilder filtert und KI täuschend echte Bilder erzeugt, ist diese Frage aktueller denn je. Deshalb meine Frage an euch: Ist es Kunst, ein Foto perfekt abzumalen? – Vielen Dank für eure Aufmerksamkeit! (ca. 50 Sekunden + Diskussion)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Quellenangaben – nicht vortragen, nur kurz zeigen.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Bildnachweise – nicht vortragen, nur kurz zeigen.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EL">
    <p:bg>
      <p:bgPr>
        <a:solidFill>
          <a:srgbClr val="14141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143000" y="2148840"/>
            <a:ext cx="7863840" cy="1737360"/>
          </a:xfrm>
          <a:prstGeom prst="rect">
            <a:avLst/>
          </a:prstGeom>
          <a:noFill/>
          <a:ln/>
        </p:spPr>
        <p:txBody>
          <a:bodyPr wrap="square" rtlCol="0"/>
          <a:lstStyle>
            <a:lvl1pPr algn="l" indent="0" marL="0">
              <a:buNone/>
              <a:defRPr lang="en-US" sz="5000" b="1" dirty="0">
                <a:solidFill>
                  <a:schemeClr val="bg1"/>
                </a:solidFill>
                <a:latin typeface="Georgia" pitchFamily="34" charset="0"/>
                <a:ea typeface="Georgia" pitchFamily="34" charset="-122"/>
                <a:cs typeface="Georgia" pitchFamily="34" charset="-120"/>
              </a:defRPr>
            </a:lvl1pPr>
          </a:lstStyle>
          <a:p>
            <a:pPr algn="l" indent="0" marL="0">
              <a:buNone/>
            </a:pPr>
            <a:endParaRPr lang="en-US" sz="5000" dirty="0"/>
          </a:p>
        </p:txBody>
      </p:sp>
      <p:sp>
        <p:nvSpPr>
          <p:cNvPr id="3" name="Text 0"/>
          <p:cNvSpPr/>
          <p:nvPr>
            <p:ph idx="101" type="body" hasCustomPrompt="1"/>
          </p:nvPr>
        </p:nvSpPr>
        <p:spPr>
          <a:xfrm>
            <a:off x="1143000" y="4069080"/>
            <a:ext cx="7863840" cy="822960"/>
          </a:xfrm>
          <a:prstGeom prst="rect">
            <a:avLst/>
          </a:prstGeom>
          <a:noFill/>
          <a:ln/>
        </p:spPr>
        <p:txBody>
          <a:bodyPr wrap="square" rtlCol="0"/>
          <a:lstStyle>
            <a:lvl1pPr algn="l" indent="0" marL="0">
              <a:buNone/>
              <a:defRPr lang="en-US" sz="2000" dirty="0">
                <a:solidFill>
                  <a:schemeClr val="bg2"/>
                </a:solidFill>
                <a:latin typeface="Arial" pitchFamily="34" charset="0"/>
                <a:ea typeface="Arial" pitchFamily="34" charset="-122"/>
                <a:cs typeface="Arial" pitchFamily="34" charset="-120"/>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HALT">
    <p:bg>
      <p:bgPr>
        <a:solidFill>
          <a:srgbClr val="141414"/>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rtlCol="0"/>
          <a:lstStyle>
            <a:lvl1pPr algn="l" indent="0" marL="0">
              <a:buNone/>
              <a:defRPr lang="en-US" sz="1200" b="1" spc="300" kern="0" dirty="0">
                <a:solidFill>
                  <a:schemeClr val="accent1"/>
                </a:solidFill>
                <a:latin typeface="Arial" pitchFamily="34" charset="0"/>
                <a:ea typeface="Arial" pitchFamily="34" charset="-122"/>
                <a:cs typeface="Arial" pitchFamily="34" charset="-120"/>
              </a:defRPr>
            </a:lvl1pPr>
          </a:lstStyle>
          <a:p>
            <a:pPr algn="l" indent="0" marL="0">
              <a:buNone/>
            </a:pPr>
            <a:endParaRPr lang="en-US" sz="1200" dirty="0"/>
          </a:p>
        </p:txBody>
      </p:sp>
      <p:sp>
        <p:nvSpPr>
          <p:cNvPr id="3" name="Text 0"/>
          <p:cNvSpPr/>
          <p:nvPr>
            <p:ph idx="101" type="title" hasCustomPrompt="1"/>
          </p:nvPr>
        </p:nvSpPr>
        <p:spPr>
          <a:xfrm>
            <a:off x="548640" y="694944"/>
            <a:ext cx="11094415" cy="749808"/>
          </a:xfrm>
          <a:prstGeom prst="rect">
            <a:avLst/>
          </a:prstGeom>
          <a:noFill/>
          <a:ln/>
        </p:spPr>
        <p:txBody>
          <a:bodyPr wrap="square" rtlCol="0"/>
          <a:lstStyle>
            <a:lvl1pPr algn="l" indent="0" marL="0">
              <a:buNone/>
              <a:defRPr lang="en-US" sz="3200" b="1" dirty="0">
                <a:solidFill>
                  <a:schemeClr val="bg1"/>
                </a:solidFill>
                <a:latin typeface="Georgia" pitchFamily="34" charset="0"/>
                <a:ea typeface="Georgia" pitchFamily="34" charset="-122"/>
                <a:cs typeface="Georg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ILD">
    <p:bg>
      <p:bgPr>
        <a:solidFill>
          <a:srgbClr val="14141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3.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777240" y="777240"/>
            <a:ext cx="502920" cy="0"/>
          </a:xfrm>
          <a:prstGeom prst="line">
            <a:avLst/>
          </a:prstGeom>
          <a:noFill/>
          <a:ln w="31750">
            <a:solidFill>
              <a:schemeClr val="accent1"/>
            </a:solidFill>
            <a:prstDash val="solid"/>
          </a:ln>
        </p:spPr>
      </p:sp>
      <p:sp>
        <p:nvSpPr>
          <p:cNvPr id="3" name="Shape 1"/>
          <p:cNvSpPr/>
          <p:nvPr/>
        </p:nvSpPr>
        <p:spPr>
          <a:xfrm>
            <a:off x="777240" y="777240"/>
            <a:ext cx="0" cy="502920"/>
          </a:xfrm>
          <a:prstGeom prst="line">
            <a:avLst/>
          </a:prstGeom>
          <a:noFill/>
          <a:ln w="31750">
            <a:solidFill>
              <a:schemeClr val="accent1"/>
            </a:solidFill>
            <a:prstDash val="solid"/>
          </a:ln>
        </p:spPr>
      </p:sp>
      <p:sp>
        <p:nvSpPr>
          <p:cNvPr id="4" name="Shape 2"/>
          <p:cNvSpPr/>
          <p:nvPr/>
        </p:nvSpPr>
        <p:spPr>
          <a:xfrm>
            <a:off x="10911535" y="777240"/>
            <a:ext cx="502920" cy="0"/>
          </a:xfrm>
          <a:prstGeom prst="line">
            <a:avLst/>
          </a:prstGeom>
          <a:noFill/>
          <a:ln w="31750">
            <a:solidFill>
              <a:schemeClr val="accent1"/>
            </a:solidFill>
            <a:prstDash val="solid"/>
          </a:ln>
        </p:spPr>
      </p:sp>
      <p:sp>
        <p:nvSpPr>
          <p:cNvPr id="5" name="Shape 3"/>
          <p:cNvSpPr/>
          <p:nvPr/>
        </p:nvSpPr>
        <p:spPr>
          <a:xfrm>
            <a:off x="11414455" y="777240"/>
            <a:ext cx="0" cy="502920"/>
          </a:xfrm>
          <a:prstGeom prst="line">
            <a:avLst/>
          </a:prstGeom>
          <a:noFill/>
          <a:ln w="31750">
            <a:solidFill>
              <a:schemeClr val="accent1"/>
            </a:solidFill>
            <a:prstDash val="solid"/>
          </a:ln>
        </p:spPr>
      </p:sp>
      <p:sp>
        <p:nvSpPr>
          <p:cNvPr id="6" name="Shape 4"/>
          <p:cNvSpPr/>
          <p:nvPr/>
        </p:nvSpPr>
        <p:spPr>
          <a:xfrm>
            <a:off x="777240" y="6080760"/>
            <a:ext cx="502920" cy="0"/>
          </a:xfrm>
          <a:prstGeom prst="line">
            <a:avLst/>
          </a:prstGeom>
          <a:noFill/>
          <a:ln w="31750">
            <a:solidFill>
              <a:schemeClr val="accent1"/>
            </a:solidFill>
            <a:prstDash val="solid"/>
          </a:ln>
        </p:spPr>
      </p:sp>
      <p:sp>
        <p:nvSpPr>
          <p:cNvPr id="7" name="Shape 5"/>
          <p:cNvSpPr/>
          <p:nvPr/>
        </p:nvSpPr>
        <p:spPr>
          <a:xfrm>
            <a:off x="777240" y="5577840"/>
            <a:ext cx="0" cy="502920"/>
          </a:xfrm>
          <a:prstGeom prst="line">
            <a:avLst/>
          </a:prstGeom>
          <a:noFill/>
          <a:ln w="31750">
            <a:solidFill>
              <a:schemeClr val="accent1"/>
            </a:solidFill>
            <a:prstDash val="solid"/>
          </a:ln>
        </p:spPr>
      </p:sp>
      <p:sp>
        <p:nvSpPr>
          <p:cNvPr id="8" name="Shape 6"/>
          <p:cNvSpPr/>
          <p:nvPr/>
        </p:nvSpPr>
        <p:spPr>
          <a:xfrm>
            <a:off x="10911535" y="6080760"/>
            <a:ext cx="502920" cy="0"/>
          </a:xfrm>
          <a:prstGeom prst="line">
            <a:avLst/>
          </a:prstGeom>
          <a:noFill/>
          <a:ln w="31750">
            <a:solidFill>
              <a:schemeClr val="accent1"/>
            </a:solidFill>
            <a:prstDash val="solid"/>
          </a:ln>
        </p:spPr>
      </p:sp>
      <p:sp>
        <p:nvSpPr>
          <p:cNvPr id="9" name="Shape 7"/>
          <p:cNvSpPr/>
          <p:nvPr/>
        </p:nvSpPr>
        <p:spPr>
          <a:xfrm>
            <a:off x="11414455" y="5577840"/>
            <a:ext cx="0" cy="502920"/>
          </a:xfrm>
          <a:prstGeom prst="line">
            <a:avLst/>
          </a:prstGeom>
          <a:noFill/>
          <a:ln w="31750">
            <a:solidFill>
              <a:schemeClr val="accent1"/>
            </a:solidFill>
            <a:prstDash val="solid"/>
          </a:ln>
        </p:spPr>
      </p:sp>
      <p:sp>
        <p:nvSpPr>
          <p:cNvPr id="10" name="Shape 8"/>
          <p:cNvSpPr/>
          <p:nvPr/>
        </p:nvSpPr>
        <p:spPr>
          <a:xfrm>
            <a:off x="8473288" y="3410712"/>
            <a:ext cx="329184" cy="0"/>
          </a:xfrm>
          <a:prstGeom prst="line">
            <a:avLst/>
          </a:prstGeom>
          <a:noFill/>
          <a:ln w="12700">
            <a:solidFill>
              <a:schemeClr val="accent5"/>
            </a:solidFill>
            <a:prstDash val="solid"/>
          </a:ln>
        </p:spPr>
      </p:sp>
      <p:sp>
        <p:nvSpPr>
          <p:cNvPr id="11" name="Shape 9"/>
          <p:cNvSpPr/>
          <p:nvPr/>
        </p:nvSpPr>
        <p:spPr>
          <a:xfrm>
            <a:off x="8637880" y="3246120"/>
            <a:ext cx="0" cy="329184"/>
          </a:xfrm>
          <a:prstGeom prst="line">
            <a:avLst/>
          </a:prstGeom>
          <a:noFill/>
          <a:ln w="12700">
            <a:solidFill>
              <a:schemeClr val="accent5"/>
            </a:solidFill>
            <a:prstDash val="solid"/>
          </a:ln>
        </p:spPr>
      </p:sp>
      <p:sp>
        <p:nvSpPr>
          <p:cNvPr id="12" name="Text 10"/>
          <p:cNvSpPr txBox="1"/>
          <p:nvPr/>
        </p:nvSpPr>
        <p:spPr>
          <a:xfrm>
            <a:off x="1143000" y="1097280"/>
            <a:ext cx="5486400" cy="274320"/>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REFERAT · KUNSTEPOCHEN</a:t>
            </a:r>
            <a:endParaRPr lang="en-US" sz="1200" dirty="0"/>
          </a:p>
        </p:txBody>
      </p:sp>
      <p:sp>
        <p:nvSpPr>
          <p:cNvPr id="13" name="Text 11"/>
          <p:cNvSpPr txBox="1"/>
          <p:nvPr/>
        </p:nvSpPr>
        <p:spPr>
          <a:xfrm>
            <a:off x="7391095" y="1097280"/>
            <a:ext cx="3657600" cy="274320"/>
          </a:xfrm>
          <a:prstGeom prst="rect">
            <a:avLst/>
          </a:prstGeom>
          <a:noFill/>
          <a:ln/>
        </p:spPr>
        <p:txBody>
          <a:bodyPr wrap="square" lIns="0" tIns="0" rIns="0" bIns="0" rtlCol="0" anchor="ctr"/>
          <a:lstStyle/>
          <a:p>
            <a:pPr algn="r" indent="0" marL="0">
              <a:buNone/>
            </a:pPr>
            <a:r>
              <a:rPr lang="en-US" sz="1200" b="1" spc="300" kern="0" dirty="0">
                <a:solidFill>
                  <a:schemeClr val="bg2"/>
                </a:solidFill>
                <a:latin typeface="Arial" pitchFamily="34" charset="0"/>
                <a:ea typeface="Arial" pitchFamily="34" charset="-122"/>
                <a:cs typeface="Arial" pitchFamily="34" charset="-120"/>
              </a:rPr>
              <a:t>1966 – HEUTE</a:t>
            </a:r>
            <a:endParaRPr lang="en-US" sz="1200" dirty="0"/>
          </a:p>
        </p:txBody>
      </p:sp>
      <p:sp>
        <p:nvSpPr>
          <p:cNvPr id="14" name="Text 0"/>
          <p:cNvSpPr/>
          <p:nvPr>
            <p:ph idx="100" type="title" hasCustomPrompt="1"/>
          </p:nvPr>
        </p:nvSpPr>
        <p:spPr>
          <a:xfrm>
            <a:off x="1143000" y="2148840"/>
            <a:ext cx="7863840" cy="1737360"/>
          </a:xfrm>
          <a:prstGeom prst="rect">
            <a:avLst/>
          </a:prstGeom>
          <a:noFill/>
          <a:ln/>
        </p:spPr>
        <p:txBody>
          <a:bodyPr wrap="square" lIns="0" tIns="0" rIns="0" bIns="0" rtlCol="0" anchor="b"/>
          <a:lstStyle/>
          <a:p>
            <a:pPr algn="l" indent="0" marL="0">
              <a:buNone/>
            </a:pPr>
            <a:r>
              <a:rPr lang="en-US" sz="5000" b="1" dirty="0">
                <a:solidFill>
                  <a:schemeClr val="bg1"/>
                </a:solidFill>
                <a:latin typeface="Georgia" pitchFamily="34" charset="0"/>
                <a:ea typeface="Georgia" pitchFamily="34" charset="-122"/>
                <a:cs typeface="Georgia" pitchFamily="34" charset="-120"/>
              </a:rPr>
              <a:t>Fotorealismus &amp;</a:t>
            </a:r>
            <a:endParaRPr lang="en-US" sz="5000" dirty="0"/>
          </a:p>
          <a:p>
            <a:pPr algn="l" indent="0" marL="0">
              <a:buNone/>
            </a:pPr>
            <a:r>
              <a:rPr lang="en-US" sz="5000" b="1" dirty="0">
                <a:solidFill>
                  <a:schemeClr val="bg1"/>
                </a:solidFill>
                <a:latin typeface="Georgia" pitchFamily="34" charset="0"/>
                <a:ea typeface="Georgia" pitchFamily="34" charset="-122"/>
                <a:cs typeface="Georgia" pitchFamily="34" charset="-120"/>
              </a:rPr>
              <a:t>Hyperrealismus</a:t>
            </a:r>
            <a:endParaRPr lang="en-US" sz="5000" dirty="0"/>
          </a:p>
        </p:txBody>
      </p:sp>
      <p:sp>
        <p:nvSpPr>
          <p:cNvPr id="15" name="Text 0"/>
          <p:cNvSpPr/>
          <p:nvPr>
            <p:ph idx="101" type="body" hasCustomPrompt="1"/>
          </p:nvPr>
        </p:nvSpPr>
        <p:spPr>
          <a:xfrm>
            <a:off x="1143000" y="4069080"/>
            <a:ext cx="7863840" cy="822960"/>
          </a:xfrm>
          <a:prstGeom prst="rect">
            <a:avLst/>
          </a:prstGeom>
          <a:noFill/>
          <a:ln/>
        </p:spPr>
        <p:txBody>
          <a:bodyPr wrap="square" lIns="0" tIns="0" rIns="0" bIns="0" rtlCol="0" anchor="t"/>
          <a:lstStyle/>
          <a:p>
            <a:pPr algn="l" indent="0" marL="0">
              <a:buNone/>
            </a:pPr>
            <a:r>
              <a:rPr lang="en-US" sz="2000" dirty="0">
                <a:solidFill>
                  <a:schemeClr val="bg2"/>
                </a:solidFill>
                <a:latin typeface="Arial" pitchFamily="34" charset="0"/>
                <a:ea typeface="Arial" pitchFamily="34" charset="-122"/>
                <a:cs typeface="Arial" pitchFamily="34" charset="-120"/>
              </a:rPr>
              <a:t>Wirklicher als die Wirklichkeit?</a:t>
            </a:r>
            <a:endParaRPr lang="en-US" sz="2000" dirty="0"/>
          </a:p>
        </p:txBody>
      </p:sp>
      <p:sp>
        <p:nvSpPr>
          <p:cNvPr id="16" name="Text 14"/>
          <p:cNvSpPr txBox="1"/>
          <p:nvPr/>
        </p:nvSpPr>
        <p:spPr>
          <a:xfrm>
            <a:off x="1143000" y="5440680"/>
            <a:ext cx="6400800" cy="292608"/>
          </a:xfrm>
          <a:prstGeom prst="rect">
            <a:avLst/>
          </a:prstGeom>
          <a:noFill/>
          <a:ln/>
        </p:spPr>
        <p:txBody>
          <a:bodyPr wrap="square" lIns="0" tIns="0" rIns="0" bIns="0" rtlCol="0" anchor="ctr"/>
          <a:lstStyle/>
          <a:p>
            <a:pPr indent="0" marL="0">
              <a:buNone/>
            </a:pPr>
            <a:r>
              <a:rPr lang="en-US" sz="1400" dirty="0">
                <a:solidFill>
                  <a:schemeClr val="bg2"/>
                </a:solidFill>
                <a:latin typeface="Arial" pitchFamily="34" charset="0"/>
                <a:ea typeface="Arial" pitchFamily="34" charset="-122"/>
                <a:cs typeface="Arial" pitchFamily="34" charset="-120"/>
              </a:rPr>
              <a:t>Name · Kurs · Datum</a:t>
            </a:r>
            <a:endParaRPr lang="en-US" sz="1400" dirty="0"/>
          </a:p>
        </p:txBody>
      </p:sp>
      <p:sp>
        <p:nvSpPr>
          <p:cNvPr id="17" name="Text 15"/>
          <p:cNvSpPr txBox="1"/>
          <p:nvPr/>
        </p:nvSpPr>
        <p:spPr>
          <a:xfrm>
            <a:off x="7391095" y="5440680"/>
            <a:ext cx="3657600" cy="292608"/>
          </a:xfrm>
          <a:prstGeom prst="rect">
            <a:avLst/>
          </a:prstGeom>
          <a:noFill/>
          <a:ln/>
        </p:spPr>
        <p:txBody>
          <a:bodyPr wrap="square" lIns="0" tIns="0" rIns="0" bIns="0" rtlCol="0" anchor="ctr"/>
          <a:lstStyle/>
          <a:p>
            <a:pPr algn="r" indent="0" marL="0">
              <a:buNone/>
            </a:pPr>
            <a:r>
              <a:rPr lang="en-US" sz="1200" b="1" spc="200" kern="0" dirty="0">
                <a:solidFill>
                  <a:schemeClr val="accent1"/>
                </a:solidFill>
                <a:latin typeface="Arial" pitchFamily="34" charset="0"/>
                <a:ea typeface="Arial" pitchFamily="34" charset="-122"/>
                <a:cs typeface="Arial" pitchFamily="34" charset="-120"/>
              </a:rPr>
              <a:t>● FOTO ODER MALEREI?</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Bildplatzhalter goings_airstream"/>
          <p:cNvSpPr/>
          <p:nvPr/>
        </p:nvSpPr>
        <p:spPr>
          <a:xfrm>
            <a:off x="4791456" y="640080"/>
            <a:ext cx="6848856" cy="4892040"/>
          </a:xfrm>
          <a:prstGeom prst="rect">
            <a:avLst/>
          </a:prstGeom>
          <a:solidFill>
            <a:schemeClr val="tx2"/>
          </a:solidFill>
          <a:ln w="12700">
            <a:solidFill>
              <a:schemeClr val="accent3"/>
            </a:solidFill>
            <a:prstDash val="dash"/>
          </a:ln>
        </p:spPr>
      </p:sp>
      <p:pic>
        <p:nvPicPr>
          <p:cNvPr id="3" name="Image 0" descr="Platzhalter-Symbol">    </p:cNvPr>
          <p:cNvPicPr>
            <a:picLocks noChangeAspect="1"/>
          </p:cNvPicPr>
          <p:nvPr/>
        </p:nvPicPr>
        <p:blipFill>
          <a:blip r:embed="rId1"/>
          <a:stretch>
            <a:fillRect/>
          </a:stretch>
        </p:blipFill>
        <p:spPr>
          <a:xfrm>
            <a:off x="7964424" y="2537460"/>
            <a:ext cx="502920" cy="502920"/>
          </a:xfrm>
          <a:prstGeom prst="rect">
            <a:avLst/>
          </a:prstGeom>
        </p:spPr>
      </p:pic>
      <p:sp>
        <p:nvSpPr>
          <p:cNvPr id="4" name="Text 1"/>
          <p:cNvSpPr txBox="1"/>
          <p:nvPr/>
        </p:nvSpPr>
        <p:spPr>
          <a:xfrm>
            <a:off x="4928616" y="3104388"/>
            <a:ext cx="6574536" cy="731520"/>
          </a:xfrm>
          <a:prstGeom prst="rect">
            <a:avLst/>
          </a:prstGeom>
          <a:noFill/>
          <a:ln/>
        </p:spPr>
        <p:txBody>
          <a:bodyPr wrap="square" lIns="0" tIns="0" rIns="0" bIns="0" rtlCol="0" anchor="t">
            <a:normAutofit/>
          </a:bodyPr>
          <a:lstStyle/>
          <a:p>
            <a:pPr algn="ctr" indent="0" marL="0">
              <a:buNone/>
            </a:pPr>
            <a:r>
              <a:rPr lang="en-US" sz="1100" b="1" dirty="0">
                <a:solidFill>
                  <a:schemeClr val="accent5"/>
                </a:solidFill>
                <a:latin typeface="Arial" pitchFamily="34" charset="0"/>
                <a:ea typeface="Arial" pitchFamily="34" charset="-122"/>
                <a:cs typeface="Arial" pitchFamily="34" charset="-120"/>
              </a:rPr>
              <a:t>Abbildung einfügen</a:t>
            </a:r>
            <a:endParaRPr lang="en-US" sz="1100" dirty="0"/>
          </a:p>
          <a:p>
            <a:pPr algn="ctr" indent="0" marL="0">
              <a:buNone/>
            </a:pPr>
            <a:r>
              <a:rPr lang="en-US" sz="1100" dirty="0">
                <a:solidFill>
                  <a:schemeClr val="accent5"/>
                </a:solidFill>
                <a:latin typeface="Arial" pitchFamily="34" charset="0"/>
                <a:ea typeface="Arial" pitchFamily="34" charset="-122"/>
                <a:cs typeface="Arial" pitchFamily="34" charset="-120"/>
              </a:rPr>
              <a:t>Ralph Goings: Airstream</a:t>
            </a:r>
            <a:endParaRPr lang="en-US" sz="1100" dirty="0"/>
          </a:p>
        </p:txBody>
      </p:sp>
      <p:sp>
        <p:nvSpPr>
          <p:cNvPr id="5" name="Shape 2"/>
          <p:cNvSpPr/>
          <p:nvPr/>
        </p:nvSpPr>
        <p:spPr>
          <a:xfrm>
            <a:off x="4700016" y="548640"/>
            <a:ext cx="237744" cy="0"/>
          </a:xfrm>
          <a:prstGeom prst="line">
            <a:avLst/>
          </a:prstGeom>
          <a:noFill/>
          <a:ln w="25400">
            <a:solidFill>
              <a:schemeClr val="accent1"/>
            </a:solidFill>
            <a:prstDash val="solid"/>
          </a:ln>
        </p:spPr>
      </p:sp>
      <p:sp>
        <p:nvSpPr>
          <p:cNvPr id="6" name="Shape 3"/>
          <p:cNvSpPr/>
          <p:nvPr/>
        </p:nvSpPr>
        <p:spPr>
          <a:xfrm>
            <a:off x="4700016" y="548640"/>
            <a:ext cx="0" cy="237744"/>
          </a:xfrm>
          <a:prstGeom prst="line">
            <a:avLst/>
          </a:prstGeom>
          <a:noFill/>
          <a:ln w="25400">
            <a:solidFill>
              <a:schemeClr val="accent1"/>
            </a:solidFill>
            <a:prstDash val="solid"/>
          </a:ln>
        </p:spPr>
      </p:sp>
      <p:sp>
        <p:nvSpPr>
          <p:cNvPr id="7" name="Shape 4"/>
          <p:cNvSpPr/>
          <p:nvPr/>
        </p:nvSpPr>
        <p:spPr>
          <a:xfrm>
            <a:off x="11494008" y="548640"/>
            <a:ext cx="237744" cy="0"/>
          </a:xfrm>
          <a:prstGeom prst="line">
            <a:avLst/>
          </a:prstGeom>
          <a:noFill/>
          <a:ln w="25400">
            <a:solidFill>
              <a:schemeClr val="accent1"/>
            </a:solidFill>
            <a:prstDash val="solid"/>
          </a:ln>
        </p:spPr>
      </p:sp>
      <p:sp>
        <p:nvSpPr>
          <p:cNvPr id="8" name="Shape 5"/>
          <p:cNvSpPr/>
          <p:nvPr/>
        </p:nvSpPr>
        <p:spPr>
          <a:xfrm>
            <a:off x="11731752" y="548640"/>
            <a:ext cx="0" cy="237744"/>
          </a:xfrm>
          <a:prstGeom prst="line">
            <a:avLst/>
          </a:prstGeom>
          <a:noFill/>
          <a:ln w="25400">
            <a:solidFill>
              <a:schemeClr val="accent1"/>
            </a:solidFill>
            <a:prstDash val="solid"/>
          </a:ln>
        </p:spPr>
      </p:sp>
      <p:sp>
        <p:nvSpPr>
          <p:cNvPr id="9" name="Shape 6"/>
          <p:cNvSpPr/>
          <p:nvPr/>
        </p:nvSpPr>
        <p:spPr>
          <a:xfrm>
            <a:off x="4700016" y="5623560"/>
            <a:ext cx="237744" cy="0"/>
          </a:xfrm>
          <a:prstGeom prst="line">
            <a:avLst/>
          </a:prstGeom>
          <a:noFill/>
          <a:ln w="25400">
            <a:solidFill>
              <a:schemeClr val="accent1"/>
            </a:solidFill>
            <a:prstDash val="solid"/>
          </a:ln>
        </p:spPr>
      </p:sp>
      <p:sp>
        <p:nvSpPr>
          <p:cNvPr id="10" name="Shape 7"/>
          <p:cNvSpPr/>
          <p:nvPr/>
        </p:nvSpPr>
        <p:spPr>
          <a:xfrm>
            <a:off x="4700016" y="5385816"/>
            <a:ext cx="0" cy="237744"/>
          </a:xfrm>
          <a:prstGeom prst="line">
            <a:avLst/>
          </a:prstGeom>
          <a:noFill/>
          <a:ln w="25400">
            <a:solidFill>
              <a:schemeClr val="accent1"/>
            </a:solidFill>
            <a:prstDash val="solid"/>
          </a:ln>
        </p:spPr>
      </p:sp>
      <p:sp>
        <p:nvSpPr>
          <p:cNvPr id="11" name="Shape 8"/>
          <p:cNvSpPr/>
          <p:nvPr/>
        </p:nvSpPr>
        <p:spPr>
          <a:xfrm>
            <a:off x="11494008" y="5623560"/>
            <a:ext cx="237744" cy="0"/>
          </a:xfrm>
          <a:prstGeom prst="line">
            <a:avLst/>
          </a:prstGeom>
          <a:noFill/>
          <a:ln w="25400">
            <a:solidFill>
              <a:schemeClr val="accent1"/>
            </a:solidFill>
            <a:prstDash val="solid"/>
          </a:ln>
        </p:spPr>
      </p:sp>
      <p:sp>
        <p:nvSpPr>
          <p:cNvPr id="12" name="Shape 9"/>
          <p:cNvSpPr/>
          <p:nvPr/>
        </p:nvSpPr>
        <p:spPr>
          <a:xfrm>
            <a:off x="11731752" y="5385816"/>
            <a:ext cx="0" cy="237744"/>
          </a:xfrm>
          <a:prstGeom prst="line">
            <a:avLst/>
          </a:prstGeom>
          <a:noFill/>
          <a:ln w="25400">
            <a:solidFill>
              <a:schemeClr val="accent1"/>
            </a:solidFill>
            <a:prstDash val="solid"/>
          </a:ln>
        </p:spPr>
      </p:sp>
      <p:sp>
        <p:nvSpPr>
          <p:cNvPr id="13" name="Text 10"/>
          <p:cNvSpPr txBox="1"/>
          <p:nvPr/>
        </p:nvSpPr>
        <p:spPr>
          <a:xfrm>
            <a:off x="548640" y="1280160"/>
            <a:ext cx="3657600" cy="2011680"/>
          </a:xfrm>
          <a:prstGeom prst="rect">
            <a:avLst/>
          </a:prstGeom>
          <a:noFill/>
          <a:ln/>
        </p:spPr>
        <p:txBody>
          <a:bodyPr wrap="square" lIns="0" tIns="0" rIns="0" bIns="0" rtlCol="0" anchor="t"/>
          <a:lstStyle/>
          <a:p>
            <a:pPr indent="0" marL="0">
              <a:buNone/>
            </a:pPr>
            <a:r>
              <a:rPr lang="en-US" sz="4000" b="1" dirty="0">
                <a:solidFill>
                  <a:schemeClr val="bg1"/>
                </a:solidFill>
                <a:latin typeface="Georgia" pitchFamily="34" charset="0"/>
                <a:ea typeface="Georgia" pitchFamily="34" charset="-122"/>
                <a:cs typeface="Georgia" pitchFamily="34" charset="-120"/>
              </a:rPr>
              <a:t>Foto oder Gemälde?</a:t>
            </a:r>
            <a:endParaRPr lang="en-US" sz="4000" dirty="0"/>
          </a:p>
        </p:txBody>
      </p:sp>
      <p:sp>
        <p:nvSpPr>
          <p:cNvPr id="14" name="Text 11"/>
          <p:cNvSpPr txBox="1"/>
          <p:nvPr/>
        </p:nvSpPr>
        <p:spPr>
          <a:xfrm>
            <a:off x="548640" y="3429000"/>
            <a:ext cx="3566160" cy="128016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Schaut genau hin: Woran würdet ihr den Unterschied erkennen?</a:t>
            </a:r>
            <a:endParaRPr lang="en-US" sz="1600" dirty="0"/>
          </a:p>
        </p:txBody>
      </p:sp>
      <p:sp>
        <p:nvSpPr>
          <p:cNvPr id="15" name="Text 12"/>
          <p:cNvSpPr txBox="1"/>
          <p:nvPr/>
        </p:nvSpPr>
        <p:spPr>
          <a:xfrm>
            <a:off x="4791456" y="5715000"/>
            <a:ext cx="6848856" cy="502920"/>
          </a:xfrm>
          <a:prstGeom prst="rect">
            <a:avLst/>
          </a:prstGeom>
          <a:noFill/>
          <a:ln/>
        </p:spPr>
        <p:txBody>
          <a:bodyPr wrap="square" lIns="0" tIns="0" rIns="0" bIns="0" rtlCol="0" anchor="t"/>
          <a:lstStyle/>
          <a:p>
            <a:pPr indent="0" marL="0">
              <a:spcAft>
                <a:spcPts val="200"/>
              </a:spcAft>
              <a:buNone/>
            </a:pPr>
            <a:r>
              <a:rPr lang="en-US" sz="1300" b="1" dirty="0">
                <a:solidFill>
                  <a:schemeClr val="bg1"/>
                </a:solidFill>
                <a:latin typeface="Arial" pitchFamily="34" charset="0"/>
                <a:ea typeface="Arial" pitchFamily="34" charset="-122"/>
                <a:cs typeface="Arial" pitchFamily="34" charset="-120"/>
              </a:rPr>
              <a:t>Ralph Goings, </a:t>
            </a:r>
            <a:pPr indent="0" marL="0">
              <a:spcAft>
                <a:spcPts val="200"/>
              </a:spcAft>
              <a:buNone/>
            </a:pPr>
            <a:r>
              <a:rPr lang="en-US" sz="1300" b="1" i="1" dirty="0">
                <a:solidFill>
                  <a:schemeClr val="bg1"/>
                </a:solidFill>
                <a:latin typeface="Arial" pitchFamily="34" charset="0"/>
                <a:ea typeface="Arial" pitchFamily="34" charset="-122"/>
                <a:cs typeface="Arial" pitchFamily="34" charset="-120"/>
              </a:rPr>
              <a:t>Airstream</a:t>
            </a:r>
            <a:pPr indent="0" marL="0">
              <a:spcAft>
                <a:spcPts val="200"/>
              </a:spcAft>
              <a:buNone/>
            </a:pPr>
            <a:r>
              <a:rPr lang="en-US" sz="1300" b="1" dirty="0">
                <a:solidFill>
                  <a:schemeClr val="bg1"/>
                </a:solidFill>
                <a:latin typeface="Arial" pitchFamily="34" charset="0"/>
                <a:ea typeface="Arial" pitchFamily="34" charset="-122"/>
                <a:cs typeface="Arial" pitchFamily="34" charset="-120"/>
              </a:rPr>
              <a:t> (Airstream-Wohnwagen), 1970</a:t>
            </a:r>
            <a:endParaRPr lang="en-US" sz="1300" dirty="0"/>
          </a:p>
          <a:p>
            <a:pPr indent="0" marL="0">
              <a:spcAft>
                <a:spcPts val="200"/>
              </a:spcAft>
              <a:buNone/>
            </a:pPr>
            <a:r>
              <a:rPr lang="en-US" sz="1100" dirty="0">
                <a:solidFill>
                  <a:schemeClr val="bg2"/>
                </a:solidFill>
                <a:latin typeface="Arial" pitchFamily="34" charset="0"/>
                <a:ea typeface="Arial" pitchFamily="34" charset="-122"/>
                <a:cs typeface="Arial" pitchFamily="34" charset="-120"/>
              </a:rPr>
              <a:t>Öl auf Leinwand, 152,3 × 213,5 cm · mumok Wien (Leihgabe Sammlung Ludwig, Aachen)</a:t>
            </a:r>
            <a:endParaRPr lang="en-US" sz="13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lIns="0" tIns="0" rIns="0" bIns="0" rtlCol="0" anchor="ctr"/>
          <a:lstStyle/>
          <a:p>
            <a:pPr algn="l" indent="0" marL="0">
              <a:buNone/>
            </a:pPr>
            <a:r>
              <a:rPr lang="en-US" sz="1200" b="1" spc="300" kern="0" dirty="0">
                <a:solidFill>
                  <a:schemeClr val="accent1"/>
                </a:solidFill>
                <a:latin typeface="Arial" pitchFamily="34" charset="0"/>
                <a:ea typeface="Arial" pitchFamily="34" charset="-122"/>
                <a:cs typeface="Arial" pitchFamily="34" charset="-120"/>
              </a:rPr>
              <a:t>ÜBERBLICK</a:t>
            </a:r>
            <a:endParaRPr lang="en-US" sz="1200" dirty="0"/>
          </a:p>
        </p:txBody>
      </p:sp>
      <p:sp>
        <p:nvSpPr>
          <p:cNvPr id="3" name="Text 0"/>
          <p:cNvSpPr/>
          <p:nvPr>
            <p:ph idx="101" type="title" hasCustomPrompt="1"/>
          </p:nvPr>
        </p:nvSpPr>
        <p:spPr>
          <a:xfrm>
            <a:off x="548640" y="694944"/>
            <a:ext cx="11094415" cy="749808"/>
          </a:xfrm>
          <a:prstGeom prst="rect">
            <a:avLst/>
          </a:prstGeom>
          <a:noFill/>
          <a:ln/>
        </p:spPr>
        <p:txBody>
          <a:bodyPr wrap="square" lIns="0" tIns="0" rIns="0" bIns="0" rtlCol="0" anchor="t"/>
          <a:lstStyle/>
          <a:p>
            <a:pPr algn="l" indent="0" marL="0">
              <a:buNone/>
            </a:pPr>
            <a:r>
              <a:rPr lang="en-US" sz="3200" b="1" dirty="0">
                <a:solidFill>
                  <a:schemeClr val="bg1"/>
                </a:solidFill>
                <a:latin typeface="Georgia" pitchFamily="34" charset="0"/>
                <a:ea typeface="Georgia" pitchFamily="34" charset="-122"/>
                <a:cs typeface="Georgia" pitchFamily="34" charset="-120"/>
              </a:rPr>
              <a:t>Gliederung</a:t>
            </a:r>
            <a:endParaRPr lang="en-US" sz="3200" dirty="0"/>
          </a:p>
        </p:txBody>
      </p:sp>
      <p:sp>
        <p:nvSpPr>
          <p:cNvPr id="4" name="Shape 2"/>
          <p:cNvSpPr/>
          <p:nvPr/>
        </p:nvSpPr>
        <p:spPr>
          <a:xfrm>
            <a:off x="548640" y="1828800"/>
            <a:ext cx="3520440" cy="1874520"/>
          </a:xfrm>
          <a:prstGeom prst="rect">
            <a:avLst/>
          </a:prstGeom>
          <a:solidFill>
            <a:schemeClr val="tx2"/>
          </a:solidFill>
          <a:ln w="12700">
            <a:solidFill>
              <a:schemeClr val="tx2"/>
            </a:solidFill>
            <a:prstDash val="solid"/>
          </a:ln>
        </p:spPr>
      </p:sp>
      <p:sp>
        <p:nvSpPr>
          <p:cNvPr id="5" name="Text 3"/>
          <p:cNvSpPr txBox="1"/>
          <p:nvPr/>
        </p:nvSpPr>
        <p:spPr>
          <a:xfrm>
            <a:off x="822960" y="2057400"/>
            <a:ext cx="1097280" cy="640080"/>
          </a:xfrm>
          <a:prstGeom prst="rect">
            <a:avLst/>
          </a:prstGeom>
          <a:noFill/>
          <a:ln/>
        </p:spPr>
        <p:txBody>
          <a:bodyPr wrap="square" lIns="0" tIns="0" rIns="0" bIns="0" rtlCol="0" anchor="ctr"/>
          <a:lstStyle/>
          <a:p>
            <a:pPr indent="0" marL="0">
              <a:buNone/>
            </a:pPr>
            <a:r>
              <a:rPr lang="en-US" sz="3600" b="1" dirty="0">
                <a:solidFill>
                  <a:schemeClr val="accent1"/>
                </a:solidFill>
                <a:latin typeface="Georgia" pitchFamily="34" charset="0"/>
                <a:ea typeface="Georgia" pitchFamily="34" charset="-122"/>
                <a:cs typeface="Georgia" pitchFamily="34" charset="-120"/>
              </a:rPr>
              <a:t>01</a:t>
            </a:r>
            <a:endParaRPr lang="en-US" sz="3600" dirty="0"/>
          </a:p>
        </p:txBody>
      </p:sp>
      <p:sp>
        <p:nvSpPr>
          <p:cNvPr id="6" name="Text 4"/>
          <p:cNvSpPr txBox="1"/>
          <p:nvPr/>
        </p:nvSpPr>
        <p:spPr>
          <a:xfrm>
            <a:off x="822960" y="2743200"/>
            <a:ext cx="2971800" cy="822960"/>
          </a:xfrm>
          <a:prstGeom prst="rect">
            <a:avLst/>
          </a:prstGeom>
          <a:noFill/>
          <a:ln/>
        </p:spPr>
        <p:txBody>
          <a:bodyPr wrap="square" lIns="0" tIns="0" rIns="0" bIns="0" rtlCol="0" anchor="t"/>
          <a:lstStyle/>
          <a:p>
            <a:pPr indent="0" marL="0">
              <a:spcAft>
                <a:spcPts val="300"/>
              </a:spcAft>
              <a:buNone/>
            </a:pPr>
            <a:r>
              <a:rPr lang="en-US" sz="1800" b="1" dirty="0">
                <a:solidFill>
                  <a:schemeClr val="bg1"/>
                </a:solidFill>
                <a:latin typeface="Arial" pitchFamily="34" charset="0"/>
                <a:ea typeface="Arial" pitchFamily="34" charset="-122"/>
                <a:cs typeface="Arial" pitchFamily="34" charset="-120"/>
              </a:rPr>
              <a:t>Zeitliche Einordnung</a:t>
            </a:r>
            <a:endParaRPr lang="en-US" sz="1800" dirty="0"/>
          </a:p>
          <a:p>
            <a:pPr indent="0" marL="0">
              <a:spcAft>
                <a:spcPts val="300"/>
              </a:spcAft>
              <a:buNone/>
            </a:pPr>
            <a:r>
              <a:rPr lang="en-US" sz="1500" dirty="0">
                <a:solidFill>
                  <a:schemeClr val="bg2"/>
                </a:solidFill>
                <a:latin typeface="Arial" pitchFamily="34" charset="0"/>
                <a:ea typeface="Arial" pitchFamily="34" charset="-122"/>
                <a:cs typeface="Arial" pitchFamily="34" charset="-120"/>
              </a:rPr>
              <a:t>Entstehung und Entwicklung</a:t>
            </a:r>
            <a:endParaRPr lang="en-US" sz="1800" dirty="0"/>
          </a:p>
        </p:txBody>
      </p:sp>
      <p:sp>
        <p:nvSpPr>
          <p:cNvPr id="7" name="Shape 5"/>
          <p:cNvSpPr/>
          <p:nvPr/>
        </p:nvSpPr>
        <p:spPr>
          <a:xfrm>
            <a:off x="4335628" y="1828800"/>
            <a:ext cx="3520440" cy="1874520"/>
          </a:xfrm>
          <a:prstGeom prst="rect">
            <a:avLst/>
          </a:prstGeom>
          <a:solidFill>
            <a:schemeClr val="tx2"/>
          </a:solidFill>
          <a:ln w="12700">
            <a:solidFill>
              <a:schemeClr val="tx2"/>
            </a:solidFill>
            <a:prstDash val="solid"/>
          </a:ln>
        </p:spPr>
      </p:sp>
      <p:sp>
        <p:nvSpPr>
          <p:cNvPr id="8" name="Text 6"/>
          <p:cNvSpPr txBox="1"/>
          <p:nvPr/>
        </p:nvSpPr>
        <p:spPr>
          <a:xfrm>
            <a:off x="4609948" y="2057400"/>
            <a:ext cx="1097280" cy="640080"/>
          </a:xfrm>
          <a:prstGeom prst="rect">
            <a:avLst/>
          </a:prstGeom>
          <a:noFill/>
          <a:ln/>
        </p:spPr>
        <p:txBody>
          <a:bodyPr wrap="square" lIns="0" tIns="0" rIns="0" bIns="0" rtlCol="0" anchor="ctr"/>
          <a:lstStyle/>
          <a:p>
            <a:pPr indent="0" marL="0">
              <a:buNone/>
            </a:pPr>
            <a:r>
              <a:rPr lang="en-US" sz="3600" b="1" dirty="0">
                <a:solidFill>
                  <a:schemeClr val="accent1"/>
                </a:solidFill>
                <a:latin typeface="Georgia" pitchFamily="34" charset="0"/>
                <a:ea typeface="Georgia" pitchFamily="34" charset="-122"/>
                <a:cs typeface="Georgia" pitchFamily="34" charset="-120"/>
              </a:rPr>
              <a:t>02</a:t>
            </a:r>
            <a:endParaRPr lang="en-US" sz="3600" dirty="0"/>
          </a:p>
        </p:txBody>
      </p:sp>
      <p:sp>
        <p:nvSpPr>
          <p:cNvPr id="9" name="Text 7"/>
          <p:cNvSpPr txBox="1"/>
          <p:nvPr/>
        </p:nvSpPr>
        <p:spPr>
          <a:xfrm>
            <a:off x="4609948" y="2743200"/>
            <a:ext cx="2971800" cy="822960"/>
          </a:xfrm>
          <a:prstGeom prst="rect">
            <a:avLst/>
          </a:prstGeom>
          <a:noFill/>
          <a:ln/>
        </p:spPr>
        <p:txBody>
          <a:bodyPr wrap="square" lIns="0" tIns="0" rIns="0" bIns="0" rtlCol="0" anchor="t"/>
          <a:lstStyle/>
          <a:p>
            <a:pPr indent="0" marL="0">
              <a:spcAft>
                <a:spcPts val="300"/>
              </a:spcAft>
              <a:buNone/>
            </a:pPr>
            <a:r>
              <a:rPr lang="en-US" sz="1800" b="1" dirty="0">
                <a:solidFill>
                  <a:schemeClr val="bg1"/>
                </a:solidFill>
                <a:latin typeface="Arial" pitchFamily="34" charset="0"/>
                <a:ea typeface="Arial" pitchFamily="34" charset="-122"/>
                <a:cs typeface="Arial" pitchFamily="34" charset="-120"/>
              </a:rPr>
              <a:t>Merkmale</a:t>
            </a:r>
            <a:endParaRPr lang="en-US" sz="1800" dirty="0"/>
          </a:p>
          <a:p>
            <a:pPr indent="0" marL="0">
              <a:spcAft>
                <a:spcPts val="300"/>
              </a:spcAft>
              <a:buNone/>
            </a:pPr>
            <a:r>
              <a:rPr lang="en-US" sz="1500" dirty="0">
                <a:solidFill>
                  <a:schemeClr val="bg2"/>
                </a:solidFill>
                <a:latin typeface="Arial" pitchFamily="34" charset="0"/>
                <a:ea typeface="Arial" pitchFamily="34" charset="-122"/>
                <a:cs typeface="Arial" pitchFamily="34" charset="-120"/>
              </a:rPr>
              <a:t>nachgewiesen an Bildbeispielen</a:t>
            </a:r>
            <a:endParaRPr lang="en-US" sz="1800" dirty="0"/>
          </a:p>
        </p:txBody>
      </p:sp>
      <p:sp>
        <p:nvSpPr>
          <p:cNvPr id="10" name="Shape 8"/>
          <p:cNvSpPr/>
          <p:nvPr/>
        </p:nvSpPr>
        <p:spPr>
          <a:xfrm>
            <a:off x="8122615" y="1828800"/>
            <a:ext cx="3520440" cy="1874520"/>
          </a:xfrm>
          <a:prstGeom prst="rect">
            <a:avLst/>
          </a:prstGeom>
          <a:solidFill>
            <a:schemeClr val="tx2"/>
          </a:solidFill>
          <a:ln w="12700">
            <a:solidFill>
              <a:schemeClr val="tx2"/>
            </a:solidFill>
            <a:prstDash val="solid"/>
          </a:ln>
        </p:spPr>
      </p:sp>
      <p:sp>
        <p:nvSpPr>
          <p:cNvPr id="11" name="Text 9"/>
          <p:cNvSpPr txBox="1"/>
          <p:nvPr/>
        </p:nvSpPr>
        <p:spPr>
          <a:xfrm>
            <a:off x="8396935" y="2057400"/>
            <a:ext cx="1097280" cy="640080"/>
          </a:xfrm>
          <a:prstGeom prst="rect">
            <a:avLst/>
          </a:prstGeom>
          <a:noFill/>
          <a:ln/>
        </p:spPr>
        <p:txBody>
          <a:bodyPr wrap="square" lIns="0" tIns="0" rIns="0" bIns="0" rtlCol="0" anchor="ctr"/>
          <a:lstStyle/>
          <a:p>
            <a:pPr indent="0" marL="0">
              <a:buNone/>
            </a:pPr>
            <a:r>
              <a:rPr lang="en-US" sz="3600" b="1" dirty="0">
                <a:solidFill>
                  <a:schemeClr val="accent1"/>
                </a:solidFill>
                <a:latin typeface="Georgia" pitchFamily="34" charset="0"/>
                <a:ea typeface="Georgia" pitchFamily="34" charset="-122"/>
                <a:cs typeface="Georgia" pitchFamily="34" charset="-120"/>
              </a:rPr>
              <a:t>03</a:t>
            </a:r>
            <a:endParaRPr lang="en-US" sz="3600" dirty="0"/>
          </a:p>
        </p:txBody>
      </p:sp>
      <p:sp>
        <p:nvSpPr>
          <p:cNvPr id="12" name="Text 10"/>
          <p:cNvSpPr txBox="1"/>
          <p:nvPr/>
        </p:nvSpPr>
        <p:spPr>
          <a:xfrm>
            <a:off x="8396935" y="2743200"/>
            <a:ext cx="2971800" cy="822960"/>
          </a:xfrm>
          <a:prstGeom prst="rect">
            <a:avLst/>
          </a:prstGeom>
          <a:noFill/>
          <a:ln/>
        </p:spPr>
        <p:txBody>
          <a:bodyPr wrap="square" lIns="0" tIns="0" rIns="0" bIns="0" rtlCol="0" anchor="t"/>
          <a:lstStyle/>
          <a:p>
            <a:pPr indent="0" marL="0">
              <a:spcAft>
                <a:spcPts val="300"/>
              </a:spcAft>
              <a:buNone/>
            </a:pPr>
            <a:r>
              <a:rPr lang="en-US" sz="1800" b="1" dirty="0">
                <a:solidFill>
                  <a:schemeClr val="bg1"/>
                </a:solidFill>
                <a:latin typeface="Arial" pitchFamily="34" charset="0"/>
                <a:ea typeface="Arial" pitchFamily="34" charset="-122"/>
                <a:cs typeface="Arial" pitchFamily="34" charset="-120"/>
              </a:rPr>
              <a:t>Motive</a:t>
            </a:r>
            <a:endParaRPr lang="en-US" sz="1800" dirty="0"/>
          </a:p>
          <a:p>
            <a:pPr indent="0" marL="0">
              <a:spcAft>
                <a:spcPts val="300"/>
              </a:spcAft>
              <a:buNone/>
            </a:pPr>
            <a:r>
              <a:rPr lang="en-US" sz="1500" dirty="0">
                <a:solidFill>
                  <a:schemeClr val="bg2"/>
                </a:solidFill>
                <a:latin typeface="Arial" pitchFamily="34" charset="0"/>
                <a:ea typeface="Arial" pitchFamily="34" charset="-122"/>
                <a:cs typeface="Arial" pitchFamily="34" charset="-120"/>
              </a:rPr>
              <a:t>Was wird dargestellt?</a:t>
            </a:r>
            <a:endParaRPr lang="en-US" sz="1800" dirty="0"/>
          </a:p>
        </p:txBody>
      </p:sp>
      <p:sp>
        <p:nvSpPr>
          <p:cNvPr id="13" name="Shape 11"/>
          <p:cNvSpPr/>
          <p:nvPr/>
        </p:nvSpPr>
        <p:spPr>
          <a:xfrm>
            <a:off x="548640" y="4023360"/>
            <a:ext cx="3520440" cy="1874520"/>
          </a:xfrm>
          <a:prstGeom prst="rect">
            <a:avLst/>
          </a:prstGeom>
          <a:solidFill>
            <a:schemeClr val="tx2"/>
          </a:solidFill>
          <a:ln w="12700">
            <a:solidFill>
              <a:schemeClr val="tx2"/>
            </a:solidFill>
            <a:prstDash val="solid"/>
          </a:ln>
        </p:spPr>
      </p:sp>
      <p:sp>
        <p:nvSpPr>
          <p:cNvPr id="14" name="Text 12"/>
          <p:cNvSpPr txBox="1"/>
          <p:nvPr/>
        </p:nvSpPr>
        <p:spPr>
          <a:xfrm>
            <a:off x="822960" y="4251960"/>
            <a:ext cx="1097280" cy="640080"/>
          </a:xfrm>
          <a:prstGeom prst="rect">
            <a:avLst/>
          </a:prstGeom>
          <a:noFill/>
          <a:ln/>
        </p:spPr>
        <p:txBody>
          <a:bodyPr wrap="square" lIns="0" tIns="0" rIns="0" bIns="0" rtlCol="0" anchor="ctr"/>
          <a:lstStyle/>
          <a:p>
            <a:pPr indent="0" marL="0">
              <a:buNone/>
            </a:pPr>
            <a:r>
              <a:rPr lang="en-US" sz="3600" b="1" dirty="0">
                <a:solidFill>
                  <a:schemeClr val="accent1"/>
                </a:solidFill>
                <a:latin typeface="Georgia" pitchFamily="34" charset="0"/>
                <a:ea typeface="Georgia" pitchFamily="34" charset="-122"/>
                <a:cs typeface="Georgia" pitchFamily="34" charset="-120"/>
              </a:rPr>
              <a:t>04</a:t>
            </a:r>
            <a:endParaRPr lang="en-US" sz="3600" dirty="0"/>
          </a:p>
        </p:txBody>
      </p:sp>
      <p:sp>
        <p:nvSpPr>
          <p:cNvPr id="15" name="Text 13"/>
          <p:cNvSpPr txBox="1"/>
          <p:nvPr/>
        </p:nvSpPr>
        <p:spPr>
          <a:xfrm>
            <a:off x="822960" y="4937760"/>
            <a:ext cx="2971800" cy="822960"/>
          </a:xfrm>
          <a:prstGeom prst="rect">
            <a:avLst/>
          </a:prstGeom>
          <a:noFill/>
          <a:ln/>
        </p:spPr>
        <p:txBody>
          <a:bodyPr wrap="square" lIns="0" tIns="0" rIns="0" bIns="0" rtlCol="0" anchor="t"/>
          <a:lstStyle/>
          <a:p>
            <a:pPr indent="0" marL="0">
              <a:spcAft>
                <a:spcPts val="300"/>
              </a:spcAft>
              <a:buNone/>
            </a:pPr>
            <a:r>
              <a:rPr lang="en-US" sz="1800" b="1" dirty="0">
                <a:solidFill>
                  <a:schemeClr val="bg1"/>
                </a:solidFill>
                <a:latin typeface="Arial" pitchFamily="34" charset="0"/>
                <a:ea typeface="Arial" pitchFamily="34" charset="-122"/>
                <a:cs typeface="Arial" pitchFamily="34" charset="-120"/>
              </a:rPr>
              <a:t>Hauptvertreter</a:t>
            </a:r>
            <a:endParaRPr lang="en-US" sz="1800" dirty="0"/>
          </a:p>
          <a:p>
            <a:pPr indent="0" marL="0">
              <a:spcAft>
                <a:spcPts val="300"/>
              </a:spcAft>
              <a:buNone/>
            </a:pPr>
            <a:r>
              <a:rPr lang="en-US" sz="1500" dirty="0">
                <a:solidFill>
                  <a:schemeClr val="bg2"/>
                </a:solidFill>
                <a:latin typeface="Arial" pitchFamily="34" charset="0"/>
                <a:ea typeface="Arial" pitchFamily="34" charset="-122"/>
                <a:cs typeface="Arial" pitchFamily="34" charset="-120"/>
              </a:rPr>
              <a:t>Foto- und Hyperrealismus</a:t>
            </a:r>
            <a:endParaRPr lang="en-US" sz="1800" dirty="0"/>
          </a:p>
        </p:txBody>
      </p:sp>
      <p:sp>
        <p:nvSpPr>
          <p:cNvPr id="16" name="Shape 14"/>
          <p:cNvSpPr/>
          <p:nvPr/>
        </p:nvSpPr>
        <p:spPr>
          <a:xfrm>
            <a:off x="4335628" y="4023360"/>
            <a:ext cx="3520440" cy="1874520"/>
          </a:xfrm>
          <a:prstGeom prst="rect">
            <a:avLst/>
          </a:prstGeom>
          <a:solidFill>
            <a:schemeClr val="tx2"/>
          </a:solidFill>
          <a:ln w="12700">
            <a:solidFill>
              <a:schemeClr val="tx2"/>
            </a:solidFill>
            <a:prstDash val="solid"/>
          </a:ln>
        </p:spPr>
      </p:sp>
      <p:sp>
        <p:nvSpPr>
          <p:cNvPr id="17" name="Text 15"/>
          <p:cNvSpPr txBox="1"/>
          <p:nvPr/>
        </p:nvSpPr>
        <p:spPr>
          <a:xfrm>
            <a:off x="4609948" y="4251960"/>
            <a:ext cx="1097280" cy="640080"/>
          </a:xfrm>
          <a:prstGeom prst="rect">
            <a:avLst/>
          </a:prstGeom>
          <a:noFill/>
          <a:ln/>
        </p:spPr>
        <p:txBody>
          <a:bodyPr wrap="square" lIns="0" tIns="0" rIns="0" bIns="0" rtlCol="0" anchor="ctr"/>
          <a:lstStyle/>
          <a:p>
            <a:pPr indent="0" marL="0">
              <a:buNone/>
            </a:pPr>
            <a:r>
              <a:rPr lang="en-US" sz="3600" b="1" dirty="0">
                <a:solidFill>
                  <a:schemeClr val="accent1"/>
                </a:solidFill>
                <a:latin typeface="Georgia" pitchFamily="34" charset="0"/>
                <a:ea typeface="Georgia" pitchFamily="34" charset="-122"/>
                <a:cs typeface="Georgia" pitchFamily="34" charset="-120"/>
              </a:rPr>
              <a:t>05</a:t>
            </a:r>
            <a:endParaRPr lang="en-US" sz="3600" dirty="0"/>
          </a:p>
        </p:txBody>
      </p:sp>
      <p:sp>
        <p:nvSpPr>
          <p:cNvPr id="18" name="Text 16"/>
          <p:cNvSpPr txBox="1"/>
          <p:nvPr/>
        </p:nvSpPr>
        <p:spPr>
          <a:xfrm>
            <a:off x="4609948" y="4937760"/>
            <a:ext cx="2971800" cy="822960"/>
          </a:xfrm>
          <a:prstGeom prst="rect">
            <a:avLst/>
          </a:prstGeom>
          <a:noFill/>
          <a:ln/>
        </p:spPr>
        <p:txBody>
          <a:bodyPr wrap="square" lIns="0" tIns="0" rIns="0" bIns="0" rtlCol="0" anchor="t"/>
          <a:lstStyle/>
          <a:p>
            <a:pPr indent="0" marL="0">
              <a:spcAft>
                <a:spcPts val="300"/>
              </a:spcAft>
              <a:buNone/>
            </a:pPr>
            <a:r>
              <a:rPr lang="en-US" sz="1800" b="1" dirty="0">
                <a:solidFill>
                  <a:schemeClr val="bg1"/>
                </a:solidFill>
                <a:latin typeface="Arial" pitchFamily="34" charset="0"/>
                <a:ea typeface="Arial" pitchFamily="34" charset="-122"/>
                <a:cs typeface="Arial" pitchFamily="34" charset="-120"/>
              </a:rPr>
              <a:t>Werkbeispiele</a:t>
            </a:r>
            <a:endParaRPr lang="en-US" sz="1800" dirty="0"/>
          </a:p>
          <a:p>
            <a:pPr indent="0" marL="0">
              <a:spcAft>
                <a:spcPts val="300"/>
              </a:spcAft>
              <a:buNone/>
            </a:pPr>
            <a:r>
              <a:rPr lang="en-US" sz="1500" dirty="0">
                <a:solidFill>
                  <a:schemeClr val="bg2"/>
                </a:solidFill>
                <a:latin typeface="Arial" pitchFamily="34" charset="0"/>
                <a:ea typeface="Arial" pitchFamily="34" charset="-122"/>
                <a:cs typeface="Arial" pitchFamily="34" charset="-120"/>
              </a:rPr>
              <a:t>von 1966 bis heute</a:t>
            </a:r>
            <a:endParaRPr lang="en-US" sz="1800" dirty="0"/>
          </a:p>
        </p:txBody>
      </p:sp>
      <p:sp>
        <p:nvSpPr>
          <p:cNvPr id="19" name="Shape 17"/>
          <p:cNvSpPr/>
          <p:nvPr/>
        </p:nvSpPr>
        <p:spPr>
          <a:xfrm>
            <a:off x="8122615" y="4023360"/>
            <a:ext cx="3520440" cy="1874520"/>
          </a:xfrm>
          <a:prstGeom prst="rect">
            <a:avLst/>
          </a:prstGeom>
          <a:solidFill>
            <a:schemeClr val="tx2"/>
          </a:solidFill>
          <a:ln w="12700">
            <a:solidFill>
              <a:schemeClr val="tx2"/>
            </a:solidFill>
            <a:prstDash val="solid"/>
          </a:ln>
        </p:spPr>
      </p:sp>
      <p:sp>
        <p:nvSpPr>
          <p:cNvPr id="20" name="Text 18"/>
          <p:cNvSpPr txBox="1"/>
          <p:nvPr/>
        </p:nvSpPr>
        <p:spPr>
          <a:xfrm>
            <a:off x="8396935" y="4251960"/>
            <a:ext cx="1097280" cy="640080"/>
          </a:xfrm>
          <a:prstGeom prst="rect">
            <a:avLst/>
          </a:prstGeom>
          <a:noFill/>
          <a:ln/>
        </p:spPr>
        <p:txBody>
          <a:bodyPr wrap="square" lIns="0" tIns="0" rIns="0" bIns="0" rtlCol="0" anchor="ctr"/>
          <a:lstStyle/>
          <a:p>
            <a:pPr indent="0" marL="0">
              <a:buNone/>
            </a:pPr>
            <a:r>
              <a:rPr lang="en-US" sz="3600" b="1" dirty="0">
                <a:solidFill>
                  <a:schemeClr val="accent1"/>
                </a:solidFill>
                <a:latin typeface="Georgia" pitchFamily="34" charset="0"/>
                <a:ea typeface="Georgia" pitchFamily="34" charset="-122"/>
                <a:cs typeface="Georgia" pitchFamily="34" charset="-120"/>
              </a:rPr>
              <a:t>06</a:t>
            </a:r>
            <a:endParaRPr lang="en-US" sz="3600" dirty="0"/>
          </a:p>
        </p:txBody>
      </p:sp>
      <p:sp>
        <p:nvSpPr>
          <p:cNvPr id="21" name="Text 19"/>
          <p:cNvSpPr txBox="1"/>
          <p:nvPr/>
        </p:nvSpPr>
        <p:spPr>
          <a:xfrm>
            <a:off x="8396935" y="4937760"/>
            <a:ext cx="2971800" cy="822960"/>
          </a:xfrm>
          <a:prstGeom prst="rect">
            <a:avLst/>
          </a:prstGeom>
          <a:noFill/>
          <a:ln/>
        </p:spPr>
        <p:txBody>
          <a:bodyPr wrap="square" lIns="0" tIns="0" rIns="0" bIns="0" rtlCol="0" anchor="t"/>
          <a:lstStyle/>
          <a:p>
            <a:pPr indent="0" marL="0">
              <a:spcAft>
                <a:spcPts val="300"/>
              </a:spcAft>
              <a:buNone/>
            </a:pPr>
            <a:r>
              <a:rPr lang="en-US" sz="1800" b="1" dirty="0">
                <a:solidFill>
                  <a:schemeClr val="bg1"/>
                </a:solidFill>
                <a:latin typeface="Arial" pitchFamily="34" charset="0"/>
                <a:ea typeface="Arial" pitchFamily="34" charset="-122"/>
                <a:cs typeface="Arial" pitchFamily="34" charset="-120"/>
              </a:rPr>
              <a:t>Fazit</a:t>
            </a:r>
            <a:endParaRPr lang="en-US" sz="1800" dirty="0"/>
          </a:p>
          <a:p>
            <a:pPr indent="0" marL="0">
              <a:spcAft>
                <a:spcPts val="300"/>
              </a:spcAft>
              <a:buNone/>
            </a:pPr>
            <a:r>
              <a:rPr lang="en-US" sz="1500" dirty="0">
                <a:solidFill>
                  <a:schemeClr val="bg2"/>
                </a:solidFill>
                <a:latin typeface="Arial" pitchFamily="34" charset="0"/>
                <a:ea typeface="Arial" pitchFamily="34" charset="-122"/>
                <a:cs typeface="Arial" pitchFamily="34" charset="-120"/>
              </a:rPr>
              <a:t>Bedeutung, Kritik und Diskussion</a:t>
            </a:r>
            <a:endParaRPr lang="en-US" sz="18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lIns="0" tIns="0" rIns="0" bIns="0" rtlCol="0" anchor="ctr"/>
          <a:lstStyle/>
          <a:p>
            <a:pPr algn="l" indent="0" marL="0">
              <a:buNone/>
            </a:pPr>
            <a:r>
              <a:rPr lang="en-US" sz="1200" b="1" spc="300" kern="0" dirty="0">
                <a:solidFill>
                  <a:schemeClr val="accent1"/>
                </a:solidFill>
                <a:latin typeface="Arial" pitchFamily="34" charset="0"/>
                <a:ea typeface="Arial" pitchFamily="34" charset="-122"/>
                <a:cs typeface="Arial" pitchFamily="34" charset="-120"/>
              </a:rPr>
              <a:t>01 · ZEITLICHE EINORDNUNG</a:t>
            </a:r>
            <a:endParaRPr lang="en-US" sz="1200" dirty="0"/>
          </a:p>
        </p:txBody>
      </p:sp>
      <p:sp>
        <p:nvSpPr>
          <p:cNvPr id="3" name="Text 0"/>
          <p:cNvSpPr/>
          <p:nvPr>
            <p:ph idx="101" type="title" hasCustomPrompt="1"/>
          </p:nvPr>
        </p:nvSpPr>
        <p:spPr>
          <a:xfrm>
            <a:off x="548640" y="694944"/>
            <a:ext cx="11094415" cy="749808"/>
          </a:xfrm>
          <a:prstGeom prst="rect">
            <a:avLst/>
          </a:prstGeom>
          <a:noFill/>
          <a:ln/>
        </p:spPr>
        <p:txBody>
          <a:bodyPr wrap="square" lIns="0" tIns="0" rIns="0" bIns="0" rtlCol="0" anchor="t"/>
          <a:lstStyle/>
          <a:p>
            <a:pPr algn="l" indent="0" marL="0">
              <a:buNone/>
            </a:pPr>
            <a:r>
              <a:rPr lang="en-US" sz="3200" b="1" dirty="0">
                <a:solidFill>
                  <a:schemeClr val="bg1"/>
                </a:solidFill>
                <a:latin typeface="Georgia" pitchFamily="34" charset="0"/>
                <a:ea typeface="Georgia" pitchFamily="34" charset="-122"/>
                <a:cs typeface="Georgia" pitchFamily="34" charset="-120"/>
              </a:rPr>
              <a:t>Entstanden Ende der 1960er-Jahre in den USA</a:t>
            </a:r>
            <a:endParaRPr lang="en-US" sz="3200" dirty="0"/>
          </a:p>
        </p:txBody>
      </p:sp>
      <p:sp>
        <p:nvSpPr>
          <p:cNvPr id="4" name="Shape 2"/>
          <p:cNvSpPr/>
          <p:nvPr/>
        </p:nvSpPr>
        <p:spPr>
          <a:xfrm>
            <a:off x="548640" y="3749040"/>
            <a:ext cx="11094415" cy="0"/>
          </a:xfrm>
          <a:prstGeom prst="line">
            <a:avLst/>
          </a:prstGeom>
          <a:noFill/>
          <a:ln w="25400">
            <a:solidFill>
              <a:schemeClr val="accent3"/>
            </a:solidFill>
            <a:prstDash val="solid"/>
          </a:ln>
        </p:spPr>
      </p:sp>
      <p:sp>
        <p:nvSpPr>
          <p:cNvPr id="5" name="Shape 3"/>
          <p:cNvSpPr/>
          <p:nvPr/>
        </p:nvSpPr>
        <p:spPr>
          <a:xfrm>
            <a:off x="676656" y="3648456"/>
            <a:ext cx="201168" cy="201168"/>
          </a:xfrm>
          <a:prstGeom prst="ellipse">
            <a:avLst/>
          </a:prstGeom>
          <a:solidFill>
            <a:schemeClr val="accent5"/>
          </a:solidFill>
          <a:ln w="25400">
            <a:solidFill>
              <a:schemeClr val="tx1"/>
            </a:solidFill>
            <a:prstDash val="solid"/>
          </a:ln>
        </p:spPr>
      </p:sp>
      <p:sp>
        <p:nvSpPr>
          <p:cNvPr id="6" name="Shape 4"/>
          <p:cNvSpPr/>
          <p:nvPr/>
        </p:nvSpPr>
        <p:spPr>
          <a:xfrm>
            <a:off x="777240" y="3291840"/>
            <a:ext cx="0" cy="320040"/>
          </a:xfrm>
          <a:prstGeom prst="line">
            <a:avLst/>
          </a:prstGeom>
          <a:noFill/>
          <a:ln w="12700">
            <a:solidFill>
              <a:schemeClr val="accent5"/>
            </a:solidFill>
            <a:prstDash val="solid"/>
          </a:ln>
        </p:spPr>
      </p:sp>
      <p:sp>
        <p:nvSpPr>
          <p:cNvPr id="7" name="Text 5"/>
          <p:cNvSpPr txBox="1"/>
          <p:nvPr/>
        </p:nvSpPr>
        <p:spPr>
          <a:xfrm>
            <a:off x="777240" y="1783080"/>
            <a:ext cx="2606040" cy="1463040"/>
          </a:xfrm>
          <a:prstGeom prst="rect">
            <a:avLst/>
          </a:prstGeom>
          <a:noFill/>
          <a:ln/>
        </p:spPr>
        <p:txBody>
          <a:bodyPr wrap="square" lIns="0" tIns="0" rIns="0" bIns="0" rtlCol="0" anchor="b"/>
          <a:lstStyle/>
          <a:p>
            <a:pPr indent="0" marL="0">
              <a:spcAft>
                <a:spcPts val="200"/>
              </a:spcAft>
              <a:buNone/>
            </a:pPr>
            <a:r>
              <a:rPr lang="en-US" sz="2200" b="1" dirty="0">
                <a:solidFill>
                  <a:schemeClr val="accent5"/>
                </a:solidFill>
                <a:latin typeface="Georgia" pitchFamily="34" charset="0"/>
                <a:ea typeface="Georgia" pitchFamily="34" charset="-122"/>
                <a:cs typeface="Georgia" pitchFamily="34" charset="-120"/>
              </a:rPr>
              <a:t>1960er</a:t>
            </a:r>
            <a:endParaRPr lang="en-US" sz="2200" dirty="0"/>
          </a:p>
          <a:p>
            <a:pPr indent="0" marL="0">
              <a:spcAft>
                <a:spcPts val="200"/>
              </a:spcAft>
              <a:buNone/>
            </a:pPr>
            <a:r>
              <a:rPr lang="en-US" sz="1300" dirty="0">
                <a:solidFill>
                  <a:schemeClr val="bg1"/>
                </a:solidFill>
                <a:latin typeface="Arial" pitchFamily="34" charset="0"/>
                <a:ea typeface="Arial" pitchFamily="34" charset="-122"/>
                <a:cs typeface="Arial" pitchFamily="34" charset="-120"/>
              </a:rPr>
              <a:t>Pop Art holt Werbung und Konsum in die Kunst – Gegenpol zur abstrakten Malerei.</a:t>
            </a:r>
            <a:endParaRPr lang="en-US" sz="2200" dirty="0"/>
          </a:p>
        </p:txBody>
      </p:sp>
      <p:sp>
        <p:nvSpPr>
          <p:cNvPr id="8" name="Shape 6"/>
          <p:cNvSpPr/>
          <p:nvPr/>
        </p:nvSpPr>
        <p:spPr>
          <a:xfrm>
            <a:off x="2093976" y="3648456"/>
            <a:ext cx="201168" cy="201168"/>
          </a:xfrm>
          <a:prstGeom prst="ellipse">
            <a:avLst/>
          </a:prstGeom>
          <a:solidFill>
            <a:schemeClr val="accent1"/>
          </a:solidFill>
          <a:ln w="25400">
            <a:solidFill>
              <a:schemeClr val="tx1"/>
            </a:solidFill>
            <a:prstDash val="solid"/>
          </a:ln>
        </p:spPr>
      </p:sp>
      <p:sp>
        <p:nvSpPr>
          <p:cNvPr id="9" name="Shape 7"/>
          <p:cNvSpPr/>
          <p:nvPr/>
        </p:nvSpPr>
        <p:spPr>
          <a:xfrm>
            <a:off x="2194560" y="3886200"/>
            <a:ext cx="0" cy="320040"/>
          </a:xfrm>
          <a:prstGeom prst="line">
            <a:avLst/>
          </a:prstGeom>
          <a:noFill/>
          <a:ln w="12700">
            <a:solidFill>
              <a:schemeClr val="accent1"/>
            </a:solidFill>
            <a:prstDash val="solid"/>
          </a:ln>
        </p:spPr>
      </p:sp>
      <p:sp>
        <p:nvSpPr>
          <p:cNvPr id="10" name="Text 8"/>
          <p:cNvSpPr txBox="1"/>
          <p:nvPr/>
        </p:nvSpPr>
        <p:spPr>
          <a:xfrm>
            <a:off x="2194560" y="4297680"/>
            <a:ext cx="2606040" cy="1463040"/>
          </a:xfrm>
          <a:prstGeom prst="rect">
            <a:avLst/>
          </a:prstGeom>
          <a:noFill/>
          <a:ln/>
        </p:spPr>
        <p:txBody>
          <a:bodyPr wrap="square" lIns="0" tIns="0" rIns="0" bIns="0" rtlCol="0" anchor="t"/>
          <a:lstStyle/>
          <a:p>
            <a:pPr indent="0" marL="0">
              <a:spcAft>
                <a:spcPts val="200"/>
              </a:spcAft>
              <a:buNone/>
            </a:pPr>
            <a:r>
              <a:rPr lang="en-US" sz="2200" b="1" dirty="0">
                <a:solidFill>
                  <a:schemeClr val="accent1"/>
                </a:solidFill>
                <a:latin typeface="Georgia" pitchFamily="34" charset="0"/>
                <a:ea typeface="Georgia" pitchFamily="34" charset="-122"/>
                <a:cs typeface="Georgia" pitchFamily="34" charset="-120"/>
              </a:rPr>
              <a:t>1966</a:t>
            </a:r>
            <a:endParaRPr lang="en-US" sz="2200" dirty="0"/>
          </a:p>
          <a:p>
            <a:pPr indent="0" marL="0">
              <a:spcAft>
                <a:spcPts val="200"/>
              </a:spcAft>
              <a:buNone/>
            </a:pPr>
            <a:r>
              <a:rPr lang="en-US" sz="1300" dirty="0">
                <a:solidFill>
                  <a:schemeClr val="bg1"/>
                </a:solidFill>
                <a:latin typeface="Arial" pitchFamily="34" charset="0"/>
                <a:ea typeface="Arial" pitchFamily="34" charset="-122"/>
                <a:cs typeface="Arial" pitchFamily="34" charset="-120"/>
              </a:rPr>
              <a:t>Malcolm Morley malt ein Schiff nach einer Postkarte – ein frühes Schlüsselwerk.</a:t>
            </a:r>
            <a:endParaRPr lang="en-US" sz="2200" dirty="0"/>
          </a:p>
        </p:txBody>
      </p:sp>
      <p:sp>
        <p:nvSpPr>
          <p:cNvPr id="11" name="Shape 9"/>
          <p:cNvSpPr/>
          <p:nvPr/>
        </p:nvSpPr>
        <p:spPr>
          <a:xfrm>
            <a:off x="3511296" y="3648456"/>
            <a:ext cx="201168" cy="201168"/>
          </a:xfrm>
          <a:prstGeom prst="ellipse">
            <a:avLst/>
          </a:prstGeom>
          <a:solidFill>
            <a:schemeClr val="accent1"/>
          </a:solidFill>
          <a:ln w="25400">
            <a:solidFill>
              <a:schemeClr val="tx1"/>
            </a:solidFill>
            <a:prstDash val="solid"/>
          </a:ln>
        </p:spPr>
      </p:sp>
      <p:sp>
        <p:nvSpPr>
          <p:cNvPr id="12" name="Shape 10"/>
          <p:cNvSpPr/>
          <p:nvPr/>
        </p:nvSpPr>
        <p:spPr>
          <a:xfrm>
            <a:off x="3611880" y="3291840"/>
            <a:ext cx="0" cy="320040"/>
          </a:xfrm>
          <a:prstGeom prst="line">
            <a:avLst/>
          </a:prstGeom>
          <a:noFill/>
          <a:ln w="12700">
            <a:solidFill>
              <a:schemeClr val="accent1"/>
            </a:solidFill>
            <a:prstDash val="solid"/>
          </a:ln>
        </p:spPr>
      </p:sp>
      <p:sp>
        <p:nvSpPr>
          <p:cNvPr id="13" name="Text 11"/>
          <p:cNvSpPr txBox="1"/>
          <p:nvPr/>
        </p:nvSpPr>
        <p:spPr>
          <a:xfrm>
            <a:off x="3611880" y="1783080"/>
            <a:ext cx="2606040" cy="1463040"/>
          </a:xfrm>
          <a:prstGeom prst="rect">
            <a:avLst/>
          </a:prstGeom>
          <a:noFill/>
          <a:ln/>
        </p:spPr>
        <p:txBody>
          <a:bodyPr wrap="square" lIns="0" tIns="0" rIns="0" bIns="0" rtlCol="0" anchor="b"/>
          <a:lstStyle/>
          <a:p>
            <a:pPr indent="0" marL="0">
              <a:spcAft>
                <a:spcPts val="200"/>
              </a:spcAft>
              <a:buNone/>
            </a:pPr>
            <a:r>
              <a:rPr lang="en-US" sz="2200" b="1" dirty="0">
                <a:solidFill>
                  <a:schemeClr val="accent1"/>
                </a:solidFill>
                <a:latin typeface="Georgia" pitchFamily="34" charset="0"/>
                <a:ea typeface="Georgia" pitchFamily="34" charset="-122"/>
                <a:cs typeface="Georgia" pitchFamily="34" charset="-120"/>
              </a:rPr>
              <a:t>1969</a:t>
            </a:r>
            <a:endParaRPr lang="en-US" sz="2200" dirty="0"/>
          </a:p>
          <a:p>
            <a:pPr indent="0" marL="0">
              <a:spcAft>
                <a:spcPts val="200"/>
              </a:spcAft>
              <a:buNone/>
            </a:pPr>
            <a:r>
              <a:rPr lang="en-US" sz="1300" dirty="0">
                <a:solidFill>
                  <a:schemeClr val="bg1"/>
                </a:solidFill>
                <a:latin typeface="Arial" pitchFamily="34" charset="0"/>
                <a:ea typeface="Arial" pitchFamily="34" charset="-122"/>
                <a:cs typeface="Arial" pitchFamily="34" charset="-120"/>
              </a:rPr>
              <a:t>Galerist Louis K. Meisel prägt den Begriff „Photo-Realism“.</a:t>
            </a:r>
            <a:endParaRPr lang="en-US" sz="2200" dirty="0"/>
          </a:p>
        </p:txBody>
      </p:sp>
      <p:sp>
        <p:nvSpPr>
          <p:cNvPr id="14" name="Shape 12"/>
          <p:cNvSpPr/>
          <p:nvPr/>
        </p:nvSpPr>
        <p:spPr>
          <a:xfrm>
            <a:off x="4928616" y="3648456"/>
            <a:ext cx="201168" cy="201168"/>
          </a:xfrm>
          <a:prstGeom prst="ellipse">
            <a:avLst/>
          </a:prstGeom>
          <a:solidFill>
            <a:schemeClr val="accent1"/>
          </a:solidFill>
          <a:ln w="25400">
            <a:solidFill>
              <a:schemeClr val="tx1"/>
            </a:solidFill>
            <a:prstDash val="solid"/>
          </a:ln>
        </p:spPr>
      </p:sp>
      <p:sp>
        <p:nvSpPr>
          <p:cNvPr id="15" name="Shape 13"/>
          <p:cNvSpPr/>
          <p:nvPr/>
        </p:nvSpPr>
        <p:spPr>
          <a:xfrm>
            <a:off x="5029200" y="3886200"/>
            <a:ext cx="0" cy="320040"/>
          </a:xfrm>
          <a:prstGeom prst="line">
            <a:avLst/>
          </a:prstGeom>
          <a:noFill/>
          <a:ln w="12700">
            <a:solidFill>
              <a:schemeClr val="accent1"/>
            </a:solidFill>
            <a:prstDash val="solid"/>
          </a:ln>
        </p:spPr>
      </p:sp>
      <p:sp>
        <p:nvSpPr>
          <p:cNvPr id="16" name="Text 14"/>
          <p:cNvSpPr txBox="1"/>
          <p:nvPr/>
        </p:nvSpPr>
        <p:spPr>
          <a:xfrm>
            <a:off x="5029200" y="4297680"/>
            <a:ext cx="2606040" cy="1463040"/>
          </a:xfrm>
          <a:prstGeom prst="rect">
            <a:avLst/>
          </a:prstGeom>
          <a:noFill/>
          <a:ln/>
        </p:spPr>
        <p:txBody>
          <a:bodyPr wrap="square" lIns="0" tIns="0" rIns="0" bIns="0" rtlCol="0" anchor="t"/>
          <a:lstStyle/>
          <a:p>
            <a:pPr indent="0" marL="0">
              <a:spcAft>
                <a:spcPts val="200"/>
              </a:spcAft>
              <a:buNone/>
            </a:pPr>
            <a:r>
              <a:rPr lang="en-US" sz="2200" b="1" dirty="0">
                <a:solidFill>
                  <a:schemeClr val="accent1"/>
                </a:solidFill>
                <a:latin typeface="Georgia" pitchFamily="34" charset="0"/>
                <a:ea typeface="Georgia" pitchFamily="34" charset="-122"/>
                <a:cs typeface="Georgia" pitchFamily="34" charset="-120"/>
              </a:rPr>
              <a:t>1972</a:t>
            </a:r>
            <a:endParaRPr lang="en-US" sz="2200" dirty="0"/>
          </a:p>
          <a:p>
            <a:pPr indent="0" marL="0">
              <a:spcAft>
                <a:spcPts val="200"/>
              </a:spcAft>
              <a:buNone/>
            </a:pPr>
            <a:r>
              <a:rPr lang="en-US" sz="1300" dirty="0">
                <a:solidFill>
                  <a:schemeClr val="bg1"/>
                </a:solidFill>
                <a:latin typeface="Arial" pitchFamily="34" charset="0"/>
                <a:ea typeface="Arial" pitchFamily="34" charset="-122"/>
                <a:cs typeface="Arial" pitchFamily="34" charset="-120"/>
              </a:rPr>
              <a:t>documenta 5 in Kassel: erster großer Auftritt in Europa.</a:t>
            </a:r>
            <a:endParaRPr lang="en-US" sz="2200" dirty="0"/>
          </a:p>
        </p:txBody>
      </p:sp>
      <p:sp>
        <p:nvSpPr>
          <p:cNvPr id="17" name="Shape 15"/>
          <p:cNvSpPr/>
          <p:nvPr/>
        </p:nvSpPr>
        <p:spPr>
          <a:xfrm>
            <a:off x="6345936" y="3648456"/>
            <a:ext cx="201168" cy="201168"/>
          </a:xfrm>
          <a:prstGeom prst="ellipse">
            <a:avLst/>
          </a:prstGeom>
          <a:solidFill>
            <a:schemeClr val="accent2"/>
          </a:solidFill>
          <a:ln w="25400">
            <a:solidFill>
              <a:schemeClr val="tx1"/>
            </a:solidFill>
            <a:prstDash val="solid"/>
          </a:ln>
        </p:spPr>
      </p:sp>
      <p:sp>
        <p:nvSpPr>
          <p:cNvPr id="18" name="Shape 16"/>
          <p:cNvSpPr/>
          <p:nvPr/>
        </p:nvSpPr>
        <p:spPr>
          <a:xfrm>
            <a:off x="6446520" y="3291840"/>
            <a:ext cx="0" cy="320040"/>
          </a:xfrm>
          <a:prstGeom prst="line">
            <a:avLst/>
          </a:prstGeom>
          <a:noFill/>
          <a:ln w="12700">
            <a:solidFill>
              <a:schemeClr val="accent2"/>
            </a:solidFill>
            <a:prstDash val="solid"/>
          </a:ln>
        </p:spPr>
      </p:sp>
      <p:sp>
        <p:nvSpPr>
          <p:cNvPr id="19" name="Text 17"/>
          <p:cNvSpPr txBox="1"/>
          <p:nvPr/>
        </p:nvSpPr>
        <p:spPr>
          <a:xfrm>
            <a:off x="6446520" y="1783080"/>
            <a:ext cx="2606040" cy="1463040"/>
          </a:xfrm>
          <a:prstGeom prst="rect">
            <a:avLst/>
          </a:prstGeom>
          <a:noFill/>
          <a:ln/>
        </p:spPr>
        <p:txBody>
          <a:bodyPr wrap="square" lIns="0" tIns="0" rIns="0" bIns="0" rtlCol="0" anchor="b"/>
          <a:lstStyle/>
          <a:p>
            <a:pPr indent="0" marL="0">
              <a:spcAft>
                <a:spcPts val="200"/>
              </a:spcAft>
              <a:buNone/>
            </a:pPr>
            <a:r>
              <a:rPr lang="en-US" sz="2200" b="1" dirty="0">
                <a:solidFill>
                  <a:schemeClr val="accent2"/>
                </a:solidFill>
                <a:latin typeface="Georgia" pitchFamily="34" charset="0"/>
                <a:ea typeface="Georgia" pitchFamily="34" charset="-122"/>
                <a:cs typeface="Georgia" pitchFamily="34" charset="-120"/>
              </a:rPr>
              <a:t>1973</a:t>
            </a:r>
            <a:endParaRPr lang="en-US" sz="2200" dirty="0"/>
          </a:p>
          <a:p>
            <a:pPr indent="0" marL="0">
              <a:spcAft>
                <a:spcPts val="200"/>
              </a:spcAft>
              <a:buNone/>
            </a:pPr>
            <a:r>
              <a:rPr lang="en-US" sz="1300" dirty="0">
                <a:solidFill>
                  <a:schemeClr val="bg1"/>
                </a:solidFill>
                <a:latin typeface="Arial" pitchFamily="34" charset="0"/>
                <a:ea typeface="Arial" pitchFamily="34" charset="-122"/>
                <a:cs typeface="Arial" pitchFamily="34" charset="-120"/>
              </a:rPr>
              <a:t>Ausstellung „Hyperréalisme“ in Brüssel (Galerie Isy Brachot) prägt den Begriff.</a:t>
            </a:r>
            <a:endParaRPr lang="en-US" sz="2200" dirty="0"/>
          </a:p>
        </p:txBody>
      </p:sp>
      <p:sp>
        <p:nvSpPr>
          <p:cNvPr id="20" name="Shape 18"/>
          <p:cNvSpPr/>
          <p:nvPr/>
        </p:nvSpPr>
        <p:spPr>
          <a:xfrm>
            <a:off x="7763256" y="3648456"/>
            <a:ext cx="201168" cy="201168"/>
          </a:xfrm>
          <a:prstGeom prst="ellipse">
            <a:avLst/>
          </a:prstGeom>
          <a:solidFill>
            <a:schemeClr val="accent1"/>
          </a:solidFill>
          <a:ln w="25400">
            <a:solidFill>
              <a:schemeClr val="tx1"/>
            </a:solidFill>
            <a:prstDash val="solid"/>
          </a:ln>
        </p:spPr>
      </p:sp>
      <p:sp>
        <p:nvSpPr>
          <p:cNvPr id="21" name="Shape 19"/>
          <p:cNvSpPr/>
          <p:nvPr/>
        </p:nvSpPr>
        <p:spPr>
          <a:xfrm>
            <a:off x="7863840" y="3886200"/>
            <a:ext cx="0" cy="320040"/>
          </a:xfrm>
          <a:prstGeom prst="line">
            <a:avLst/>
          </a:prstGeom>
          <a:noFill/>
          <a:ln w="12700">
            <a:solidFill>
              <a:schemeClr val="accent1"/>
            </a:solidFill>
            <a:prstDash val="solid"/>
          </a:ln>
        </p:spPr>
      </p:sp>
      <p:sp>
        <p:nvSpPr>
          <p:cNvPr id="22" name="Text 20"/>
          <p:cNvSpPr txBox="1"/>
          <p:nvPr/>
        </p:nvSpPr>
        <p:spPr>
          <a:xfrm>
            <a:off x="7863840" y="4297680"/>
            <a:ext cx="2606040" cy="1463040"/>
          </a:xfrm>
          <a:prstGeom prst="rect">
            <a:avLst/>
          </a:prstGeom>
          <a:noFill/>
          <a:ln/>
        </p:spPr>
        <p:txBody>
          <a:bodyPr wrap="square" lIns="0" tIns="0" rIns="0" bIns="0" rtlCol="0" anchor="t"/>
          <a:lstStyle/>
          <a:p>
            <a:pPr indent="0" marL="0">
              <a:spcAft>
                <a:spcPts val="200"/>
              </a:spcAft>
              <a:buNone/>
            </a:pPr>
            <a:r>
              <a:rPr lang="en-US" sz="2200" b="1" dirty="0">
                <a:solidFill>
                  <a:schemeClr val="accent1"/>
                </a:solidFill>
                <a:latin typeface="Georgia" pitchFamily="34" charset="0"/>
                <a:ea typeface="Georgia" pitchFamily="34" charset="-122"/>
                <a:cs typeface="Georgia" pitchFamily="34" charset="-120"/>
              </a:rPr>
              <a:t>1980</a:t>
            </a:r>
            <a:endParaRPr lang="en-US" sz="2200" dirty="0"/>
          </a:p>
          <a:p>
            <a:pPr indent="0" marL="0">
              <a:spcAft>
                <a:spcPts val="200"/>
              </a:spcAft>
              <a:buNone/>
            </a:pPr>
            <a:r>
              <a:rPr lang="en-US" sz="1300" dirty="0">
                <a:solidFill>
                  <a:schemeClr val="bg1"/>
                </a:solidFill>
                <a:latin typeface="Arial" pitchFamily="34" charset="0"/>
                <a:ea typeface="Arial" pitchFamily="34" charset="-122"/>
                <a:cs typeface="Arial" pitchFamily="34" charset="-120"/>
              </a:rPr>
              <a:t>Meisels Standardwerk „Photo-Realism“ fasst die erste Generation zusammen.</a:t>
            </a:r>
            <a:endParaRPr lang="en-US" sz="2200" dirty="0"/>
          </a:p>
        </p:txBody>
      </p:sp>
      <p:sp>
        <p:nvSpPr>
          <p:cNvPr id="23" name="Shape 21"/>
          <p:cNvSpPr/>
          <p:nvPr/>
        </p:nvSpPr>
        <p:spPr>
          <a:xfrm>
            <a:off x="9180576" y="3648456"/>
            <a:ext cx="201168" cy="201168"/>
          </a:xfrm>
          <a:prstGeom prst="ellipse">
            <a:avLst/>
          </a:prstGeom>
          <a:solidFill>
            <a:schemeClr val="accent2"/>
          </a:solidFill>
          <a:ln w="25400">
            <a:solidFill>
              <a:schemeClr val="tx1"/>
            </a:solidFill>
            <a:prstDash val="solid"/>
          </a:ln>
        </p:spPr>
      </p:sp>
      <p:sp>
        <p:nvSpPr>
          <p:cNvPr id="24" name="Shape 22"/>
          <p:cNvSpPr/>
          <p:nvPr/>
        </p:nvSpPr>
        <p:spPr>
          <a:xfrm>
            <a:off x="9281160" y="3291840"/>
            <a:ext cx="0" cy="320040"/>
          </a:xfrm>
          <a:prstGeom prst="line">
            <a:avLst/>
          </a:prstGeom>
          <a:noFill/>
          <a:ln w="12700">
            <a:solidFill>
              <a:schemeClr val="accent2"/>
            </a:solidFill>
            <a:prstDash val="solid"/>
          </a:ln>
        </p:spPr>
      </p:sp>
      <p:sp>
        <p:nvSpPr>
          <p:cNvPr id="25" name="Text 23"/>
          <p:cNvSpPr txBox="1"/>
          <p:nvPr/>
        </p:nvSpPr>
        <p:spPr>
          <a:xfrm>
            <a:off x="9281160" y="1783080"/>
            <a:ext cx="2606040" cy="1463040"/>
          </a:xfrm>
          <a:prstGeom prst="rect">
            <a:avLst/>
          </a:prstGeom>
          <a:noFill/>
          <a:ln/>
        </p:spPr>
        <p:txBody>
          <a:bodyPr wrap="square" lIns="0" tIns="0" rIns="0" bIns="0" rtlCol="0" anchor="b"/>
          <a:lstStyle/>
          <a:p>
            <a:pPr indent="0" marL="0">
              <a:spcAft>
                <a:spcPts val="200"/>
              </a:spcAft>
              <a:buNone/>
            </a:pPr>
            <a:r>
              <a:rPr lang="en-US" sz="2200" b="1" dirty="0">
                <a:solidFill>
                  <a:schemeClr val="accent2"/>
                </a:solidFill>
                <a:latin typeface="Georgia" pitchFamily="34" charset="0"/>
                <a:ea typeface="Georgia" pitchFamily="34" charset="-122"/>
                <a:cs typeface="Georgia" pitchFamily="34" charset="-120"/>
              </a:rPr>
              <a:t>ab 2000</a:t>
            </a:r>
            <a:endParaRPr lang="en-US" sz="2200" dirty="0"/>
          </a:p>
          <a:p>
            <a:pPr indent="0" marL="0">
              <a:spcAft>
                <a:spcPts val="200"/>
              </a:spcAft>
              <a:buNone/>
            </a:pPr>
            <a:r>
              <a:rPr lang="en-US" sz="1300" dirty="0">
                <a:solidFill>
                  <a:schemeClr val="bg1"/>
                </a:solidFill>
                <a:latin typeface="Arial" pitchFamily="34" charset="0"/>
                <a:ea typeface="Arial" pitchFamily="34" charset="-122"/>
                <a:cs typeface="Arial" pitchFamily="34" charset="-120"/>
              </a:rPr>
              <a:t>Hyperrealismus boomt: Digitalfotos, Skulpturen aus Silikon (Ron Mueck).</a:t>
            </a:r>
            <a:endParaRPr lang="en-US" sz="2200" dirty="0"/>
          </a:p>
        </p:txBody>
      </p:sp>
      <p:sp>
        <p:nvSpPr>
          <p:cNvPr id="26" name="Shape 24"/>
          <p:cNvSpPr/>
          <p:nvPr/>
        </p:nvSpPr>
        <p:spPr>
          <a:xfrm>
            <a:off x="548640" y="6446520"/>
            <a:ext cx="146304" cy="146304"/>
          </a:xfrm>
          <a:prstGeom prst="ellipse">
            <a:avLst/>
          </a:prstGeom>
          <a:solidFill>
            <a:schemeClr val="accent5"/>
          </a:solidFill>
          <a:ln w="12700">
            <a:solidFill>
              <a:schemeClr val="accent5"/>
            </a:solidFill>
            <a:prstDash val="solid"/>
          </a:ln>
        </p:spPr>
      </p:sp>
      <p:sp>
        <p:nvSpPr>
          <p:cNvPr id="27" name="Text 25"/>
          <p:cNvSpPr txBox="1"/>
          <p:nvPr/>
        </p:nvSpPr>
        <p:spPr>
          <a:xfrm>
            <a:off x="777240" y="6382512"/>
            <a:ext cx="1828800" cy="274320"/>
          </a:xfrm>
          <a:prstGeom prst="rect">
            <a:avLst/>
          </a:prstGeom>
          <a:noFill/>
          <a:ln/>
        </p:spPr>
        <p:txBody>
          <a:bodyPr wrap="square" lIns="0" tIns="0" rIns="0" bIns="0" rtlCol="0" anchor="ctr"/>
          <a:lstStyle/>
          <a:p>
            <a:pPr indent="0" marL="0">
              <a:buNone/>
            </a:pPr>
            <a:r>
              <a:rPr lang="en-US" sz="1100" dirty="0">
                <a:solidFill>
                  <a:schemeClr val="bg2"/>
                </a:solidFill>
                <a:latin typeface="Arial" pitchFamily="34" charset="0"/>
                <a:ea typeface="Arial" pitchFamily="34" charset="-122"/>
                <a:cs typeface="Arial" pitchFamily="34" charset="-120"/>
              </a:rPr>
              <a:t>Kontext</a:t>
            </a:r>
            <a:endParaRPr lang="en-US" sz="1100" dirty="0"/>
          </a:p>
        </p:txBody>
      </p:sp>
      <p:sp>
        <p:nvSpPr>
          <p:cNvPr id="28" name="Shape 26"/>
          <p:cNvSpPr/>
          <p:nvPr/>
        </p:nvSpPr>
        <p:spPr>
          <a:xfrm>
            <a:off x="2651760" y="6446520"/>
            <a:ext cx="146304" cy="146304"/>
          </a:xfrm>
          <a:prstGeom prst="ellipse">
            <a:avLst/>
          </a:prstGeom>
          <a:solidFill>
            <a:schemeClr val="accent1"/>
          </a:solidFill>
          <a:ln w="12700">
            <a:solidFill>
              <a:schemeClr val="accent1"/>
            </a:solidFill>
            <a:prstDash val="solid"/>
          </a:ln>
        </p:spPr>
      </p:sp>
      <p:sp>
        <p:nvSpPr>
          <p:cNvPr id="29" name="Text 27"/>
          <p:cNvSpPr txBox="1"/>
          <p:nvPr/>
        </p:nvSpPr>
        <p:spPr>
          <a:xfrm>
            <a:off x="2880360" y="6382512"/>
            <a:ext cx="1828800" cy="274320"/>
          </a:xfrm>
          <a:prstGeom prst="rect">
            <a:avLst/>
          </a:prstGeom>
          <a:noFill/>
          <a:ln/>
        </p:spPr>
        <p:txBody>
          <a:bodyPr wrap="square" lIns="0" tIns="0" rIns="0" bIns="0" rtlCol="0" anchor="ctr"/>
          <a:lstStyle/>
          <a:p>
            <a:pPr indent="0" marL="0">
              <a:buNone/>
            </a:pPr>
            <a:r>
              <a:rPr lang="en-US" sz="1100" dirty="0">
                <a:solidFill>
                  <a:schemeClr val="bg2"/>
                </a:solidFill>
                <a:latin typeface="Arial" pitchFamily="34" charset="0"/>
                <a:ea typeface="Arial" pitchFamily="34" charset="-122"/>
                <a:cs typeface="Arial" pitchFamily="34" charset="-120"/>
              </a:rPr>
              <a:t>Fotorealismus</a:t>
            </a:r>
            <a:endParaRPr lang="en-US" sz="1100" dirty="0"/>
          </a:p>
        </p:txBody>
      </p:sp>
      <p:sp>
        <p:nvSpPr>
          <p:cNvPr id="30" name="Shape 28"/>
          <p:cNvSpPr/>
          <p:nvPr/>
        </p:nvSpPr>
        <p:spPr>
          <a:xfrm>
            <a:off x="4754880" y="6446520"/>
            <a:ext cx="146304" cy="146304"/>
          </a:xfrm>
          <a:prstGeom prst="ellipse">
            <a:avLst/>
          </a:prstGeom>
          <a:solidFill>
            <a:schemeClr val="accent2"/>
          </a:solidFill>
          <a:ln w="12700">
            <a:solidFill>
              <a:schemeClr val="accent2"/>
            </a:solidFill>
            <a:prstDash val="solid"/>
          </a:ln>
        </p:spPr>
      </p:sp>
      <p:sp>
        <p:nvSpPr>
          <p:cNvPr id="31" name="Text 29"/>
          <p:cNvSpPr txBox="1"/>
          <p:nvPr/>
        </p:nvSpPr>
        <p:spPr>
          <a:xfrm>
            <a:off x="4983480" y="6382512"/>
            <a:ext cx="1828800" cy="274320"/>
          </a:xfrm>
          <a:prstGeom prst="rect">
            <a:avLst/>
          </a:prstGeom>
          <a:noFill/>
          <a:ln/>
        </p:spPr>
        <p:txBody>
          <a:bodyPr wrap="square" lIns="0" tIns="0" rIns="0" bIns="0" rtlCol="0" anchor="ctr"/>
          <a:lstStyle/>
          <a:p>
            <a:pPr indent="0" marL="0">
              <a:buNone/>
            </a:pPr>
            <a:r>
              <a:rPr lang="en-US" sz="1100" dirty="0">
                <a:solidFill>
                  <a:schemeClr val="bg2"/>
                </a:solidFill>
                <a:latin typeface="Arial" pitchFamily="34" charset="0"/>
                <a:ea typeface="Arial" pitchFamily="34" charset="-122"/>
                <a:cs typeface="Arial" pitchFamily="34" charset="-120"/>
              </a:rPr>
              <a:t>Hyperrealismus</a:t>
            </a:r>
            <a:endParaRPr lang="en-US" sz="11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lIns="0" tIns="0" rIns="0" bIns="0" rtlCol="0" anchor="ctr"/>
          <a:lstStyle/>
          <a:p>
            <a:pPr algn="l" indent="0" marL="0">
              <a:buNone/>
            </a:pPr>
            <a:r>
              <a:rPr lang="en-US" sz="1200" b="1" spc="300" kern="0" dirty="0">
                <a:solidFill>
                  <a:schemeClr val="accent1"/>
                </a:solidFill>
                <a:latin typeface="Arial" pitchFamily="34" charset="0"/>
                <a:ea typeface="Arial" pitchFamily="34" charset="-122"/>
                <a:cs typeface="Arial" pitchFamily="34" charset="-120"/>
              </a:rPr>
              <a:t>01 · ENTWICKLUNG</a:t>
            </a:r>
            <a:endParaRPr lang="en-US" sz="1200" dirty="0"/>
          </a:p>
        </p:txBody>
      </p:sp>
      <p:sp>
        <p:nvSpPr>
          <p:cNvPr id="3" name="Text 0"/>
          <p:cNvSpPr/>
          <p:nvPr>
            <p:ph idx="101" type="title" hasCustomPrompt="1"/>
          </p:nvPr>
        </p:nvSpPr>
        <p:spPr>
          <a:xfrm>
            <a:off x="548640" y="694944"/>
            <a:ext cx="11094415" cy="749808"/>
          </a:xfrm>
          <a:prstGeom prst="rect">
            <a:avLst/>
          </a:prstGeom>
          <a:noFill/>
          <a:ln/>
        </p:spPr>
        <p:txBody>
          <a:bodyPr wrap="square" lIns="0" tIns="0" rIns="0" bIns="0" rtlCol="0" anchor="t"/>
          <a:lstStyle/>
          <a:p>
            <a:pPr algn="l" indent="0" marL="0">
              <a:buNone/>
            </a:pPr>
            <a:r>
              <a:rPr lang="en-US" sz="3200" b="1" dirty="0">
                <a:solidFill>
                  <a:schemeClr val="bg1"/>
                </a:solidFill>
                <a:latin typeface="Georgia" pitchFamily="34" charset="0"/>
                <a:ea typeface="Georgia" pitchFamily="34" charset="-122"/>
                <a:cs typeface="Georgia" pitchFamily="34" charset="-120"/>
              </a:rPr>
              <a:t>Vom Fotorealismus zum Hyperrealismus</a:t>
            </a:r>
            <a:endParaRPr lang="en-US" sz="3200" dirty="0"/>
          </a:p>
        </p:txBody>
      </p:sp>
      <p:sp>
        <p:nvSpPr>
          <p:cNvPr id="4" name="Text 2"/>
          <p:cNvSpPr txBox="1"/>
          <p:nvPr/>
        </p:nvSpPr>
        <p:spPr>
          <a:xfrm>
            <a:off x="2788920" y="1737360"/>
            <a:ext cx="4084168" cy="685800"/>
          </a:xfrm>
          <a:prstGeom prst="rect">
            <a:avLst/>
          </a:prstGeom>
          <a:noFill/>
          <a:ln/>
        </p:spPr>
        <p:txBody>
          <a:bodyPr wrap="square" lIns="0" tIns="0" rIns="0" bIns="0" rtlCol="0" anchor="t"/>
          <a:lstStyle/>
          <a:p>
            <a:pPr indent="0" marL="0">
              <a:buNone/>
            </a:pPr>
            <a:r>
              <a:rPr lang="en-US" sz="2200" b="1" dirty="0">
                <a:solidFill>
                  <a:schemeClr val="accent1"/>
                </a:solidFill>
                <a:latin typeface="Georgia" pitchFamily="34" charset="0"/>
                <a:ea typeface="Georgia" pitchFamily="34" charset="-122"/>
                <a:cs typeface="Georgia" pitchFamily="34" charset="-120"/>
              </a:rPr>
              <a:t>Fotorealismus</a:t>
            </a:r>
            <a:endParaRPr lang="en-US" sz="2200" dirty="0"/>
          </a:p>
          <a:p>
            <a:pPr indent="0" marL="0">
              <a:buNone/>
            </a:pPr>
            <a:r>
              <a:rPr lang="en-US" sz="1300" dirty="0">
                <a:solidFill>
                  <a:schemeClr val="bg2"/>
                </a:solidFill>
                <a:latin typeface="Arial" pitchFamily="34" charset="0"/>
                <a:ea typeface="Arial" pitchFamily="34" charset="-122"/>
                <a:cs typeface="Arial" pitchFamily="34" charset="-120"/>
              </a:rPr>
              <a:t>Ende 1960er bis ca. 1980 · USA, dann Europa</a:t>
            </a:r>
            <a:endParaRPr lang="en-US" sz="2200" dirty="0"/>
          </a:p>
        </p:txBody>
      </p:sp>
      <p:sp>
        <p:nvSpPr>
          <p:cNvPr id="5" name="Text 3"/>
          <p:cNvSpPr txBox="1"/>
          <p:nvPr/>
        </p:nvSpPr>
        <p:spPr>
          <a:xfrm>
            <a:off x="7376008" y="1737360"/>
            <a:ext cx="4084168" cy="685800"/>
          </a:xfrm>
          <a:prstGeom prst="rect">
            <a:avLst/>
          </a:prstGeom>
          <a:noFill/>
          <a:ln/>
        </p:spPr>
        <p:txBody>
          <a:bodyPr wrap="square" lIns="0" tIns="0" rIns="0" bIns="0" rtlCol="0" anchor="t"/>
          <a:lstStyle/>
          <a:p>
            <a:pPr indent="0" marL="0">
              <a:buNone/>
            </a:pPr>
            <a:r>
              <a:rPr lang="en-US" sz="2200" b="1" dirty="0">
                <a:solidFill>
                  <a:schemeClr val="accent2"/>
                </a:solidFill>
                <a:latin typeface="Georgia" pitchFamily="34" charset="0"/>
                <a:ea typeface="Georgia" pitchFamily="34" charset="-122"/>
                <a:cs typeface="Georgia" pitchFamily="34" charset="-120"/>
              </a:rPr>
              <a:t>Hyperrealismus</a:t>
            </a:r>
            <a:endParaRPr lang="en-US" sz="2200" dirty="0"/>
          </a:p>
          <a:p>
            <a:pPr indent="0" marL="0">
              <a:buNone/>
            </a:pPr>
            <a:r>
              <a:rPr lang="en-US" sz="1300" dirty="0">
                <a:solidFill>
                  <a:schemeClr val="bg2"/>
                </a:solidFill>
                <a:latin typeface="Arial" pitchFamily="34" charset="0"/>
                <a:ea typeface="Arial" pitchFamily="34" charset="-122"/>
                <a:cs typeface="Arial" pitchFamily="34" charset="-120"/>
              </a:rPr>
              <a:t>Begriff seit 1973 · Blüte seit ca. 2000 · weltweit</a:t>
            </a:r>
            <a:endParaRPr lang="en-US" sz="2200" dirty="0"/>
          </a:p>
        </p:txBody>
      </p:sp>
      <p:pic>
        <p:nvPicPr>
          <p:cNvPr id="6" name="Image 0" descr="Pfeil: Entwicklung">    </p:cNvPr>
          <p:cNvPicPr>
            <a:picLocks noChangeAspect="1"/>
          </p:cNvPicPr>
          <p:nvPr/>
        </p:nvPicPr>
        <p:blipFill>
          <a:blip r:embed="rId1"/>
          <a:stretch>
            <a:fillRect/>
          </a:stretch>
        </p:blipFill>
        <p:spPr>
          <a:xfrm>
            <a:off x="6918808" y="1847088"/>
            <a:ext cx="384048" cy="384048"/>
          </a:xfrm>
          <a:prstGeom prst="rect">
            <a:avLst/>
          </a:prstGeom>
        </p:spPr>
      </p:pic>
      <p:sp>
        <p:nvSpPr>
          <p:cNvPr id="7" name="Text 4"/>
          <p:cNvSpPr txBox="1"/>
          <p:nvPr/>
        </p:nvSpPr>
        <p:spPr>
          <a:xfrm>
            <a:off x="548640" y="2606040"/>
            <a:ext cx="1920240" cy="804672"/>
          </a:xfrm>
          <a:prstGeom prst="rect">
            <a:avLst/>
          </a:prstGeom>
          <a:noFill/>
          <a:ln/>
        </p:spPr>
        <p:txBody>
          <a:bodyPr wrap="square" lIns="0" tIns="0" rIns="0" bIns="0" rtlCol="0" anchor="ctr"/>
          <a:lstStyle/>
          <a:p>
            <a:pPr indent="0" marL="0">
              <a:buNone/>
            </a:pPr>
            <a:r>
              <a:rPr lang="en-US" sz="1400" b="1" dirty="0">
                <a:solidFill>
                  <a:schemeClr val="bg2"/>
                </a:solidFill>
                <a:latin typeface="Arial" pitchFamily="34" charset="0"/>
                <a:ea typeface="Arial" pitchFamily="34" charset="-122"/>
                <a:cs typeface="Arial" pitchFamily="34" charset="-120"/>
              </a:rPr>
              <a:t>Haltung</a:t>
            </a:r>
            <a:endParaRPr lang="en-US" sz="1400" dirty="0"/>
          </a:p>
        </p:txBody>
      </p:sp>
      <p:sp>
        <p:nvSpPr>
          <p:cNvPr id="8" name="Shape 5"/>
          <p:cNvSpPr/>
          <p:nvPr/>
        </p:nvSpPr>
        <p:spPr>
          <a:xfrm>
            <a:off x="2606040" y="2606040"/>
            <a:ext cx="4449928" cy="804672"/>
          </a:xfrm>
          <a:prstGeom prst="rect">
            <a:avLst/>
          </a:prstGeom>
          <a:solidFill>
            <a:schemeClr val="tx2"/>
          </a:solidFill>
          <a:ln w="12700">
            <a:solidFill>
              <a:schemeClr val="tx2"/>
            </a:solidFill>
            <a:prstDash val="solid"/>
          </a:ln>
        </p:spPr>
      </p:sp>
      <p:sp>
        <p:nvSpPr>
          <p:cNvPr id="9" name="Text 6"/>
          <p:cNvSpPr txBox="1"/>
          <p:nvPr/>
        </p:nvSpPr>
        <p:spPr>
          <a:xfrm>
            <a:off x="2788920" y="2606040"/>
            <a:ext cx="4084168" cy="804672"/>
          </a:xfrm>
          <a:prstGeom prst="rect">
            <a:avLst/>
          </a:prstGeom>
          <a:noFill/>
          <a:ln/>
        </p:spPr>
        <p:txBody>
          <a:bodyPr wrap="square" lIns="0" tIns="0" rIns="0" bIns="0" rtlCol="0" anchor="ctr"/>
          <a:lstStyle/>
          <a:p>
            <a:pPr indent="0" marL="0">
              <a:buNone/>
            </a:pPr>
            <a:r>
              <a:rPr lang="en-US" sz="1400" dirty="0">
                <a:solidFill>
                  <a:schemeClr val="bg1"/>
                </a:solidFill>
                <a:latin typeface="Arial" pitchFamily="34" charset="0"/>
                <a:ea typeface="Arial" pitchFamily="34" charset="-122"/>
                <a:cs typeface="Arial" pitchFamily="34" charset="-120"/>
              </a:rPr>
              <a:t>kühl, neutral, dokumentarisch – ohne Wertung</a:t>
            </a:r>
            <a:endParaRPr lang="en-US" sz="1400" dirty="0"/>
          </a:p>
        </p:txBody>
      </p:sp>
      <p:sp>
        <p:nvSpPr>
          <p:cNvPr id="10" name="Shape 7"/>
          <p:cNvSpPr/>
          <p:nvPr/>
        </p:nvSpPr>
        <p:spPr>
          <a:xfrm>
            <a:off x="7193128" y="2606040"/>
            <a:ext cx="4449928" cy="804672"/>
          </a:xfrm>
          <a:prstGeom prst="rect">
            <a:avLst/>
          </a:prstGeom>
          <a:solidFill>
            <a:schemeClr val="tx2"/>
          </a:solidFill>
          <a:ln w="12700">
            <a:solidFill>
              <a:schemeClr val="tx2"/>
            </a:solidFill>
            <a:prstDash val="solid"/>
          </a:ln>
        </p:spPr>
      </p:sp>
      <p:sp>
        <p:nvSpPr>
          <p:cNvPr id="11" name="Text 8"/>
          <p:cNvSpPr txBox="1"/>
          <p:nvPr/>
        </p:nvSpPr>
        <p:spPr>
          <a:xfrm>
            <a:off x="7376008" y="2606040"/>
            <a:ext cx="4084168" cy="804672"/>
          </a:xfrm>
          <a:prstGeom prst="rect">
            <a:avLst/>
          </a:prstGeom>
          <a:noFill/>
          <a:ln/>
        </p:spPr>
        <p:txBody>
          <a:bodyPr wrap="square" lIns="0" tIns="0" rIns="0" bIns="0" rtlCol="0" anchor="ctr"/>
          <a:lstStyle/>
          <a:p>
            <a:pPr indent="0" marL="0">
              <a:buNone/>
            </a:pPr>
            <a:r>
              <a:rPr lang="en-US" sz="1400" dirty="0">
                <a:solidFill>
                  <a:schemeClr val="bg1"/>
                </a:solidFill>
                <a:latin typeface="Arial" pitchFamily="34" charset="0"/>
                <a:ea typeface="Arial" pitchFamily="34" charset="-122"/>
                <a:cs typeface="Arial" pitchFamily="34" charset="-120"/>
              </a:rPr>
              <a:t>emotional, erzählerisch, oft gesellschaftskritisch</a:t>
            </a:r>
            <a:endParaRPr lang="en-US" sz="1400" dirty="0"/>
          </a:p>
        </p:txBody>
      </p:sp>
      <p:sp>
        <p:nvSpPr>
          <p:cNvPr id="12" name="Text 9"/>
          <p:cNvSpPr txBox="1"/>
          <p:nvPr/>
        </p:nvSpPr>
        <p:spPr>
          <a:xfrm>
            <a:off x="548640" y="3502152"/>
            <a:ext cx="1920240" cy="804672"/>
          </a:xfrm>
          <a:prstGeom prst="rect">
            <a:avLst/>
          </a:prstGeom>
          <a:noFill/>
          <a:ln/>
        </p:spPr>
        <p:txBody>
          <a:bodyPr wrap="square" lIns="0" tIns="0" rIns="0" bIns="0" rtlCol="0" anchor="ctr"/>
          <a:lstStyle/>
          <a:p>
            <a:pPr indent="0" marL="0">
              <a:buNone/>
            </a:pPr>
            <a:r>
              <a:rPr lang="en-US" sz="1400" b="1" dirty="0">
                <a:solidFill>
                  <a:schemeClr val="bg2"/>
                </a:solidFill>
                <a:latin typeface="Arial" pitchFamily="34" charset="0"/>
                <a:ea typeface="Arial" pitchFamily="34" charset="-122"/>
                <a:cs typeface="Arial" pitchFamily="34" charset="-120"/>
              </a:rPr>
              <a:t>Umgang mit dem Foto</a:t>
            </a:r>
            <a:endParaRPr lang="en-US" sz="1400" dirty="0"/>
          </a:p>
        </p:txBody>
      </p:sp>
      <p:sp>
        <p:nvSpPr>
          <p:cNvPr id="13" name="Shape 10"/>
          <p:cNvSpPr/>
          <p:nvPr/>
        </p:nvSpPr>
        <p:spPr>
          <a:xfrm>
            <a:off x="2606040" y="3502152"/>
            <a:ext cx="4449928" cy="804672"/>
          </a:xfrm>
          <a:prstGeom prst="rect">
            <a:avLst/>
          </a:prstGeom>
          <a:solidFill>
            <a:schemeClr val="tx2"/>
          </a:solidFill>
          <a:ln w="12700">
            <a:solidFill>
              <a:schemeClr val="tx2"/>
            </a:solidFill>
            <a:prstDash val="solid"/>
          </a:ln>
        </p:spPr>
      </p:sp>
      <p:sp>
        <p:nvSpPr>
          <p:cNvPr id="14" name="Text 11"/>
          <p:cNvSpPr txBox="1"/>
          <p:nvPr/>
        </p:nvSpPr>
        <p:spPr>
          <a:xfrm>
            <a:off x="2788920" y="3502152"/>
            <a:ext cx="4084168" cy="804672"/>
          </a:xfrm>
          <a:prstGeom prst="rect">
            <a:avLst/>
          </a:prstGeom>
          <a:noFill/>
          <a:ln/>
        </p:spPr>
        <p:txBody>
          <a:bodyPr wrap="square" lIns="0" tIns="0" rIns="0" bIns="0" rtlCol="0" anchor="ctr"/>
          <a:lstStyle/>
          <a:p>
            <a:pPr indent="0" marL="0">
              <a:buNone/>
            </a:pPr>
            <a:r>
              <a:rPr lang="en-US" sz="1400" dirty="0">
                <a:solidFill>
                  <a:schemeClr val="bg1"/>
                </a:solidFill>
                <a:latin typeface="Arial" pitchFamily="34" charset="0"/>
                <a:ea typeface="Arial" pitchFamily="34" charset="-122"/>
                <a:cs typeface="Arial" pitchFamily="34" charset="-120"/>
              </a:rPr>
              <a:t>überträgt das Foto genau – samt Unschärfe und Spiegelungen</a:t>
            </a:r>
            <a:endParaRPr lang="en-US" sz="1400" dirty="0"/>
          </a:p>
        </p:txBody>
      </p:sp>
      <p:sp>
        <p:nvSpPr>
          <p:cNvPr id="15" name="Shape 12"/>
          <p:cNvSpPr/>
          <p:nvPr/>
        </p:nvSpPr>
        <p:spPr>
          <a:xfrm>
            <a:off x="7193128" y="3502152"/>
            <a:ext cx="4449928" cy="804672"/>
          </a:xfrm>
          <a:prstGeom prst="rect">
            <a:avLst/>
          </a:prstGeom>
          <a:solidFill>
            <a:schemeClr val="tx2"/>
          </a:solidFill>
          <a:ln w="12700">
            <a:solidFill>
              <a:schemeClr val="tx2"/>
            </a:solidFill>
            <a:prstDash val="solid"/>
          </a:ln>
        </p:spPr>
      </p:sp>
      <p:sp>
        <p:nvSpPr>
          <p:cNvPr id="16" name="Text 13"/>
          <p:cNvSpPr txBox="1"/>
          <p:nvPr/>
        </p:nvSpPr>
        <p:spPr>
          <a:xfrm>
            <a:off x="7376008" y="3502152"/>
            <a:ext cx="4084168" cy="804672"/>
          </a:xfrm>
          <a:prstGeom prst="rect">
            <a:avLst/>
          </a:prstGeom>
          <a:noFill/>
          <a:ln/>
        </p:spPr>
        <p:txBody>
          <a:bodyPr wrap="square" lIns="0" tIns="0" rIns="0" bIns="0" rtlCol="0" anchor="ctr"/>
          <a:lstStyle/>
          <a:p>
            <a:pPr indent="0" marL="0">
              <a:buNone/>
            </a:pPr>
            <a:r>
              <a:rPr lang="en-US" sz="1400" dirty="0">
                <a:solidFill>
                  <a:schemeClr val="bg1"/>
                </a:solidFill>
                <a:latin typeface="Arial" pitchFamily="34" charset="0"/>
                <a:ea typeface="Arial" pitchFamily="34" charset="-122"/>
                <a:cs typeface="Arial" pitchFamily="34" charset="-120"/>
              </a:rPr>
              <a:t>übertrifft das Foto: noch schärfer, größer, detailreicher</a:t>
            </a:r>
            <a:endParaRPr lang="en-US" sz="1400" dirty="0"/>
          </a:p>
        </p:txBody>
      </p:sp>
      <p:sp>
        <p:nvSpPr>
          <p:cNvPr id="17" name="Text 14"/>
          <p:cNvSpPr txBox="1"/>
          <p:nvPr/>
        </p:nvSpPr>
        <p:spPr>
          <a:xfrm>
            <a:off x="548640" y="4398264"/>
            <a:ext cx="1920240" cy="804672"/>
          </a:xfrm>
          <a:prstGeom prst="rect">
            <a:avLst/>
          </a:prstGeom>
          <a:noFill/>
          <a:ln/>
        </p:spPr>
        <p:txBody>
          <a:bodyPr wrap="square" lIns="0" tIns="0" rIns="0" bIns="0" rtlCol="0" anchor="ctr"/>
          <a:lstStyle/>
          <a:p>
            <a:pPr indent="0" marL="0">
              <a:buNone/>
            </a:pPr>
            <a:r>
              <a:rPr lang="en-US" sz="1400" b="1" dirty="0">
                <a:solidFill>
                  <a:schemeClr val="bg2"/>
                </a:solidFill>
                <a:latin typeface="Arial" pitchFamily="34" charset="0"/>
                <a:ea typeface="Arial" pitchFamily="34" charset="-122"/>
                <a:cs typeface="Arial" pitchFamily="34" charset="-120"/>
              </a:rPr>
              <a:t>Medien</a:t>
            </a:r>
            <a:endParaRPr lang="en-US" sz="1400" dirty="0"/>
          </a:p>
        </p:txBody>
      </p:sp>
      <p:sp>
        <p:nvSpPr>
          <p:cNvPr id="18" name="Shape 15"/>
          <p:cNvSpPr/>
          <p:nvPr/>
        </p:nvSpPr>
        <p:spPr>
          <a:xfrm>
            <a:off x="2606040" y="4398264"/>
            <a:ext cx="4449928" cy="804672"/>
          </a:xfrm>
          <a:prstGeom prst="rect">
            <a:avLst/>
          </a:prstGeom>
          <a:solidFill>
            <a:schemeClr val="tx2"/>
          </a:solidFill>
          <a:ln w="12700">
            <a:solidFill>
              <a:schemeClr val="tx2"/>
            </a:solidFill>
            <a:prstDash val="solid"/>
          </a:ln>
        </p:spPr>
      </p:sp>
      <p:sp>
        <p:nvSpPr>
          <p:cNvPr id="19" name="Text 16"/>
          <p:cNvSpPr txBox="1"/>
          <p:nvPr/>
        </p:nvSpPr>
        <p:spPr>
          <a:xfrm>
            <a:off x="2788920" y="4398264"/>
            <a:ext cx="4084168" cy="804672"/>
          </a:xfrm>
          <a:prstGeom prst="rect">
            <a:avLst/>
          </a:prstGeom>
          <a:noFill/>
          <a:ln/>
        </p:spPr>
        <p:txBody>
          <a:bodyPr wrap="square" lIns="0" tIns="0" rIns="0" bIns="0" rtlCol="0" anchor="ctr"/>
          <a:lstStyle/>
          <a:p>
            <a:pPr indent="0" marL="0">
              <a:buNone/>
            </a:pPr>
            <a:r>
              <a:rPr lang="en-US" sz="1400" dirty="0">
                <a:solidFill>
                  <a:schemeClr val="bg1"/>
                </a:solidFill>
                <a:latin typeface="Arial" pitchFamily="34" charset="0"/>
                <a:ea typeface="Arial" pitchFamily="34" charset="-122"/>
                <a:cs typeface="Arial" pitchFamily="34" charset="-120"/>
              </a:rPr>
              <a:t>vor allem Malerei (Acryl, Öl, Airbrush)</a:t>
            </a:r>
            <a:endParaRPr lang="en-US" sz="1400" dirty="0"/>
          </a:p>
        </p:txBody>
      </p:sp>
      <p:sp>
        <p:nvSpPr>
          <p:cNvPr id="20" name="Shape 17"/>
          <p:cNvSpPr/>
          <p:nvPr/>
        </p:nvSpPr>
        <p:spPr>
          <a:xfrm>
            <a:off x="7193128" y="4398264"/>
            <a:ext cx="4449928" cy="804672"/>
          </a:xfrm>
          <a:prstGeom prst="rect">
            <a:avLst/>
          </a:prstGeom>
          <a:solidFill>
            <a:schemeClr val="tx2"/>
          </a:solidFill>
          <a:ln w="12700">
            <a:solidFill>
              <a:schemeClr val="tx2"/>
            </a:solidFill>
            <a:prstDash val="solid"/>
          </a:ln>
        </p:spPr>
      </p:sp>
      <p:sp>
        <p:nvSpPr>
          <p:cNvPr id="21" name="Text 18"/>
          <p:cNvSpPr txBox="1"/>
          <p:nvPr/>
        </p:nvSpPr>
        <p:spPr>
          <a:xfrm>
            <a:off x="7376008" y="4398264"/>
            <a:ext cx="4084168" cy="804672"/>
          </a:xfrm>
          <a:prstGeom prst="rect">
            <a:avLst/>
          </a:prstGeom>
          <a:noFill/>
          <a:ln/>
        </p:spPr>
        <p:txBody>
          <a:bodyPr wrap="square" lIns="0" tIns="0" rIns="0" bIns="0" rtlCol="0" anchor="ctr"/>
          <a:lstStyle/>
          <a:p>
            <a:pPr indent="0" marL="0">
              <a:buNone/>
            </a:pPr>
            <a:r>
              <a:rPr lang="en-US" sz="1400" dirty="0">
                <a:solidFill>
                  <a:schemeClr val="bg1"/>
                </a:solidFill>
                <a:latin typeface="Arial" pitchFamily="34" charset="0"/>
                <a:ea typeface="Arial" pitchFamily="34" charset="-122"/>
                <a:cs typeface="Arial" pitchFamily="34" charset="-120"/>
              </a:rPr>
              <a:t>Malerei, Zeichnung und Skulptur (Silikon, Kunsthaar)</a:t>
            </a:r>
            <a:endParaRPr lang="en-US" sz="1400" dirty="0"/>
          </a:p>
        </p:txBody>
      </p:sp>
      <p:sp>
        <p:nvSpPr>
          <p:cNvPr id="22" name="Text 19"/>
          <p:cNvSpPr txBox="1"/>
          <p:nvPr/>
        </p:nvSpPr>
        <p:spPr>
          <a:xfrm>
            <a:off x="548640" y="5294376"/>
            <a:ext cx="1920240" cy="804672"/>
          </a:xfrm>
          <a:prstGeom prst="rect">
            <a:avLst/>
          </a:prstGeom>
          <a:noFill/>
          <a:ln/>
        </p:spPr>
        <p:txBody>
          <a:bodyPr wrap="square" lIns="0" tIns="0" rIns="0" bIns="0" rtlCol="0" anchor="ctr"/>
          <a:lstStyle/>
          <a:p>
            <a:pPr indent="0" marL="0">
              <a:buNone/>
            </a:pPr>
            <a:r>
              <a:rPr lang="en-US" sz="1400" b="1" dirty="0">
                <a:solidFill>
                  <a:schemeClr val="bg2"/>
                </a:solidFill>
                <a:latin typeface="Arial" pitchFamily="34" charset="0"/>
                <a:ea typeface="Arial" pitchFamily="34" charset="-122"/>
                <a:cs typeface="Arial" pitchFamily="34" charset="-120"/>
              </a:rPr>
              <a:t>Motive</a:t>
            </a:r>
            <a:endParaRPr lang="en-US" sz="1400" dirty="0"/>
          </a:p>
        </p:txBody>
      </p:sp>
      <p:sp>
        <p:nvSpPr>
          <p:cNvPr id="23" name="Shape 20"/>
          <p:cNvSpPr/>
          <p:nvPr/>
        </p:nvSpPr>
        <p:spPr>
          <a:xfrm>
            <a:off x="2606040" y="5294376"/>
            <a:ext cx="4449928" cy="804672"/>
          </a:xfrm>
          <a:prstGeom prst="rect">
            <a:avLst/>
          </a:prstGeom>
          <a:solidFill>
            <a:schemeClr val="tx2"/>
          </a:solidFill>
          <a:ln w="12700">
            <a:solidFill>
              <a:schemeClr val="tx2"/>
            </a:solidFill>
            <a:prstDash val="solid"/>
          </a:ln>
        </p:spPr>
      </p:sp>
      <p:sp>
        <p:nvSpPr>
          <p:cNvPr id="24" name="Text 21"/>
          <p:cNvSpPr txBox="1"/>
          <p:nvPr/>
        </p:nvSpPr>
        <p:spPr>
          <a:xfrm>
            <a:off x="2788920" y="5294376"/>
            <a:ext cx="4084168" cy="804672"/>
          </a:xfrm>
          <a:prstGeom prst="rect">
            <a:avLst/>
          </a:prstGeom>
          <a:noFill/>
          <a:ln/>
        </p:spPr>
        <p:txBody>
          <a:bodyPr wrap="square" lIns="0" tIns="0" rIns="0" bIns="0" rtlCol="0" anchor="ctr"/>
          <a:lstStyle/>
          <a:p>
            <a:pPr indent="0" marL="0">
              <a:buNone/>
            </a:pPr>
            <a:r>
              <a:rPr lang="en-US" sz="1400" dirty="0">
                <a:solidFill>
                  <a:schemeClr val="bg1"/>
                </a:solidFill>
                <a:latin typeface="Arial" pitchFamily="34" charset="0"/>
                <a:ea typeface="Arial" pitchFamily="34" charset="-122"/>
                <a:cs typeface="Arial" pitchFamily="34" charset="-120"/>
              </a:rPr>
              <a:t>amerikanischer Alltag: Stadt, Autos, Diner, Konsum</a:t>
            </a:r>
            <a:endParaRPr lang="en-US" sz="1400" dirty="0"/>
          </a:p>
        </p:txBody>
      </p:sp>
      <p:sp>
        <p:nvSpPr>
          <p:cNvPr id="25" name="Shape 22"/>
          <p:cNvSpPr/>
          <p:nvPr/>
        </p:nvSpPr>
        <p:spPr>
          <a:xfrm>
            <a:off x="7193128" y="5294376"/>
            <a:ext cx="4449928" cy="804672"/>
          </a:xfrm>
          <a:prstGeom prst="rect">
            <a:avLst/>
          </a:prstGeom>
          <a:solidFill>
            <a:schemeClr val="tx2"/>
          </a:solidFill>
          <a:ln w="12700">
            <a:solidFill>
              <a:schemeClr val="tx2"/>
            </a:solidFill>
            <a:prstDash val="solid"/>
          </a:ln>
        </p:spPr>
      </p:sp>
      <p:sp>
        <p:nvSpPr>
          <p:cNvPr id="26" name="Text 23"/>
          <p:cNvSpPr txBox="1"/>
          <p:nvPr/>
        </p:nvSpPr>
        <p:spPr>
          <a:xfrm>
            <a:off x="7376008" y="5294376"/>
            <a:ext cx="4084168" cy="804672"/>
          </a:xfrm>
          <a:prstGeom prst="rect">
            <a:avLst/>
          </a:prstGeom>
          <a:noFill/>
          <a:ln/>
        </p:spPr>
        <p:txBody>
          <a:bodyPr wrap="square" lIns="0" tIns="0" rIns="0" bIns="0" rtlCol="0" anchor="ctr"/>
          <a:lstStyle/>
          <a:p>
            <a:pPr indent="0" marL="0">
              <a:buNone/>
            </a:pPr>
            <a:r>
              <a:rPr lang="en-US" sz="1400" dirty="0">
                <a:solidFill>
                  <a:schemeClr val="bg1"/>
                </a:solidFill>
                <a:latin typeface="Arial" pitchFamily="34" charset="0"/>
                <a:ea typeface="Arial" pitchFamily="34" charset="-122"/>
                <a:cs typeface="Arial" pitchFamily="34" charset="-120"/>
              </a:rPr>
              <a:t>Menschen, Haut, Wasser, Glas – oft überhöht oder rätselhaft</a:t>
            </a:r>
            <a:endParaRPr lang="en-US" sz="14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lIns="0" tIns="0" rIns="0" bIns="0" rtlCol="0" anchor="ctr"/>
          <a:lstStyle/>
          <a:p>
            <a:pPr algn="l" indent="0" marL="0">
              <a:buNone/>
            </a:pPr>
            <a:r>
              <a:rPr lang="en-US" sz="1200" b="1" spc="300" kern="0" dirty="0">
                <a:solidFill>
                  <a:schemeClr val="accent1"/>
                </a:solidFill>
                <a:latin typeface="Arial" pitchFamily="34" charset="0"/>
                <a:ea typeface="Arial" pitchFamily="34" charset="-122"/>
                <a:cs typeface="Arial" pitchFamily="34" charset="-120"/>
              </a:rPr>
              <a:t>02 · ZUSAMMENFASSENDE MERKMALE</a:t>
            </a:r>
            <a:endParaRPr lang="en-US" sz="1200" dirty="0"/>
          </a:p>
        </p:txBody>
      </p:sp>
      <p:sp>
        <p:nvSpPr>
          <p:cNvPr id="3" name="Text 0"/>
          <p:cNvSpPr/>
          <p:nvPr>
            <p:ph idx="101" type="title" hasCustomPrompt="1"/>
          </p:nvPr>
        </p:nvSpPr>
        <p:spPr>
          <a:xfrm>
            <a:off x="548640" y="694944"/>
            <a:ext cx="11094415" cy="749808"/>
          </a:xfrm>
          <a:prstGeom prst="rect">
            <a:avLst/>
          </a:prstGeom>
          <a:noFill/>
          <a:ln/>
        </p:spPr>
        <p:txBody>
          <a:bodyPr wrap="square" lIns="0" tIns="0" rIns="0" bIns="0" rtlCol="0" anchor="t"/>
          <a:lstStyle/>
          <a:p>
            <a:pPr algn="l" indent="0" marL="0">
              <a:buNone/>
            </a:pPr>
            <a:r>
              <a:rPr lang="en-US" sz="3200" b="1" dirty="0">
                <a:solidFill>
                  <a:schemeClr val="bg1"/>
                </a:solidFill>
                <a:latin typeface="Georgia" pitchFamily="34" charset="0"/>
                <a:ea typeface="Georgia" pitchFamily="34" charset="-122"/>
                <a:cs typeface="Georgia" pitchFamily="34" charset="-120"/>
              </a:rPr>
              <a:t>Malen wie eine Kamera</a:t>
            </a:r>
            <a:endParaRPr lang="en-US" sz="3200" dirty="0"/>
          </a:p>
        </p:txBody>
      </p:sp>
      <p:sp>
        <p:nvSpPr>
          <p:cNvPr id="4" name="Shape 2"/>
          <p:cNvSpPr/>
          <p:nvPr/>
        </p:nvSpPr>
        <p:spPr>
          <a:xfrm>
            <a:off x="548640" y="1737360"/>
            <a:ext cx="3520440" cy="2011680"/>
          </a:xfrm>
          <a:prstGeom prst="rect">
            <a:avLst/>
          </a:prstGeom>
          <a:solidFill>
            <a:schemeClr val="tx2"/>
          </a:solidFill>
          <a:ln w="12700">
            <a:solidFill>
              <a:schemeClr val="tx2"/>
            </a:solidFill>
            <a:prstDash val="solid"/>
          </a:ln>
        </p:spPr>
      </p:sp>
      <p:sp>
        <p:nvSpPr>
          <p:cNvPr id="5" name="Shape 3"/>
          <p:cNvSpPr/>
          <p:nvPr/>
        </p:nvSpPr>
        <p:spPr>
          <a:xfrm>
            <a:off x="777240" y="1965960"/>
            <a:ext cx="566928" cy="566928"/>
          </a:xfrm>
          <a:prstGeom prst="ellipse">
            <a:avLst/>
          </a:prstGeom>
          <a:solidFill>
            <a:schemeClr val="accent4"/>
          </a:solidFill>
          <a:ln w="15875">
            <a:solidFill>
              <a:schemeClr val="accent1"/>
            </a:solidFill>
            <a:prstDash val="solid"/>
          </a:ln>
        </p:spPr>
      </p:sp>
      <p:pic>
        <p:nvPicPr>
          <p:cNvPr id="6" name="Image 0" descr="Symbol Camera">    </p:cNvPr>
          <p:cNvPicPr>
            <a:picLocks noChangeAspect="1"/>
          </p:cNvPicPr>
          <p:nvPr/>
        </p:nvPicPr>
        <p:blipFill>
          <a:blip r:embed="rId1"/>
          <a:stretch>
            <a:fillRect/>
          </a:stretch>
        </p:blipFill>
        <p:spPr>
          <a:xfrm>
            <a:off x="901964" y="2090684"/>
            <a:ext cx="317480" cy="317480"/>
          </a:xfrm>
          <a:prstGeom prst="rect">
            <a:avLst/>
          </a:prstGeom>
        </p:spPr>
      </p:pic>
      <p:sp>
        <p:nvSpPr>
          <p:cNvPr id="7" name="Text 4"/>
          <p:cNvSpPr txBox="1"/>
          <p:nvPr/>
        </p:nvSpPr>
        <p:spPr>
          <a:xfrm>
            <a:off x="1508760" y="1965960"/>
            <a:ext cx="2377440" cy="566928"/>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Foto als Vorlage</a:t>
            </a:r>
            <a:endParaRPr lang="en-US" sz="1700" dirty="0"/>
          </a:p>
        </p:txBody>
      </p:sp>
      <p:sp>
        <p:nvSpPr>
          <p:cNvPr id="8" name="Text 5"/>
          <p:cNvSpPr txBox="1"/>
          <p:nvPr/>
        </p:nvSpPr>
        <p:spPr>
          <a:xfrm>
            <a:off x="777240" y="2697480"/>
            <a:ext cx="3063240" cy="91440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Kamera statt Skizzenbuch: gemalt wird nach Fotos oder Dias, nicht vor dem Motiv.</a:t>
            </a:r>
            <a:endParaRPr lang="en-US" sz="1600" dirty="0"/>
          </a:p>
        </p:txBody>
      </p:sp>
      <p:sp>
        <p:nvSpPr>
          <p:cNvPr id="9" name="Shape 6"/>
          <p:cNvSpPr/>
          <p:nvPr/>
        </p:nvSpPr>
        <p:spPr>
          <a:xfrm>
            <a:off x="4335628" y="1737360"/>
            <a:ext cx="3520440" cy="2011680"/>
          </a:xfrm>
          <a:prstGeom prst="rect">
            <a:avLst/>
          </a:prstGeom>
          <a:solidFill>
            <a:schemeClr val="tx2"/>
          </a:solidFill>
          <a:ln w="12700">
            <a:solidFill>
              <a:schemeClr val="tx2"/>
            </a:solidFill>
            <a:prstDash val="solid"/>
          </a:ln>
        </p:spPr>
      </p:sp>
      <p:sp>
        <p:nvSpPr>
          <p:cNvPr id="10" name="Shape 7"/>
          <p:cNvSpPr/>
          <p:nvPr/>
        </p:nvSpPr>
        <p:spPr>
          <a:xfrm>
            <a:off x="4564228" y="1965960"/>
            <a:ext cx="566928" cy="566928"/>
          </a:xfrm>
          <a:prstGeom prst="ellipse">
            <a:avLst/>
          </a:prstGeom>
          <a:solidFill>
            <a:schemeClr val="accent4"/>
          </a:solidFill>
          <a:ln w="15875">
            <a:solidFill>
              <a:schemeClr val="accent1"/>
            </a:solidFill>
            <a:prstDash val="solid"/>
          </a:ln>
        </p:spPr>
      </p:sp>
      <p:pic>
        <p:nvPicPr>
          <p:cNvPr id="11" name="Image 1" descr="Symbol Grid3X3">    </p:cNvPr>
          <p:cNvPicPr>
            <a:picLocks noChangeAspect="1"/>
          </p:cNvPicPr>
          <p:nvPr/>
        </p:nvPicPr>
        <p:blipFill>
          <a:blip r:embed="rId2"/>
          <a:stretch>
            <a:fillRect/>
          </a:stretch>
        </p:blipFill>
        <p:spPr>
          <a:xfrm>
            <a:off x="4688952" y="2090684"/>
            <a:ext cx="317480" cy="317480"/>
          </a:xfrm>
          <a:prstGeom prst="rect">
            <a:avLst/>
          </a:prstGeom>
        </p:spPr>
      </p:pic>
      <p:sp>
        <p:nvSpPr>
          <p:cNvPr id="12" name="Text 8"/>
          <p:cNvSpPr txBox="1"/>
          <p:nvPr/>
        </p:nvSpPr>
        <p:spPr>
          <a:xfrm>
            <a:off x="5295748" y="1965960"/>
            <a:ext cx="2377440" cy="566928"/>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Mechanische Übertragung</a:t>
            </a:r>
            <a:endParaRPr lang="en-US" sz="1700" dirty="0"/>
          </a:p>
        </p:txBody>
      </p:sp>
      <p:sp>
        <p:nvSpPr>
          <p:cNvPr id="13" name="Text 9"/>
          <p:cNvSpPr txBox="1"/>
          <p:nvPr/>
        </p:nvSpPr>
        <p:spPr>
          <a:xfrm>
            <a:off x="4564228" y="2697480"/>
            <a:ext cx="3063240" cy="91440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Rasternetz oder Diaprojektor übertragen das Foto genau auf die Leinwand.</a:t>
            </a:r>
            <a:endParaRPr lang="en-US" sz="1600" dirty="0"/>
          </a:p>
        </p:txBody>
      </p:sp>
      <p:sp>
        <p:nvSpPr>
          <p:cNvPr id="14" name="Shape 10"/>
          <p:cNvSpPr/>
          <p:nvPr/>
        </p:nvSpPr>
        <p:spPr>
          <a:xfrm>
            <a:off x="8122615" y="1737360"/>
            <a:ext cx="3520440" cy="2011680"/>
          </a:xfrm>
          <a:prstGeom prst="rect">
            <a:avLst/>
          </a:prstGeom>
          <a:solidFill>
            <a:schemeClr val="tx2"/>
          </a:solidFill>
          <a:ln w="12700">
            <a:solidFill>
              <a:schemeClr val="tx2"/>
            </a:solidFill>
            <a:prstDash val="solid"/>
          </a:ln>
        </p:spPr>
      </p:sp>
      <p:sp>
        <p:nvSpPr>
          <p:cNvPr id="15" name="Shape 11"/>
          <p:cNvSpPr/>
          <p:nvPr/>
        </p:nvSpPr>
        <p:spPr>
          <a:xfrm>
            <a:off x="8351215" y="1965960"/>
            <a:ext cx="566928" cy="566928"/>
          </a:xfrm>
          <a:prstGeom prst="ellipse">
            <a:avLst/>
          </a:prstGeom>
          <a:solidFill>
            <a:schemeClr val="accent4"/>
          </a:solidFill>
          <a:ln w="15875">
            <a:solidFill>
              <a:schemeClr val="accent1"/>
            </a:solidFill>
            <a:prstDash val="solid"/>
          </a:ln>
        </p:spPr>
      </p:sp>
      <p:pic>
        <p:nvPicPr>
          <p:cNvPr id="16" name="Image 2" descr="Symbol Spray">    </p:cNvPr>
          <p:cNvPicPr>
            <a:picLocks noChangeAspect="1"/>
          </p:cNvPicPr>
          <p:nvPr/>
        </p:nvPicPr>
        <p:blipFill>
          <a:blip r:embed="rId3"/>
          <a:stretch>
            <a:fillRect/>
          </a:stretch>
        </p:blipFill>
        <p:spPr>
          <a:xfrm>
            <a:off x="8475939" y="2090684"/>
            <a:ext cx="317480" cy="317480"/>
          </a:xfrm>
          <a:prstGeom prst="rect">
            <a:avLst/>
          </a:prstGeom>
        </p:spPr>
      </p:pic>
      <p:sp>
        <p:nvSpPr>
          <p:cNvPr id="17" name="Text 12"/>
          <p:cNvSpPr txBox="1"/>
          <p:nvPr/>
        </p:nvSpPr>
        <p:spPr>
          <a:xfrm>
            <a:off x="9082735" y="1965960"/>
            <a:ext cx="2377440" cy="566928"/>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Keine Handschrift</a:t>
            </a:r>
            <a:endParaRPr lang="en-US" sz="1700" dirty="0"/>
          </a:p>
        </p:txBody>
      </p:sp>
      <p:sp>
        <p:nvSpPr>
          <p:cNvPr id="18" name="Text 13"/>
          <p:cNvSpPr txBox="1"/>
          <p:nvPr/>
        </p:nvSpPr>
        <p:spPr>
          <a:xfrm>
            <a:off x="8351215" y="2697480"/>
            <a:ext cx="3063240" cy="91440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Glatte Oberfläche ohne sichtbare Pinselspuren – oft mit Airbrush und dünnen Schichten.</a:t>
            </a:r>
            <a:endParaRPr lang="en-US" sz="1600" dirty="0"/>
          </a:p>
        </p:txBody>
      </p:sp>
      <p:sp>
        <p:nvSpPr>
          <p:cNvPr id="19" name="Shape 14"/>
          <p:cNvSpPr/>
          <p:nvPr/>
        </p:nvSpPr>
        <p:spPr>
          <a:xfrm>
            <a:off x="548640" y="4023360"/>
            <a:ext cx="3520440" cy="2011680"/>
          </a:xfrm>
          <a:prstGeom prst="rect">
            <a:avLst/>
          </a:prstGeom>
          <a:solidFill>
            <a:schemeClr val="tx2"/>
          </a:solidFill>
          <a:ln w="12700">
            <a:solidFill>
              <a:schemeClr val="tx2"/>
            </a:solidFill>
            <a:prstDash val="solid"/>
          </a:ln>
        </p:spPr>
      </p:sp>
      <p:sp>
        <p:nvSpPr>
          <p:cNvPr id="20" name="Shape 15"/>
          <p:cNvSpPr/>
          <p:nvPr/>
        </p:nvSpPr>
        <p:spPr>
          <a:xfrm>
            <a:off x="777240" y="4251960"/>
            <a:ext cx="566928" cy="566928"/>
          </a:xfrm>
          <a:prstGeom prst="ellipse">
            <a:avLst/>
          </a:prstGeom>
          <a:solidFill>
            <a:schemeClr val="accent4"/>
          </a:solidFill>
          <a:ln w="15875">
            <a:solidFill>
              <a:schemeClr val="accent1"/>
            </a:solidFill>
            <a:prstDash val="solid"/>
          </a:ln>
        </p:spPr>
      </p:sp>
      <p:pic>
        <p:nvPicPr>
          <p:cNvPr id="21" name="Image 3" descr="Symbol Focus2">    </p:cNvPr>
          <p:cNvPicPr>
            <a:picLocks noChangeAspect="1"/>
          </p:cNvPicPr>
          <p:nvPr/>
        </p:nvPicPr>
        <p:blipFill>
          <a:blip r:embed="rId4"/>
          <a:stretch>
            <a:fillRect/>
          </a:stretch>
        </p:blipFill>
        <p:spPr>
          <a:xfrm>
            <a:off x="901964" y="4376684"/>
            <a:ext cx="317480" cy="317480"/>
          </a:xfrm>
          <a:prstGeom prst="rect">
            <a:avLst/>
          </a:prstGeom>
        </p:spPr>
      </p:pic>
      <p:sp>
        <p:nvSpPr>
          <p:cNvPr id="22" name="Text 16"/>
          <p:cNvSpPr txBox="1"/>
          <p:nvPr/>
        </p:nvSpPr>
        <p:spPr>
          <a:xfrm>
            <a:off x="1508760" y="4251960"/>
            <a:ext cx="2377440" cy="566928"/>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Fotografischer Blick</a:t>
            </a:r>
            <a:endParaRPr lang="en-US" sz="1700" dirty="0"/>
          </a:p>
        </p:txBody>
      </p:sp>
      <p:sp>
        <p:nvSpPr>
          <p:cNvPr id="23" name="Text 17"/>
          <p:cNvSpPr txBox="1"/>
          <p:nvPr/>
        </p:nvSpPr>
        <p:spPr>
          <a:xfrm>
            <a:off x="777240" y="4983480"/>
            <a:ext cx="3063240" cy="91440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Ausschnitt, Licht und Spiegelungen – manchmal sogar die Unschärfe – stammen aus dem Foto.</a:t>
            </a:r>
            <a:endParaRPr lang="en-US" sz="1600" dirty="0"/>
          </a:p>
        </p:txBody>
      </p:sp>
      <p:sp>
        <p:nvSpPr>
          <p:cNvPr id="24" name="Shape 18"/>
          <p:cNvSpPr/>
          <p:nvPr/>
        </p:nvSpPr>
        <p:spPr>
          <a:xfrm>
            <a:off x="4335628" y="4023360"/>
            <a:ext cx="3520440" cy="2011680"/>
          </a:xfrm>
          <a:prstGeom prst="rect">
            <a:avLst/>
          </a:prstGeom>
          <a:solidFill>
            <a:schemeClr val="tx2"/>
          </a:solidFill>
          <a:ln w="12700">
            <a:solidFill>
              <a:schemeClr val="tx2"/>
            </a:solidFill>
            <a:prstDash val="solid"/>
          </a:ln>
        </p:spPr>
      </p:sp>
      <p:sp>
        <p:nvSpPr>
          <p:cNvPr id="25" name="Shape 19"/>
          <p:cNvSpPr/>
          <p:nvPr/>
        </p:nvSpPr>
        <p:spPr>
          <a:xfrm>
            <a:off x="4564228" y="4251960"/>
            <a:ext cx="566928" cy="566928"/>
          </a:xfrm>
          <a:prstGeom prst="ellipse">
            <a:avLst/>
          </a:prstGeom>
          <a:solidFill>
            <a:schemeClr val="accent4"/>
          </a:solidFill>
          <a:ln w="15875">
            <a:solidFill>
              <a:schemeClr val="accent1"/>
            </a:solidFill>
            <a:prstDash val="solid"/>
          </a:ln>
        </p:spPr>
      </p:sp>
      <p:pic>
        <p:nvPicPr>
          <p:cNvPr id="26" name="Image 4" descr="Symbol ArrowsMaximize">    </p:cNvPr>
          <p:cNvPicPr>
            <a:picLocks noChangeAspect="1"/>
          </p:cNvPicPr>
          <p:nvPr/>
        </p:nvPicPr>
        <p:blipFill>
          <a:blip r:embed="rId5"/>
          <a:stretch>
            <a:fillRect/>
          </a:stretch>
        </p:blipFill>
        <p:spPr>
          <a:xfrm>
            <a:off x="4688952" y="4376684"/>
            <a:ext cx="317480" cy="317480"/>
          </a:xfrm>
          <a:prstGeom prst="rect">
            <a:avLst/>
          </a:prstGeom>
        </p:spPr>
      </p:pic>
      <p:sp>
        <p:nvSpPr>
          <p:cNvPr id="27" name="Text 20"/>
          <p:cNvSpPr txBox="1"/>
          <p:nvPr/>
        </p:nvSpPr>
        <p:spPr>
          <a:xfrm>
            <a:off x="5295748" y="4251960"/>
            <a:ext cx="2377440" cy="566928"/>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Großformat</a:t>
            </a:r>
            <a:endParaRPr lang="en-US" sz="1700" dirty="0"/>
          </a:p>
        </p:txBody>
      </p:sp>
      <p:sp>
        <p:nvSpPr>
          <p:cNvPr id="28" name="Text 21"/>
          <p:cNvSpPr txBox="1"/>
          <p:nvPr/>
        </p:nvSpPr>
        <p:spPr>
          <a:xfrm>
            <a:off x="4564228" y="4983480"/>
            <a:ext cx="3063240" cy="91440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Viele Werke sind mehrere Meter groß – die Fülle an Details überwältigt.</a:t>
            </a:r>
            <a:endParaRPr lang="en-US" sz="1600" dirty="0"/>
          </a:p>
        </p:txBody>
      </p:sp>
      <p:sp>
        <p:nvSpPr>
          <p:cNvPr id="29" name="Shape 22"/>
          <p:cNvSpPr/>
          <p:nvPr/>
        </p:nvSpPr>
        <p:spPr>
          <a:xfrm>
            <a:off x="8122615" y="4023360"/>
            <a:ext cx="3520440" cy="2011680"/>
          </a:xfrm>
          <a:prstGeom prst="rect">
            <a:avLst/>
          </a:prstGeom>
          <a:solidFill>
            <a:schemeClr val="tx2"/>
          </a:solidFill>
          <a:ln w="12700">
            <a:solidFill>
              <a:schemeClr val="tx2"/>
            </a:solidFill>
            <a:prstDash val="solid"/>
          </a:ln>
        </p:spPr>
      </p:sp>
      <p:sp>
        <p:nvSpPr>
          <p:cNvPr id="30" name="Shape 23"/>
          <p:cNvSpPr/>
          <p:nvPr/>
        </p:nvSpPr>
        <p:spPr>
          <a:xfrm>
            <a:off x="8351215" y="4251960"/>
            <a:ext cx="566928" cy="566928"/>
          </a:xfrm>
          <a:prstGeom prst="ellipse">
            <a:avLst/>
          </a:prstGeom>
          <a:solidFill>
            <a:schemeClr val="accent4"/>
          </a:solidFill>
          <a:ln w="15875">
            <a:solidFill>
              <a:schemeClr val="accent1"/>
            </a:solidFill>
            <a:prstDash val="solid"/>
          </a:ln>
        </p:spPr>
      </p:sp>
      <p:pic>
        <p:nvPicPr>
          <p:cNvPr id="31" name="Image 5" descr="Symbol BuildingStore">    </p:cNvPr>
          <p:cNvPicPr>
            <a:picLocks noChangeAspect="1"/>
          </p:cNvPicPr>
          <p:nvPr/>
        </p:nvPicPr>
        <p:blipFill>
          <a:blip r:embed="rId6"/>
          <a:stretch>
            <a:fillRect/>
          </a:stretch>
        </p:blipFill>
        <p:spPr>
          <a:xfrm>
            <a:off x="8475939" y="4376684"/>
            <a:ext cx="317480" cy="317480"/>
          </a:xfrm>
          <a:prstGeom prst="rect">
            <a:avLst/>
          </a:prstGeom>
        </p:spPr>
      </p:pic>
      <p:sp>
        <p:nvSpPr>
          <p:cNvPr id="32" name="Text 24"/>
          <p:cNvSpPr txBox="1"/>
          <p:nvPr/>
        </p:nvSpPr>
        <p:spPr>
          <a:xfrm>
            <a:off x="9082735" y="4251960"/>
            <a:ext cx="2377440" cy="566928"/>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Alltag &amp; Neutralität</a:t>
            </a:r>
            <a:endParaRPr lang="en-US" sz="1700" dirty="0"/>
          </a:p>
        </p:txBody>
      </p:sp>
      <p:sp>
        <p:nvSpPr>
          <p:cNvPr id="33" name="Text 25"/>
          <p:cNvSpPr txBox="1"/>
          <p:nvPr/>
        </p:nvSpPr>
        <p:spPr>
          <a:xfrm>
            <a:off x="8351215" y="4983480"/>
            <a:ext cx="3063240" cy="91440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Banale Motive, kühl und ohne erkennbare Wertung dargestellt.</a:t>
            </a:r>
            <a:endParaRPr lang="en-US" sz="16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lIns="0" tIns="0" rIns="0" bIns="0" rtlCol="0" anchor="ctr"/>
          <a:lstStyle/>
          <a:p>
            <a:pPr algn="l" indent="0" marL="0">
              <a:buNone/>
            </a:pPr>
            <a:r>
              <a:rPr lang="en-US" sz="1200" b="1" spc="300" kern="0" dirty="0">
                <a:solidFill>
                  <a:schemeClr val="accent1"/>
                </a:solidFill>
                <a:latin typeface="Arial" pitchFamily="34" charset="0"/>
                <a:ea typeface="Arial" pitchFamily="34" charset="-122"/>
                <a:cs typeface="Arial" pitchFamily="34" charset="-120"/>
              </a:rPr>
              <a:t>02 · MERKMALE AM BILDBEISPIEL</a:t>
            </a:r>
            <a:endParaRPr lang="en-US" sz="1200" dirty="0"/>
          </a:p>
        </p:txBody>
      </p:sp>
      <p:sp>
        <p:nvSpPr>
          <p:cNvPr id="3" name="Text 0"/>
          <p:cNvSpPr/>
          <p:nvPr>
            <p:ph idx="101" type="title" hasCustomPrompt="1"/>
          </p:nvPr>
        </p:nvSpPr>
        <p:spPr>
          <a:xfrm>
            <a:off x="548640" y="694944"/>
            <a:ext cx="11094415" cy="749808"/>
          </a:xfrm>
          <a:prstGeom prst="rect">
            <a:avLst/>
          </a:prstGeom>
          <a:noFill/>
          <a:ln/>
        </p:spPr>
        <p:txBody>
          <a:bodyPr wrap="square" lIns="0" tIns="0" rIns="0" bIns="0" rtlCol="0" anchor="t"/>
          <a:lstStyle/>
          <a:p>
            <a:pPr algn="l" indent="0" marL="0">
              <a:buNone/>
            </a:pPr>
            <a:r>
              <a:rPr lang="en-US" sz="3200" b="1" dirty="0">
                <a:solidFill>
                  <a:schemeClr val="bg1"/>
                </a:solidFill>
                <a:latin typeface="Georgia" pitchFamily="34" charset="0"/>
                <a:ea typeface="Georgia" pitchFamily="34" charset="-122"/>
                <a:cs typeface="Georgia" pitchFamily="34" charset="-120"/>
              </a:rPr>
              <a:t>Am Bildbeispiel: Spiegelung und Schärfe</a:t>
            </a:r>
            <a:endParaRPr lang="en-US" sz="3200" dirty="0"/>
          </a:p>
        </p:txBody>
      </p:sp>
      <p:sp>
        <p:nvSpPr>
          <p:cNvPr id="4" name="Bildplatzhalter estes_booths"/>
          <p:cNvSpPr/>
          <p:nvPr/>
        </p:nvSpPr>
        <p:spPr>
          <a:xfrm>
            <a:off x="640080" y="1783080"/>
            <a:ext cx="5584469" cy="3886200"/>
          </a:xfrm>
          <a:prstGeom prst="rect">
            <a:avLst/>
          </a:prstGeom>
          <a:solidFill>
            <a:schemeClr val="tx2"/>
          </a:solidFill>
          <a:ln w="12700">
            <a:solidFill>
              <a:schemeClr val="accent3"/>
            </a:solidFill>
            <a:prstDash val="dash"/>
          </a:ln>
        </p:spPr>
      </p:sp>
      <p:pic>
        <p:nvPicPr>
          <p:cNvPr id="5" name="Image 0" descr="Platzhalter-Symbol">    </p:cNvPr>
          <p:cNvPicPr>
            <a:picLocks noChangeAspect="1"/>
          </p:cNvPicPr>
          <p:nvPr/>
        </p:nvPicPr>
        <p:blipFill>
          <a:blip r:embed="rId1"/>
          <a:stretch>
            <a:fillRect/>
          </a:stretch>
        </p:blipFill>
        <p:spPr>
          <a:xfrm>
            <a:off x="3180855" y="3177540"/>
            <a:ext cx="502920" cy="502920"/>
          </a:xfrm>
          <a:prstGeom prst="rect">
            <a:avLst/>
          </a:prstGeom>
        </p:spPr>
      </p:pic>
      <p:sp>
        <p:nvSpPr>
          <p:cNvPr id="6" name="Text 3"/>
          <p:cNvSpPr txBox="1"/>
          <p:nvPr/>
        </p:nvSpPr>
        <p:spPr>
          <a:xfrm>
            <a:off x="777240" y="3744468"/>
            <a:ext cx="5310149" cy="731520"/>
          </a:xfrm>
          <a:prstGeom prst="rect">
            <a:avLst/>
          </a:prstGeom>
          <a:noFill/>
          <a:ln/>
        </p:spPr>
        <p:txBody>
          <a:bodyPr wrap="square" lIns="0" tIns="0" rIns="0" bIns="0" rtlCol="0" anchor="t">
            <a:normAutofit/>
          </a:bodyPr>
          <a:lstStyle/>
          <a:p>
            <a:pPr algn="ctr" indent="0" marL="0">
              <a:buNone/>
            </a:pPr>
            <a:r>
              <a:rPr lang="en-US" sz="1100" b="1" dirty="0">
                <a:solidFill>
                  <a:schemeClr val="accent5"/>
                </a:solidFill>
                <a:latin typeface="Arial" pitchFamily="34" charset="0"/>
                <a:ea typeface="Arial" pitchFamily="34" charset="-122"/>
                <a:cs typeface="Arial" pitchFamily="34" charset="-120"/>
              </a:rPr>
              <a:t>Abbildung einfügen</a:t>
            </a:r>
            <a:endParaRPr lang="en-US" sz="1100" dirty="0"/>
          </a:p>
          <a:p>
            <a:pPr algn="ctr" indent="0" marL="0">
              <a:buNone/>
            </a:pPr>
            <a:r>
              <a:rPr lang="en-US" sz="1100" dirty="0">
                <a:solidFill>
                  <a:schemeClr val="accent5"/>
                </a:solidFill>
                <a:latin typeface="Arial" pitchFamily="34" charset="0"/>
                <a:ea typeface="Arial" pitchFamily="34" charset="-122"/>
                <a:cs typeface="Arial" pitchFamily="34" charset="-120"/>
              </a:rPr>
              <a:t>Richard Estes: Telephone Booths</a:t>
            </a:r>
            <a:endParaRPr lang="en-US" sz="1100" dirty="0"/>
          </a:p>
        </p:txBody>
      </p:sp>
      <p:sp>
        <p:nvSpPr>
          <p:cNvPr id="7" name="Shape 4"/>
          <p:cNvSpPr/>
          <p:nvPr/>
        </p:nvSpPr>
        <p:spPr>
          <a:xfrm>
            <a:off x="548640" y="1691640"/>
            <a:ext cx="237744" cy="0"/>
          </a:xfrm>
          <a:prstGeom prst="line">
            <a:avLst/>
          </a:prstGeom>
          <a:noFill/>
          <a:ln w="25400">
            <a:solidFill>
              <a:schemeClr val="accent1"/>
            </a:solidFill>
            <a:prstDash val="solid"/>
          </a:ln>
        </p:spPr>
      </p:sp>
      <p:sp>
        <p:nvSpPr>
          <p:cNvPr id="8" name="Shape 5"/>
          <p:cNvSpPr/>
          <p:nvPr/>
        </p:nvSpPr>
        <p:spPr>
          <a:xfrm>
            <a:off x="548640" y="1691640"/>
            <a:ext cx="0" cy="237744"/>
          </a:xfrm>
          <a:prstGeom prst="line">
            <a:avLst/>
          </a:prstGeom>
          <a:noFill/>
          <a:ln w="25400">
            <a:solidFill>
              <a:schemeClr val="accent1"/>
            </a:solidFill>
            <a:prstDash val="solid"/>
          </a:ln>
        </p:spPr>
      </p:sp>
      <p:sp>
        <p:nvSpPr>
          <p:cNvPr id="9" name="Shape 6"/>
          <p:cNvSpPr/>
          <p:nvPr/>
        </p:nvSpPr>
        <p:spPr>
          <a:xfrm>
            <a:off x="6078245" y="1691640"/>
            <a:ext cx="237744" cy="0"/>
          </a:xfrm>
          <a:prstGeom prst="line">
            <a:avLst/>
          </a:prstGeom>
          <a:noFill/>
          <a:ln w="25400">
            <a:solidFill>
              <a:schemeClr val="accent1"/>
            </a:solidFill>
            <a:prstDash val="solid"/>
          </a:ln>
        </p:spPr>
      </p:sp>
      <p:sp>
        <p:nvSpPr>
          <p:cNvPr id="10" name="Shape 7"/>
          <p:cNvSpPr/>
          <p:nvPr/>
        </p:nvSpPr>
        <p:spPr>
          <a:xfrm>
            <a:off x="6315989" y="1691640"/>
            <a:ext cx="0" cy="237744"/>
          </a:xfrm>
          <a:prstGeom prst="line">
            <a:avLst/>
          </a:prstGeom>
          <a:noFill/>
          <a:ln w="25400">
            <a:solidFill>
              <a:schemeClr val="accent1"/>
            </a:solidFill>
            <a:prstDash val="solid"/>
          </a:ln>
        </p:spPr>
      </p:sp>
      <p:sp>
        <p:nvSpPr>
          <p:cNvPr id="11" name="Shape 8"/>
          <p:cNvSpPr/>
          <p:nvPr/>
        </p:nvSpPr>
        <p:spPr>
          <a:xfrm>
            <a:off x="548640" y="5760720"/>
            <a:ext cx="237744" cy="0"/>
          </a:xfrm>
          <a:prstGeom prst="line">
            <a:avLst/>
          </a:prstGeom>
          <a:noFill/>
          <a:ln w="25400">
            <a:solidFill>
              <a:schemeClr val="accent1"/>
            </a:solidFill>
            <a:prstDash val="solid"/>
          </a:ln>
        </p:spPr>
      </p:sp>
      <p:sp>
        <p:nvSpPr>
          <p:cNvPr id="12" name="Shape 9"/>
          <p:cNvSpPr/>
          <p:nvPr/>
        </p:nvSpPr>
        <p:spPr>
          <a:xfrm>
            <a:off x="548640" y="5522976"/>
            <a:ext cx="0" cy="237744"/>
          </a:xfrm>
          <a:prstGeom prst="line">
            <a:avLst/>
          </a:prstGeom>
          <a:noFill/>
          <a:ln w="25400">
            <a:solidFill>
              <a:schemeClr val="accent1"/>
            </a:solidFill>
            <a:prstDash val="solid"/>
          </a:ln>
        </p:spPr>
      </p:sp>
      <p:sp>
        <p:nvSpPr>
          <p:cNvPr id="13" name="Shape 10"/>
          <p:cNvSpPr/>
          <p:nvPr/>
        </p:nvSpPr>
        <p:spPr>
          <a:xfrm>
            <a:off x="6078245" y="5760720"/>
            <a:ext cx="237744" cy="0"/>
          </a:xfrm>
          <a:prstGeom prst="line">
            <a:avLst/>
          </a:prstGeom>
          <a:noFill/>
          <a:ln w="25400">
            <a:solidFill>
              <a:schemeClr val="accent1"/>
            </a:solidFill>
            <a:prstDash val="solid"/>
          </a:ln>
        </p:spPr>
      </p:sp>
      <p:sp>
        <p:nvSpPr>
          <p:cNvPr id="14" name="Shape 11"/>
          <p:cNvSpPr/>
          <p:nvPr/>
        </p:nvSpPr>
        <p:spPr>
          <a:xfrm>
            <a:off x="6315989" y="5522976"/>
            <a:ext cx="0" cy="237744"/>
          </a:xfrm>
          <a:prstGeom prst="line">
            <a:avLst/>
          </a:prstGeom>
          <a:noFill/>
          <a:ln w="25400">
            <a:solidFill>
              <a:schemeClr val="accent1"/>
            </a:solidFill>
            <a:prstDash val="solid"/>
          </a:ln>
        </p:spPr>
      </p:sp>
      <p:sp>
        <p:nvSpPr>
          <p:cNvPr id="15" name="Text 12"/>
          <p:cNvSpPr txBox="1"/>
          <p:nvPr/>
        </p:nvSpPr>
        <p:spPr>
          <a:xfrm>
            <a:off x="640080" y="5870448"/>
            <a:ext cx="6583680" cy="502920"/>
          </a:xfrm>
          <a:prstGeom prst="rect">
            <a:avLst/>
          </a:prstGeom>
          <a:noFill/>
          <a:ln/>
        </p:spPr>
        <p:txBody>
          <a:bodyPr wrap="square" lIns="0" tIns="0" rIns="0" bIns="0" rtlCol="0" anchor="t"/>
          <a:lstStyle/>
          <a:p>
            <a:pPr indent="0" marL="0">
              <a:spcAft>
                <a:spcPts val="200"/>
              </a:spcAft>
              <a:buNone/>
            </a:pPr>
            <a:r>
              <a:rPr lang="en-US" sz="1300" b="1" dirty="0">
                <a:solidFill>
                  <a:schemeClr val="bg1"/>
                </a:solidFill>
                <a:latin typeface="Arial" pitchFamily="34" charset="0"/>
                <a:ea typeface="Arial" pitchFamily="34" charset="-122"/>
                <a:cs typeface="Arial" pitchFamily="34" charset="-120"/>
              </a:rPr>
              <a:t>Richard Estes, </a:t>
            </a:r>
            <a:pPr indent="0" marL="0">
              <a:spcAft>
                <a:spcPts val="200"/>
              </a:spcAft>
              <a:buNone/>
            </a:pPr>
            <a:r>
              <a:rPr lang="en-US" sz="1300" b="1" i="1" dirty="0">
                <a:solidFill>
                  <a:schemeClr val="bg1"/>
                </a:solidFill>
                <a:latin typeface="Arial" pitchFamily="34" charset="0"/>
                <a:ea typeface="Arial" pitchFamily="34" charset="-122"/>
                <a:cs typeface="Arial" pitchFamily="34" charset="-120"/>
              </a:rPr>
              <a:t>Telephone Booths</a:t>
            </a:r>
            <a:pPr indent="0" marL="0">
              <a:spcAft>
                <a:spcPts val="200"/>
              </a:spcAft>
              <a:buNone/>
            </a:pPr>
            <a:r>
              <a:rPr lang="en-US" sz="1300" b="1" dirty="0">
                <a:solidFill>
                  <a:schemeClr val="bg1"/>
                </a:solidFill>
                <a:latin typeface="Arial" pitchFamily="34" charset="0"/>
                <a:ea typeface="Arial" pitchFamily="34" charset="-122"/>
                <a:cs typeface="Arial" pitchFamily="34" charset="-120"/>
              </a:rPr>
              <a:t> (Telefonzellen), 1967</a:t>
            </a:r>
            <a:endParaRPr lang="en-US" sz="1300" dirty="0"/>
          </a:p>
          <a:p>
            <a:pPr indent="0" marL="0">
              <a:spcAft>
                <a:spcPts val="200"/>
              </a:spcAft>
              <a:buNone/>
            </a:pPr>
            <a:r>
              <a:rPr lang="en-US" sz="1100" dirty="0">
                <a:solidFill>
                  <a:schemeClr val="bg2"/>
                </a:solidFill>
                <a:latin typeface="Arial" pitchFamily="34" charset="0"/>
                <a:ea typeface="Arial" pitchFamily="34" charset="-122"/>
                <a:cs typeface="Arial" pitchFamily="34" charset="-120"/>
              </a:rPr>
              <a:t>Acryl auf Masonit, 122 × 175,3 cm · Museo Nacional Thyssen-Bornemisza, Madrid</a:t>
            </a:r>
            <a:endParaRPr lang="en-US" sz="1300" dirty="0"/>
          </a:p>
        </p:txBody>
      </p:sp>
      <p:sp>
        <p:nvSpPr>
          <p:cNvPr id="16" name="Shape 13"/>
          <p:cNvSpPr/>
          <p:nvPr/>
        </p:nvSpPr>
        <p:spPr>
          <a:xfrm>
            <a:off x="7726680" y="1755648"/>
            <a:ext cx="384048" cy="384048"/>
          </a:xfrm>
          <a:prstGeom prst="ellipse">
            <a:avLst/>
          </a:prstGeom>
          <a:solidFill>
            <a:schemeClr val="accent1"/>
          </a:solidFill>
          <a:ln w="12700">
            <a:solidFill>
              <a:schemeClr val="accent1"/>
            </a:solidFill>
            <a:prstDash val="solid"/>
          </a:ln>
        </p:spPr>
      </p:sp>
      <p:sp>
        <p:nvSpPr>
          <p:cNvPr id="17" name="Text 14"/>
          <p:cNvSpPr txBox="1"/>
          <p:nvPr/>
        </p:nvSpPr>
        <p:spPr>
          <a:xfrm>
            <a:off x="7726680" y="1755648"/>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Arial" pitchFamily="34" charset="0"/>
                <a:ea typeface="Arial" pitchFamily="34" charset="-122"/>
                <a:cs typeface="Arial" pitchFamily="34" charset="-120"/>
              </a:rPr>
              <a:t>1</a:t>
            </a:r>
            <a:endParaRPr lang="en-US" sz="1400" dirty="0"/>
          </a:p>
        </p:txBody>
      </p:sp>
      <p:sp>
        <p:nvSpPr>
          <p:cNvPr id="18" name="Text 15"/>
          <p:cNvSpPr txBox="1"/>
          <p:nvPr/>
        </p:nvSpPr>
        <p:spPr>
          <a:xfrm>
            <a:off x="8275320" y="1737360"/>
            <a:ext cx="3367735" cy="777240"/>
          </a:xfrm>
          <a:prstGeom prst="rect">
            <a:avLst/>
          </a:prstGeom>
          <a:noFill/>
          <a:ln/>
        </p:spPr>
        <p:txBody>
          <a:bodyPr wrap="square" lIns="0" tIns="0" rIns="0" bIns="0" rtlCol="0" anchor="t"/>
          <a:lstStyle/>
          <a:p>
            <a:pPr indent="0" marL="0">
              <a:buNone/>
            </a:pPr>
            <a:r>
              <a:rPr lang="en-US" sz="1500" b="1" dirty="0">
                <a:solidFill>
                  <a:schemeClr val="bg1"/>
                </a:solidFill>
                <a:latin typeface="Arial" pitchFamily="34" charset="0"/>
                <a:ea typeface="Arial" pitchFamily="34" charset="-122"/>
                <a:cs typeface="Arial" pitchFamily="34" charset="-120"/>
              </a:rPr>
              <a:t>Spiegelungen</a:t>
            </a:r>
            <a:endParaRPr lang="en-US" sz="1500" dirty="0"/>
          </a:p>
          <a:p>
            <a:pPr indent="0" marL="0">
              <a:buNone/>
            </a:pPr>
            <a:r>
              <a:rPr lang="en-US" sz="1300" dirty="0">
                <a:solidFill>
                  <a:schemeClr val="bg2"/>
                </a:solidFill>
                <a:latin typeface="Arial" pitchFamily="34" charset="0"/>
                <a:ea typeface="Arial" pitchFamily="34" charset="-122"/>
                <a:cs typeface="Arial" pitchFamily="34" charset="-120"/>
              </a:rPr>
              <a:t>Glas und Metall spiegeln die Straße – zentrales Motiv bei Estes.</a:t>
            </a:r>
            <a:endParaRPr lang="en-US" sz="1500" dirty="0"/>
          </a:p>
        </p:txBody>
      </p:sp>
      <p:sp>
        <p:nvSpPr>
          <p:cNvPr id="19" name="Shape 16"/>
          <p:cNvSpPr/>
          <p:nvPr/>
        </p:nvSpPr>
        <p:spPr>
          <a:xfrm>
            <a:off x="7726680" y="2624328"/>
            <a:ext cx="384048" cy="384048"/>
          </a:xfrm>
          <a:prstGeom prst="ellipse">
            <a:avLst/>
          </a:prstGeom>
          <a:solidFill>
            <a:schemeClr val="accent1"/>
          </a:solidFill>
          <a:ln w="12700">
            <a:solidFill>
              <a:schemeClr val="accent1"/>
            </a:solidFill>
            <a:prstDash val="solid"/>
          </a:ln>
        </p:spPr>
      </p:sp>
      <p:sp>
        <p:nvSpPr>
          <p:cNvPr id="20" name="Text 17"/>
          <p:cNvSpPr txBox="1"/>
          <p:nvPr/>
        </p:nvSpPr>
        <p:spPr>
          <a:xfrm>
            <a:off x="7726680" y="2624328"/>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Arial" pitchFamily="34" charset="0"/>
                <a:ea typeface="Arial" pitchFamily="34" charset="-122"/>
                <a:cs typeface="Arial" pitchFamily="34" charset="-120"/>
              </a:rPr>
              <a:t>2</a:t>
            </a:r>
            <a:endParaRPr lang="en-US" sz="1400" dirty="0"/>
          </a:p>
        </p:txBody>
      </p:sp>
      <p:sp>
        <p:nvSpPr>
          <p:cNvPr id="21" name="Text 18"/>
          <p:cNvSpPr txBox="1"/>
          <p:nvPr/>
        </p:nvSpPr>
        <p:spPr>
          <a:xfrm>
            <a:off x="8275320" y="2606040"/>
            <a:ext cx="3367735" cy="777240"/>
          </a:xfrm>
          <a:prstGeom prst="rect">
            <a:avLst/>
          </a:prstGeom>
          <a:noFill/>
          <a:ln/>
        </p:spPr>
        <p:txBody>
          <a:bodyPr wrap="square" lIns="0" tIns="0" rIns="0" bIns="0" rtlCol="0" anchor="t"/>
          <a:lstStyle/>
          <a:p>
            <a:pPr indent="0" marL="0">
              <a:buNone/>
            </a:pPr>
            <a:r>
              <a:rPr lang="en-US" sz="1500" b="1" dirty="0">
                <a:solidFill>
                  <a:schemeClr val="bg1"/>
                </a:solidFill>
                <a:latin typeface="Arial" pitchFamily="34" charset="0"/>
                <a:ea typeface="Arial" pitchFamily="34" charset="-122"/>
                <a:cs typeface="Arial" pitchFamily="34" charset="-120"/>
              </a:rPr>
              <a:t>Durchgehende Schärfe</a:t>
            </a:r>
            <a:endParaRPr lang="en-US" sz="1500" dirty="0"/>
          </a:p>
          <a:p>
            <a:pPr indent="0" marL="0">
              <a:buNone/>
            </a:pPr>
            <a:r>
              <a:rPr lang="en-US" sz="1300" dirty="0">
                <a:solidFill>
                  <a:schemeClr val="bg2"/>
                </a:solidFill>
                <a:latin typeface="Arial" pitchFamily="34" charset="0"/>
                <a:ea typeface="Arial" pitchFamily="34" charset="-122"/>
                <a:cs typeface="Arial" pitchFamily="34" charset="-120"/>
              </a:rPr>
              <a:t>Nah und fern gleich scharf – mehr, als Auge oder Kamera schaffen.</a:t>
            </a:r>
            <a:endParaRPr lang="en-US" sz="1500" dirty="0"/>
          </a:p>
        </p:txBody>
      </p:sp>
      <p:sp>
        <p:nvSpPr>
          <p:cNvPr id="22" name="Shape 19"/>
          <p:cNvSpPr/>
          <p:nvPr/>
        </p:nvSpPr>
        <p:spPr>
          <a:xfrm>
            <a:off x="7726680" y="3493008"/>
            <a:ext cx="384048" cy="384048"/>
          </a:xfrm>
          <a:prstGeom prst="ellipse">
            <a:avLst/>
          </a:prstGeom>
          <a:solidFill>
            <a:schemeClr val="accent1"/>
          </a:solidFill>
          <a:ln w="12700">
            <a:solidFill>
              <a:schemeClr val="accent1"/>
            </a:solidFill>
            <a:prstDash val="solid"/>
          </a:ln>
        </p:spPr>
      </p:sp>
      <p:sp>
        <p:nvSpPr>
          <p:cNvPr id="23" name="Text 20"/>
          <p:cNvSpPr txBox="1"/>
          <p:nvPr/>
        </p:nvSpPr>
        <p:spPr>
          <a:xfrm>
            <a:off x="7726680" y="3493008"/>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Arial" pitchFamily="34" charset="0"/>
                <a:ea typeface="Arial" pitchFamily="34" charset="-122"/>
                <a:cs typeface="Arial" pitchFamily="34" charset="-120"/>
              </a:rPr>
              <a:t>3</a:t>
            </a:r>
            <a:endParaRPr lang="en-US" sz="1400" dirty="0"/>
          </a:p>
        </p:txBody>
      </p:sp>
      <p:sp>
        <p:nvSpPr>
          <p:cNvPr id="24" name="Text 21"/>
          <p:cNvSpPr txBox="1"/>
          <p:nvPr/>
        </p:nvSpPr>
        <p:spPr>
          <a:xfrm>
            <a:off x="8275320" y="3474720"/>
            <a:ext cx="3367735" cy="777240"/>
          </a:xfrm>
          <a:prstGeom prst="rect">
            <a:avLst/>
          </a:prstGeom>
          <a:noFill/>
          <a:ln/>
        </p:spPr>
        <p:txBody>
          <a:bodyPr wrap="square" lIns="0" tIns="0" rIns="0" bIns="0" rtlCol="0" anchor="t"/>
          <a:lstStyle/>
          <a:p>
            <a:pPr indent="0" marL="0">
              <a:buNone/>
            </a:pPr>
            <a:r>
              <a:rPr lang="en-US" sz="1500" b="1" dirty="0">
                <a:solidFill>
                  <a:schemeClr val="bg1"/>
                </a:solidFill>
                <a:latin typeface="Arial" pitchFamily="34" charset="0"/>
                <a:ea typeface="Arial" pitchFamily="34" charset="-122"/>
                <a:cs typeface="Arial" pitchFamily="34" charset="-120"/>
              </a:rPr>
              <a:t>Keine Handschrift</a:t>
            </a:r>
            <a:endParaRPr lang="en-US" sz="1500" dirty="0"/>
          </a:p>
          <a:p>
            <a:pPr indent="0" marL="0">
              <a:buNone/>
            </a:pPr>
            <a:r>
              <a:rPr lang="en-US" sz="1300" dirty="0">
                <a:solidFill>
                  <a:schemeClr val="bg2"/>
                </a:solidFill>
                <a:latin typeface="Arial" pitchFamily="34" charset="0"/>
                <a:ea typeface="Arial" pitchFamily="34" charset="-122"/>
                <a:cs typeface="Arial" pitchFamily="34" charset="-120"/>
              </a:rPr>
              <a:t>Glatte Acrylmalerei ohne sichtbaren Pinselstrich.</a:t>
            </a:r>
            <a:endParaRPr lang="en-US" sz="1500" dirty="0"/>
          </a:p>
        </p:txBody>
      </p:sp>
      <p:sp>
        <p:nvSpPr>
          <p:cNvPr id="25" name="Shape 22"/>
          <p:cNvSpPr/>
          <p:nvPr/>
        </p:nvSpPr>
        <p:spPr>
          <a:xfrm>
            <a:off x="7726680" y="4361688"/>
            <a:ext cx="384048" cy="384048"/>
          </a:xfrm>
          <a:prstGeom prst="ellipse">
            <a:avLst/>
          </a:prstGeom>
          <a:solidFill>
            <a:schemeClr val="accent1"/>
          </a:solidFill>
          <a:ln w="12700">
            <a:solidFill>
              <a:schemeClr val="accent1"/>
            </a:solidFill>
            <a:prstDash val="solid"/>
          </a:ln>
        </p:spPr>
      </p:sp>
      <p:sp>
        <p:nvSpPr>
          <p:cNvPr id="26" name="Text 23"/>
          <p:cNvSpPr txBox="1"/>
          <p:nvPr/>
        </p:nvSpPr>
        <p:spPr>
          <a:xfrm>
            <a:off x="7726680" y="4361688"/>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Arial" pitchFamily="34" charset="0"/>
                <a:ea typeface="Arial" pitchFamily="34" charset="-122"/>
                <a:cs typeface="Arial" pitchFamily="34" charset="-120"/>
              </a:rPr>
              <a:t>4</a:t>
            </a:r>
            <a:endParaRPr lang="en-US" sz="1400" dirty="0"/>
          </a:p>
        </p:txBody>
      </p:sp>
      <p:sp>
        <p:nvSpPr>
          <p:cNvPr id="27" name="Text 24"/>
          <p:cNvSpPr txBox="1"/>
          <p:nvPr/>
        </p:nvSpPr>
        <p:spPr>
          <a:xfrm>
            <a:off x="8275320" y="4343400"/>
            <a:ext cx="3367735" cy="777240"/>
          </a:xfrm>
          <a:prstGeom prst="rect">
            <a:avLst/>
          </a:prstGeom>
          <a:noFill/>
          <a:ln/>
        </p:spPr>
        <p:txBody>
          <a:bodyPr wrap="square" lIns="0" tIns="0" rIns="0" bIns="0" rtlCol="0" anchor="t"/>
          <a:lstStyle/>
          <a:p>
            <a:pPr indent="0" marL="0">
              <a:buNone/>
            </a:pPr>
            <a:r>
              <a:rPr lang="en-US" sz="1500" b="1" dirty="0">
                <a:solidFill>
                  <a:schemeClr val="bg1"/>
                </a:solidFill>
                <a:latin typeface="Arial" pitchFamily="34" charset="0"/>
                <a:ea typeface="Arial" pitchFamily="34" charset="-122"/>
                <a:cs typeface="Arial" pitchFamily="34" charset="-120"/>
              </a:rPr>
              <a:t>Alltagsmotiv</a:t>
            </a:r>
            <a:endParaRPr lang="en-US" sz="1500" dirty="0"/>
          </a:p>
          <a:p>
            <a:pPr indent="0" marL="0">
              <a:buNone/>
            </a:pPr>
            <a:r>
              <a:rPr lang="en-US" sz="1300" dirty="0">
                <a:solidFill>
                  <a:schemeClr val="bg2"/>
                </a:solidFill>
                <a:latin typeface="Arial" pitchFamily="34" charset="0"/>
                <a:ea typeface="Arial" pitchFamily="34" charset="-122"/>
                <a:cs typeface="Arial" pitchFamily="34" charset="-120"/>
              </a:rPr>
              <a:t>Telefonzellen in New York – banal und kühl beobachtet.</a:t>
            </a:r>
            <a:endParaRPr lang="en-US" sz="1500" dirty="0"/>
          </a:p>
        </p:txBody>
      </p:sp>
      <p:sp>
        <p:nvSpPr>
          <p:cNvPr id="28" name="Shape 25"/>
          <p:cNvSpPr/>
          <p:nvPr/>
        </p:nvSpPr>
        <p:spPr>
          <a:xfrm>
            <a:off x="7726680" y="5230368"/>
            <a:ext cx="384048" cy="384048"/>
          </a:xfrm>
          <a:prstGeom prst="ellipse">
            <a:avLst/>
          </a:prstGeom>
          <a:solidFill>
            <a:schemeClr val="accent1"/>
          </a:solidFill>
          <a:ln w="12700">
            <a:solidFill>
              <a:schemeClr val="accent1"/>
            </a:solidFill>
            <a:prstDash val="solid"/>
          </a:ln>
        </p:spPr>
      </p:sp>
      <p:sp>
        <p:nvSpPr>
          <p:cNvPr id="29" name="Text 26"/>
          <p:cNvSpPr txBox="1"/>
          <p:nvPr/>
        </p:nvSpPr>
        <p:spPr>
          <a:xfrm>
            <a:off x="7726680" y="5230368"/>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Arial" pitchFamily="34" charset="0"/>
                <a:ea typeface="Arial" pitchFamily="34" charset="-122"/>
                <a:cs typeface="Arial" pitchFamily="34" charset="-120"/>
              </a:rPr>
              <a:t>5</a:t>
            </a:r>
            <a:endParaRPr lang="en-US" sz="1400" dirty="0"/>
          </a:p>
        </p:txBody>
      </p:sp>
      <p:sp>
        <p:nvSpPr>
          <p:cNvPr id="30" name="Text 27"/>
          <p:cNvSpPr txBox="1"/>
          <p:nvPr/>
        </p:nvSpPr>
        <p:spPr>
          <a:xfrm>
            <a:off x="8275320" y="5212080"/>
            <a:ext cx="3367735" cy="777240"/>
          </a:xfrm>
          <a:prstGeom prst="rect">
            <a:avLst/>
          </a:prstGeom>
          <a:noFill/>
          <a:ln/>
        </p:spPr>
        <p:txBody>
          <a:bodyPr wrap="square" lIns="0" tIns="0" rIns="0" bIns="0" rtlCol="0" anchor="t"/>
          <a:lstStyle/>
          <a:p>
            <a:pPr indent="0" marL="0">
              <a:buNone/>
            </a:pPr>
            <a:r>
              <a:rPr lang="en-US" sz="1500" b="1" dirty="0">
                <a:solidFill>
                  <a:schemeClr val="bg1"/>
                </a:solidFill>
                <a:latin typeface="Arial" pitchFamily="34" charset="0"/>
                <a:ea typeface="Arial" pitchFamily="34" charset="-122"/>
                <a:cs typeface="Arial" pitchFamily="34" charset="-120"/>
              </a:rPr>
              <a:t>Mehrere Fotos als Vorlage</a:t>
            </a:r>
            <a:endParaRPr lang="en-US" sz="1500" dirty="0"/>
          </a:p>
          <a:p>
            <a:pPr indent="0" marL="0">
              <a:buNone/>
            </a:pPr>
            <a:r>
              <a:rPr lang="en-US" sz="1300" dirty="0">
                <a:solidFill>
                  <a:schemeClr val="bg2"/>
                </a:solidFill>
                <a:latin typeface="Arial" pitchFamily="34" charset="0"/>
                <a:ea typeface="Arial" pitchFamily="34" charset="-122"/>
                <a:cs typeface="Arial" pitchFamily="34" charset="-120"/>
              </a:rPr>
              <a:t>Estes malt ohne Projektor und setzt mehrere eigene Fotos zusammen.</a:t>
            </a:r>
            <a:endParaRPr lang="en-US" sz="15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lIns="0" tIns="0" rIns="0" bIns="0" rtlCol="0" anchor="ctr"/>
          <a:lstStyle/>
          <a:p>
            <a:pPr algn="l" indent="0" marL="0">
              <a:buNone/>
            </a:pPr>
            <a:r>
              <a:rPr lang="en-US" sz="1200" b="1" spc="300" kern="0" dirty="0">
                <a:solidFill>
                  <a:schemeClr val="accent1"/>
                </a:solidFill>
                <a:latin typeface="Arial" pitchFamily="34" charset="0"/>
                <a:ea typeface="Arial" pitchFamily="34" charset="-122"/>
                <a:cs typeface="Arial" pitchFamily="34" charset="-120"/>
              </a:rPr>
              <a:t>02 · MERKMALE AM BILDBEISPIEL</a:t>
            </a:r>
            <a:endParaRPr lang="en-US" sz="1200" dirty="0"/>
          </a:p>
        </p:txBody>
      </p:sp>
      <p:sp>
        <p:nvSpPr>
          <p:cNvPr id="3" name="Text 0"/>
          <p:cNvSpPr/>
          <p:nvPr>
            <p:ph idx="101" type="title" hasCustomPrompt="1"/>
          </p:nvPr>
        </p:nvSpPr>
        <p:spPr>
          <a:xfrm>
            <a:off x="548640" y="694944"/>
            <a:ext cx="11094415" cy="749808"/>
          </a:xfrm>
          <a:prstGeom prst="rect">
            <a:avLst/>
          </a:prstGeom>
          <a:noFill/>
          <a:ln/>
        </p:spPr>
        <p:txBody>
          <a:bodyPr wrap="square" lIns="0" tIns="0" rIns="0" bIns="0" rtlCol="0" anchor="t"/>
          <a:lstStyle/>
          <a:p>
            <a:pPr algn="l" indent="0" marL="0">
              <a:buNone/>
            </a:pPr>
            <a:r>
              <a:rPr lang="en-US" sz="3200" b="1" dirty="0">
                <a:solidFill>
                  <a:schemeClr val="bg1"/>
                </a:solidFill>
                <a:latin typeface="Georgia" pitchFamily="34" charset="0"/>
                <a:ea typeface="Georgia" pitchFamily="34" charset="-122"/>
                <a:cs typeface="Georgia" pitchFamily="34" charset="-120"/>
              </a:rPr>
              <a:t>Am Bildbeispiel: Großformat und Raster</a:t>
            </a:r>
            <a:endParaRPr lang="en-US" sz="3200" dirty="0"/>
          </a:p>
        </p:txBody>
      </p:sp>
      <p:sp>
        <p:nvSpPr>
          <p:cNvPr id="4" name="Bildplatzhalter close_big"/>
          <p:cNvSpPr/>
          <p:nvPr/>
        </p:nvSpPr>
        <p:spPr>
          <a:xfrm>
            <a:off x="640080" y="1783080"/>
            <a:ext cx="3019577" cy="3886200"/>
          </a:xfrm>
          <a:prstGeom prst="rect">
            <a:avLst/>
          </a:prstGeom>
          <a:solidFill>
            <a:schemeClr val="tx2"/>
          </a:solidFill>
          <a:ln w="12700">
            <a:solidFill>
              <a:schemeClr val="accent3"/>
            </a:solidFill>
            <a:prstDash val="dash"/>
          </a:ln>
        </p:spPr>
      </p:sp>
      <p:pic>
        <p:nvPicPr>
          <p:cNvPr id="5" name="Image 0" descr="Platzhalter-Symbol">    </p:cNvPr>
          <p:cNvPicPr>
            <a:picLocks noChangeAspect="1"/>
          </p:cNvPicPr>
          <p:nvPr/>
        </p:nvPicPr>
        <p:blipFill>
          <a:blip r:embed="rId1"/>
          <a:stretch>
            <a:fillRect/>
          </a:stretch>
        </p:blipFill>
        <p:spPr>
          <a:xfrm>
            <a:off x="1898409" y="3177540"/>
            <a:ext cx="502920" cy="502920"/>
          </a:xfrm>
          <a:prstGeom prst="rect">
            <a:avLst/>
          </a:prstGeom>
        </p:spPr>
      </p:pic>
      <p:sp>
        <p:nvSpPr>
          <p:cNvPr id="6" name="Text 3"/>
          <p:cNvSpPr txBox="1"/>
          <p:nvPr/>
        </p:nvSpPr>
        <p:spPr>
          <a:xfrm>
            <a:off x="777240" y="3744468"/>
            <a:ext cx="2745257" cy="731520"/>
          </a:xfrm>
          <a:prstGeom prst="rect">
            <a:avLst/>
          </a:prstGeom>
          <a:noFill/>
          <a:ln/>
        </p:spPr>
        <p:txBody>
          <a:bodyPr wrap="square" lIns="0" tIns="0" rIns="0" bIns="0" rtlCol="0" anchor="t">
            <a:normAutofit/>
          </a:bodyPr>
          <a:lstStyle/>
          <a:p>
            <a:pPr algn="ctr" indent="0" marL="0">
              <a:buNone/>
            </a:pPr>
            <a:r>
              <a:rPr lang="en-US" sz="1100" b="1" dirty="0">
                <a:solidFill>
                  <a:schemeClr val="accent5"/>
                </a:solidFill>
                <a:latin typeface="Arial" pitchFamily="34" charset="0"/>
                <a:ea typeface="Arial" pitchFamily="34" charset="-122"/>
                <a:cs typeface="Arial" pitchFamily="34" charset="-120"/>
              </a:rPr>
              <a:t>Abbildung einfügen</a:t>
            </a:r>
            <a:endParaRPr lang="en-US" sz="1100" dirty="0"/>
          </a:p>
          <a:p>
            <a:pPr algn="ctr" indent="0" marL="0">
              <a:buNone/>
            </a:pPr>
            <a:r>
              <a:rPr lang="en-US" sz="1100" dirty="0">
                <a:solidFill>
                  <a:schemeClr val="accent5"/>
                </a:solidFill>
                <a:latin typeface="Arial" pitchFamily="34" charset="0"/>
                <a:ea typeface="Arial" pitchFamily="34" charset="-122"/>
                <a:cs typeface="Arial" pitchFamily="34" charset="-120"/>
              </a:rPr>
              <a:t>Chuck Close: Big Self-Portrait</a:t>
            </a:r>
            <a:endParaRPr lang="en-US" sz="1100" dirty="0"/>
          </a:p>
        </p:txBody>
      </p:sp>
      <p:sp>
        <p:nvSpPr>
          <p:cNvPr id="7" name="Shape 4"/>
          <p:cNvSpPr/>
          <p:nvPr/>
        </p:nvSpPr>
        <p:spPr>
          <a:xfrm>
            <a:off x="548640" y="1691640"/>
            <a:ext cx="237744" cy="0"/>
          </a:xfrm>
          <a:prstGeom prst="line">
            <a:avLst/>
          </a:prstGeom>
          <a:noFill/>
          <a:ln w="25400">
            <a:solidFill>
              <a:schemeClr val="accent1"/>
            </a:solidFill>
            <a:prstDash val="solid"/>
          </a:ln>
        </p:spPr>
      </p:sp>
      <p:sp>
        <p:nvSpPr>
          <p:cNvPr id="8" name="Shape 5"/>
          <p:cNvSpPr/>
          <p:nvPr/>
        </p:nvSpPr>
        <p:spPr>
          <a:xfrm>
            <a:off x="548640" y="1691640"/>
            <a:ext cx="0" cy="237744"/>
          </a:xfrm>
          <a:prstGeom prst="line">
            <a:avLst/>
          </a:prstGeom>
          <a:noFill/>
          <a:ln w="25400">
            <a:solidFill>
              <a:schemeClr val="accent1"/>
            </a:solidFill>
            <a:prstDash val="solid"/>
          </a:ln>
        </p:spPr>
      </p:sp>
      <p:sp>
        <p:nvSpPr>
          <p:cNvPr id="9" name="Shape 6"/>
          <p:cNvSpPr/>
          <p:nvPr/>
        </p:nvSpPr>
        <p:spPr>
          <a:xfrm>
            <a:off x="3513353" y="1691640"/>
            <a:ext cx="237744" cy="0"/>
          </a:xfrm>
          <a:prstGeom prst="line">
            <a:avLst/>
          </a:prstGeom>
          <a:noFill/>
          <a:ln w="25400">
            <a:solidFill>
              <a:schemeClr val="accent1"/>
            </a:solidFill>
            <a:prstDash val="solid"/>
          </a:ln>
        </p:spPr>
      </p:sp>
      <p:sp>
        <p:nvSpPr>
          <p:cNvPr id="10" name="Shape 7"/>
          <p:cNvSpPr/>
          <p:nvPr/>
        </p:nvSpPr>
        <p:spPr>
          <a:xfrm>
            <a:off x="3751097" y="1691640"/>
            <a:ext cx="0" cy="237744"/>
          </a:xfrm>
          <a:prstGeom prst="line">
            <a:avLst/>
          </a:prstGeom>
          <a:noFill/>
          <a:ln w="25400">
            <a:solidFill>
              <a:schemeClr val="accent1"/>
            </a:solidFill>
            <a:prstDash val="solid"/>
          </a:ln>
        </p:spPr>
      </p:sp>
      <p:sp>
        <p:nvSpPr>
          <p:cNvPr id="11" name="Shape 8"/>
          <p:cNvSpPr/>
          <p:nvPr/>
        </p:nvSpPr>
        <p:spPr>
          <a:xfrm>
            <a:off x="548640" y="5760720"/>
            <a:ext cx="237744" cy="0"/>
          </a:xfrm>
          <a:prstGeom prst="line">
            <a:avLst/>
          </a:prstGeom>
          <a:noFill/>
          <a:ln w="25400">
            <a:solidFill>
              <a:schemeClr val="accent1"/>
            </a:solidFill>
            <a:prstDash val="solid"/>
          </a:ln>
        </p:spPr>
      </p:sp>
      <p:sp>
        <p:nvSpPr>
          <p:cNvPr id="12" name="Shape 9"/>
          <p:cNvSpPr/>
          <p:nvPr/>
        </p:nvSpPr>
        <p:spPr>
          <a:xfrm>
            <a:off x="548640" y="5522976"/>
            <a:ext cx="0" cy="237744"/>
          </a:xfrm>
          <a:prstGeom prst="line">
            <a:avLst/>
          </a:prstGeom>
          <a:noFill/>
          <a:ln w="25400">
            <a:solidFill>
              <a:schemeClr val="accent1"/>
            </a:solidFill>
            <a:prstDash val="solid"/>
          </a:ln>
        </p:spPr>
      </p:sp>
      <p:sp>
        <p:nvSpPr>
          <p:cNvPr id="13" name="Shape 10"/>
          <p:cNvSpPr/>
          <p:nvPr/>
        </p:nvSpPr>
        <p:spPr>
          <a:xfrm>
            <a:off x="3513353" y="5760720"/>
            <a:ext cx="237744" cy="0"/>
          </a:xfrm>
          <a:prstGeom prst="line">
            <a:avLst/>
          </a:prstGeom>
          <a:noFill/>
          <a:ln w="25400">
            <a:solidFill>
              <a:schemeClr val="accent1"/>
            </a:solidFill>
            <a:prstDash val="solid"/>
          </a:ln>
        </p:spPr>
      </p:sp>
      <p:sp>
        <p:nvSpPr>
          <p:cNvPr id="14" name="Shape 11"/>
          <p:cNvSpPr/>
          <p:nvPr/>
        </p:nvSpPr>
        <p:spPr>
          <a:xfrm>
            <a:off x="3751097" y="5522976"/>
            <a:ext cx="0" cy="237744"/>
          </a:xfrm>
          <a:prstGeom prst="line">
            <a:avLst/>
          </a:prstGeom>
          <a:noFill/>
          <a:ln w="25400">
            <a:solidFill>
              <a:schemeClr val="accent1"/>
            </a:solidFill>
            <a:prstDash val="solid"/>
          </a:ln>
        </p:spPr>
      </p:sp>
      <p:sp>
        <p:nvSpPr>
          <p:cNvPr id="15" name="Text 12"/>
          <p:cNvSpPr txBox="1"/>
          <p:nvPr/>
        </p:nvSpPr>
        <p:spPr>
          <a:xfrm>
            <a:off x="640080" y="5870448"/>
            <a:ext cx="5486400" cy="502920"/>
          </a:xfrm>
          <a:prstGeom prst="rect">
            <a:avLst/>
          </a:prstGeom>
          <a:noFill/>
          <a:ln/>
        </p:spPr>
        <p:txBody>
          <a:bodyPr wrap="square" lIns="0" tIns="0" rIns="0" bIns="0" rtlCol="0" anchor="t"/>
          <a:lstStyle/>
          <a:p>
            <a:pPr indent="0" marL="0">
              <a:spcAft>
                <a:spcPts val="200"/>
              </a:spcAft>
              <a:buNone/>
            </a:pPr>
            <a:r>
              <a:rPr lang="en-US" sz="1300" b="1" dirty="0">
                <a:solidFill>
                  <a:schemeClr val="bg1"/>
                </a:solidFill>
                <a:latin typeface="Arial" pitchFamily="34" charset="0"/>
                <a:ea typeface="Arial" pitchFamily="34" charset="-122"/>
                <a:cs typeface="Arial" pitchFamily="34" charset="-120"/>
              </a:rPr>
              <a:t>Chuck Close, </a:t>
            </a:r>
            <a:pPr indent="0" marL="0">
              <a:spcAft>
                <a:spcPts val="200"/>
              </a:spcAft>
              <a:buNone/>
            </a:pPr>
            <a:r>
              <a:rPr lang="en-US" sz="1300" b="1" i="1" dirty="0">
                <a:solidFill>
                  <a:schemeClr val="bg1"/>
                </a:solidFill>
                <a:latin typeface="Arial" pitchFamily="34" charset="0"/>
                <a:ea typeface="Arial" pitchFamily="34" charset="-122"/>
                <a:cs typeface="Arial" pitchFamily="34" charset="-120"/>
              </a:rPr>
              <a:t>Big Self-Portrait</a:t>
            </a:r>
            <a:pPr indent="0" marL="0">
              <a:spcAft>
                <a:spcPts val="200"/>
              </a:spcAft>
              <a:buNone/>
            </a:pPr>
            <a:r>
              <a:rPr lang="en-US" sz="1300" b="1" dirty="0">
                <a:solidFill>
                  <a:schemeClr val="bg1"/>
                </a:solidFill>
                <a:latin typeface="Arial" pitchFamily="34" charset="0"/>
                <a:ea typeface="Arial" pitchFamily="34" charset="-122"/>
                <a:cs typeface="Arial" pitchFamily="34" charset="-120"/>
              </a:rPr>
              <a:t> (Großes Selbstbildnis), 1967–68</a:t>
            </a:r>
            <a:endParaRPr lang="en-US" sz="1300" dirty="0"/>
          </a:p>
          <a:p>
            <a:pPr indent="0" marL="0">
              <a:spcAft>
                <a:spcPts val="200"/>
              </a:spcAft>
              <a:buNone/>
            </a:pPr>
            <a:r>
              <a:rPr lang="en-US" sz="1100" dirty="0">
                <a:solidFill>
                  <a:schemeClr val="bg2"/>
                </a:solidFill>
                <a:latin typeface="Arial" pitchFamily="34" charset="0"/>
                <a:ea typeface="Arial" pitchFamily="34" charset="-122"/>
                <a:cs typeface="Arial" pitchFamily="34" charset="-120"/>
              </a:rPr>
              <a:t>Acryl auf Leinwand (Airbrush), 273,1 × 212,1 cm · Walker Art Center, Minneapolis</a:t>
            </a:r>
            <a:endParaRPr lang="en-US" sz="1300" dirty="0"/>
          </a:p>
        </p:txBody>
      </p:sp>
      <p:sp>
        <p:nvSpPr>
          <p:cNvPr id="16" name="Text 13"/>
          <p:cNvSpPr txBox="1"/>
          <p:nvPr/>
        </p:nvSpPr>
        <p:spPr>
          <a:xfrm>
            <a:off x="5257800" y="1691640"/>
            <a:ext cx="3108960" cy="960120"/>
          </a:xfrm>
          <a:prstGeom prst="rect">
            <a:avLst/>
          </a:prstGeom>
          <a:noFill/>
          <a:ln/>
        </p:spPr>
        <p:txBody>
          <a:bodyPr wrap="square" lIns="0" tIns="0" rIns="0" bIns="0" rtlCol="0" anchor="t"/>
          <a:lstStyle/>
          <a:p>
            <a:pPr indent="0" marL="0">
              <a:buNone/>
            </a:pPr>
            <a:r>
              <a:rPr lang="en-US" sz="6400" b="1" dirty="0">
                <a:solidFill>
                  <a:schemeClr val="accent1"/>
                </a:solidFill>
                <a:latin typeface="Georgia" pitchFamily="34" charset="0"/>
                <a:ea typeface="Georgia" pitchFamily="34" charset="-122"/>
                <a:cs typeface="Georgia" pitchFamily="34" charset="-120"/>
              </a:rPr>
              <a:t>2,73 m</a:t>
            </a:r>
            <a:endParaRPr lang="en-US" sz="6400" dirty="0"/>
          </a:p>
        </p:txBody>
      </p:sp>
      <p:sp>
        <p:nvSpPr>
          <p:cNvPr id="17" name="Text 14"/>
          <p:cNvSpPr txBox="1"/>
          <p:nvPr/>
        </p:nvSpPr>
        <p:spPr>
          <a:xfrm>
            <a:off x="8503920" y="1892808"/>
            <a:ext cx="3139135" cy="73152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hoch – ein Gesicht in Monumentalgröße</a:t>
            </a:r>
            <a:endParaRPr lang="en-US" sz="1600" dirty="0"/>
          </a:p>
        </p:txBody>
      </p:sp>
      <p:sp>
        <p:nvSpPr>
          <p:cNvPr id="18" name="Shape 15"/>
          <p:cNvSpPr/>
          <p:nvPr/>
        </p:nvSpPr>
        <p:spPr>
          <a:xfrm>
            <a:off x="5257800" y="3017520"/>
            <a:ext cx="3055468" cy="1325880"/>
          </a:xfrm>
          <a:prstGeom prst="rect">
            <a:avLst/>
          </a:prstGeom>
          <a:solidFill>
            <a:schemeClr val="tx2"/>
          </a:solidFill>
          <a:ln w="12700">
            <a:solidFill>
              <a:schemeClr val="tx2"/>
            </a:solidFill>
            <a:prstDash val="solid"/>
          </a:ln>
        </p:spPr>
      </p:sp>
      <p:sp>
        <p:nvSpPr>
          <p:cNvPr id="19" name="Text 16"/>
          <p:cNvSpPr txBox="1"/>
          <p:nvPr/>
        </p:nvSpPr>
        <p:spPr>
          <a:xfrm>
            <a:off x="5486400" y="3200400"/>
            <a:ext cx="2598268" cy="1051560"/>
          </a:xfrm>
          <a:prstGeom prst="rect">
            <a:avLst/>
          </a:prstGeom>
          <a:noFill/>
          <a:ln/>
        </p:spPr>
        <p:txBody>
          <a:bodyPr wrap="square" lIns="0" tIns="0" rIns="0" bIns="0" rtlCol="0" anchor="t"/>
          <a:lstStyle/>
          <a:p>
            <a:pPr indent="0" marL="0">
              <a:spcAft>
                <a:spcPts val="300"/>
              </a:spcAft>
              <a:buNone/>
            </a:pPr>
            <a:r>
              <a:rPr lang="en-US" sz="1600" b="1" dirty="0">
                <a:solidFill>
                  <a:schemeClr val="bg1"/>
                </a:solidFill>
                <a:latin typeface="Arial" pitchFamily="34" charset="0"/>
                <a:ea typeface="Arial" pitchFamily="34" charset="-122"/>
                <a:cs typeface="Arial" pitchFamily="34" charset="-120"/>
              </a:rPr>
              <a:t>Raster</a:t>
            </a:r>
            <a:endParaRPr lang="en-US" sz="1600" dirty="0"/>
          </a:p>
          <a:p>
            <a:pPr indent="0" marL="0">
              <a:spcAft>
                <a:spcPts val="300"/>
              </a:spcAft>
              <a:buNone/>
            </a:pPr>
            <a:r>
              <a:rPr lang="en-US" sz="1400" dirty="0">
                <a:solidFill>
                  <a:schemeClr val="bg2"/>
                </a:solidFill>
                <a:latin typeface="Arial" pitchFamily="34" charset="0"/>
                <a:ea typeface="Arial" pitchFamily="34" charset="-122"/>
                <a:cs typeface="Arial" pitchFamily="34" charset="-120"/>
              </a:rPr>
              <a:t>Foto und Leinwand werden in Quadrate geteilt und Feld für Feld übertragen.</a:t>
            </a:r>
            <a:endParaRPr lang="en-US" sz="1600" dirty="0"/>
          </a:p>
        </p:txBody>
      </p:sp>
      <p:sp>
        <p:nvSpPr>
          <p:cNvPr id="20" name="Shape 17"/>
          <p:cNvSpPr/>
          <p:nvPr/>
        </p:nvSpPr>
        <p:spPr>
          <a:xfrm>
            <a:off x="8587588" y="3017520"/>
            <a:ext cx="3055468" cy="1325880"/>
          </a:xfrm>
          <a:prstGeom prst="rect">
            <a:avLst/>
          </a:prstGeom>
          <a:solidFill>
            <a:schemeClr val="tx2"/>
          </a:solidFill>
          <a:ln w="12700">
            <a:solidFill>
              <a:schemeClr val="tx2"/>
            </a:solidFill>
            <a:prstDash val="solid"/>
          </a:ln>
        </p:spPr>
      </p:sp>
      <p:sp>
        <p:nvSpPr>
          <p:cNvPr id="21" name="Text 18"/>
          <p:cNvSpPr txBox="1"/>
          <p:nvPr/>
        </p:nvSpPr>
        <p:spPr>
          <a:xfrm>
            <a:off x="8816188" y="3200400"/>
            <a:ext cx="2598268" cy="1051560"/>
          </a:xfrm>
          <a:prstGeom prst="rect">
            <a:avLst/>
          </a:prstGeom>
          <a:noFill/>
          <a:ln/>
        </p:spPr>
        <p:txBody>
          <a:bodyPr wrap="square" lIns="0" tIns="0" rIns="0" bIns="0" rtlCol="0" anchor="t"/>
          <a:lstStyle/>
          <a:p>
            <a:pPr indent="0" marL="0">
              <a:spcAft>
                <a:spcPts val="300"/>
              </a:spcAft>
              <a:buNone/>
            </a:pPr>
            <a:r>
              <a:rPr lang="en-US" sz="1600" b="1" dirty="0">
                <a:solidFill>
                  <a:schemeClr val="bg1"/>
                </a:solidFill>
                <a:latin typeface="Arial" pitchFamily="34" charset="0"/>
                <a:ea typeface="Arial" pitchFamily="34" charset="-122"/>
                <a:cs typeface="Arial" pitchFamily="34" charset="-120"/>
              </a:rPr>
              <a:t>Airbrush</a:t>
            </a:r>
            <a:endParaRPr lang="en-US" sz="1600" dirty="0"/>
          </a:p>
          <a:p>
            <a:pPr indent="0" marL="0">
              <a:spcAft>
                <a:spcPts val="300"/>
              </a:spcAft>
              <a:buNone/>
            </a:pPr>
            <a:r>
              <a:rPr lang="en-US" sz="1400" dirty="0">
                <a:solidFill>
                  <a:schemeClr val="bg2"/>
                </a:solidFill>
                <a:latin typeface="Arial" pitchFamily="34" charset="0"/>
                <a:ea typeface="Arial" pitchFamily="34" charset="-122"/>
                <a:cs typeface="Arial" pitchFamily="34" charset="-120"/>
              </a:rPr>
              <a:t>Mit der Spritzpistole in Schwarz-Weiß gemalt – keine Pinselspur.</a:t>
            </a:r>
            <a:endParaRPr lang="en-US" sz="1600" dirty="0"/>
          </a:p>
        </p:txBody>
      </p:sp>
      <p:sp>
        <p:nvSpPr>
          <p:cNvPr id="22" name="Shape 19"/>
          <p:cNvSpPr/>
          <p:nvPr/>
        </p:nvSpPr>
        <p:spPr>
          <a:xfrm>
            <a:off x="5257800" y="4617720"/>
            <a:ext cx="3055468" cy="1325880"/>
          </a:xfrm>
          <a:prstGeom prst="rect">
            <a:avLst/>
          </a:prstGeom>
          <a:solidFill>
            <a:schemeClr val="tx2"/>
          </a:solidFill>
          <a:ln w="12700">
            <a:solidFill>
              <a:schemeClr val="tx2"/>
            </a:solidFill>
            <a:prstDash val="solid"/>
          </a:ln>
        </p:spPr>
      </p:sp>
      <p:sp>
        <p:nvSpPr>
          <p:cNvPr id="23" name="Text 20"/>
          <p:cNvSpPr txBox="1"/>
          <p:nvPr/>
        </p:nvSpPr>
        <p:spPr>
          <a:xfrm>
            <a:off x="5486400" y="4800600"/>
            <a:ext cx="2598268" cy="1051560"/>
          </a:xfrm>
          <a:prstGeom prst="rect">
            <a:avLst/>
          </a:prstGeom>
          <a:noFill/>
          <a:ln/>
        </p:spPr>
        <p:txBody>
          <a:bodyPr wrap="square" lIns="0" tIns="0" rIns="0" bIns="0" rtlCol="0" anchor="t"/>
          <a:lstStyle/>
          <a:p>
            <a:pPr indent="0" marL="0">
              <a:spcAft>
                <a:spcPts val="300"/>
              </a:spcAft>
              <a:buNone/>
            </a:pPr>
            <a:r>
              <a:rPr lang="en-US" sz="1600" b="1" dirty="0">
                <a:solidFill>
                  <a:schemeClr val="bg1"/>
                </a:solidFill>
                <a:latin typeface="Arial" pitchFamily="34" charset="0"/>
                <a:ea typeface="Arial" pitchFamily="34" charset="-122"/>
                <a:cs typeface="Arial" pitchFamily="34" charset="-120"/>
              </a:rPr>
              <a:t>Fotografische Unschärfe</a:t>
            </a:r>
            <a:endParaRPr lang="en-US" sz="1600" dirty="0"/>
          </a:p>
          <a:p>
            <a:pPr indent="0" marL="0">
              <a:spcAft>
                <a:spcPts val="300"/>
              </a:spcAft>
              <a:buNone/>
            </a:pPr>
            <a:r>
              <a:rPr lang="en-US" sz="1400" dirty="0">
                <a:solidFill>
                  <a:schemeClr val="bg2"/>
                </a:solidFill>
                <a:latin typeface="Arial" pitchFamily="34" charset="0"/>
                <a:ea typeface="Arial" pitchFamily="34" charset="-122"/>
                <a:cs typeface="Arial" pitchFamily="34" charset="-120"/>
              </a:rPr>
              <a:t>Nasenspitze und Ohren verschwimmen – Close malt die Unschärfe der Kamera mit.</a:t>
            </a:r>
            <a:endParaRPr lang="en-US" sz="1600" dirty="0"/>
          </a:p>
        </p:txBody>
      </p:sp>
      <p:sp>
        <p:nvSpPr>
          <p:cNvPr id="24" name="Shape 21"/>
          <p:cNvSpPr/>
          <p:nvPr/>
        </p:nvSpPr>
        <p:spPr>
          <a:xfrm>
            <a:off x="8587588" y="4617720"/>
            <a:ext cx="3055468" cy="1325880"/>
          </a:xfrm>
          <a:prstGeom prst="rect">
            <a:avLst/>
          </a:prstGeom>
          <a:solidFill>
            <a:schemeClr val="tx2"/>
          </a:solidFill>
          <a:ln w="12700">
            <a:solidFill>
              <a:schemeClr val="tx2"/>
            </a:solidFill>
            <a:prstDash val="solid"/>
          </a:ln>
        </p:spPr>
      </p:sp>
      <p:sp>
        <p:nvSpPr>
          <p:cNvPr id="25" name="Text 22"/>
          <p:cNvSpPr txBox="1"/>
          <p:nvPr/>
        </p:nvSpPr>
        <p:spPr>
          <a:xfrm>
            <a:off x="8816188" y="4800600"/>
            <a:ext cx="2598268" cy="1051560"/>
          </a:xfrm>
          <a:prstGeom prst="rect">
            <a:avLst/>
          </a:prstGeom>
          <a:noFill/>
          <a:ln/>
        </p:spPr>
        <p:txBody>
          <a:bodyPr wrap="square" lIns="0" tIns="0" rIns="0" bIns="0" rtlCol="0" anchor="t"/>
          <a:lstStyle/>
          <a:p>
            <a:pPr indent="0" marL="0">
              <a:spcAft>
                <a:spcPts val="300"/>
              </a:spcAft>
              <a:buNone/>
            </a:pPr>
            <a:r>
              <a:rPr lang="en-US" sz="1600" b="1" dirty="0">
                <a:solidFill>
                  <a:schemeClr val="bg1"/>
                </a:solidFill>
                <a:latin typeface="Arial" pitchFamily="34" charset="0"/>
                <a:ea typeface="Arial" pitchFamily="34" charset="-122"/>
                <a:cs typeface="Arial" pitchFamily="34" charset="-120"/>
              </a:rPr>
              <a:t>Schnappschuss</a:t>
            </a:r>
            <a:endParaRPr lang="en-US" sz="1600" dirty="0"/>
          </a:p>
          <a:p>
            <a:pPr indent="0" marL="0">
              <a:spcAft>
                <a:spcPts val="300"/>
              </a:spcAft>
              <a:buNone/>
            </a:pPr>
            <a:r>
              <a:rPr lang="en-US" sz="1400" dirty="0">
                <a:solidFill>
                  <a:schemeClr val="bg2"/>
                </a:solidFill>
                <a:latin typeface="Arial" pitchFamily="34" charset="0"/>
                <a:ea typeface="Arial" pitchFamily="34" charset="-122"/>
                <a:cs typeface="Arial" pitchFamily="34" charset="-120"/>
              </a:rPr>
              <a:t>Zigarette, zerzauste Haare, Bartstoppeln – kein geschöntes Porträt.</a:t>
            </a:r>
            <a:endParaRPr lang="en-US" sz="16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lIns="0" tIns="0" rIns="0" bIns="0" rtlCol="0" anchor="ctr"/>
          <a:lstStyle/>
          <a:p>
            <a:pPr algn="l" indent="0" marL="0">
              <a:buNone/>
            </a:pPr>
            <a:r>
              <a:rPr lang="en-US" sz="1200" b="1" spc="300" kern="0" dirty="0">
                <a:solidFill>
                  <a:schemeClr val="accent1"/>
                </a:solidFill>
                <a:latin typeface="Arial" pitchFamily="34" charset="0"/>
                <a:ea typeface="Arial" pitchFamily="34" charset="-122"/>
                <a:cs typeface="Arial" pitchFamily="34" charset="-120"/>
              </a:rPr>
              <a:t>02 · TECHNIK &amp; DEFINITION</a:t>
            </a:r>
            <a:endParaRPr lang="en-US" sz="1200" dirty="0"/>
          </a:p>
        </p:txBody>
      </p:sp>
      <p:sp>
        <p:nvSpPr>
          <p:cNvPr id="3" name="Text 0"/>
          <p:cNvSpPr/>
          <p:nvPr>
            <p:ph idx="101" type="title" hasCustomPrompt="1"/>
          </p:nvPr>
        </p:nvSpPr>
        <p:spPr>
          <a:xfrm>
            <a:off x="548640" y="694944"/>
            <a:ext cx="11094415" cy="749808"/>
          </a:xfrm>
          <a:prstGeom prst="rect">
            <a:avLst/>
          </a:prstGeom>
          <a:noFill/>
          <a:ln/>
        </p:spPr>
        <p:txBody>
          <a:bodyPr wrap="square" lIns="0" tIns="0" rIns="0" bIns="0" rtlCol="0" anchor="t"/>
          <a:lstStyle/>
          <a:p>
            <a:pPr algn="l" indent="0" marL="0">
              <a:buNone/>
            </a:pPr>
            <a:r>
              <a:rPr lang="en-US" sz="3200" b="1" dirty="0">
                <a:solidFill>
                  <a:schemeClr val="bg1"/>
                </a:solidFill>
                <a:latin typeface="Georgia" pitchFamily="34" charset="0"/>
                <a:ea typeface="Georgia" pitchFamily="34" charset="-122"/>
                <a:cs typeface="Georgia" pitchFamily="34" charset="-120"/>
              </a:rPr>
              <a:t>Vom Foto zum Gemälde</a:t>
            </a:r>
            <a:endParaRPr lang="en-US" sz="3200" dirty="0"/>
          </a:p>
        </p:txBody>
      </p:sp>
      <p:sp>
        <p:nvSpPr>
          <p:cNvPr id="4" name="Shape 2"/>
          <p:cNvSpPr/>
          <p:nvPr/>
        </p:nvSpPr>
        <p:spPr>
          <a:xfrm>
            <a:off x="548640" y="1737360"/>
            <a:ext cx="685800" cy="685800"/>
          </a:xfrm>
          <a:prstGeom prst="ellipse">
            <a:avLst/>
          </a:prstGeom>
          <a:solidFill>
            <a:schemeClr val="accent4"/>
          </a:solidFill>
          <a:ln w="15875">
            <a:solidFill>
              <a:schemeClr val="accent1"/>
            </a:solidFill>
            <a:prstDash val="solid"/>
          </a:ln>
        </p:spPr>
      </p:sp>
      <p:pic>
        <p:nvPicPr>
          <p:cNvPr id="5" name="Image 0" descr="Symbol Camera">    </p:cNvPr>
          <p:cNvPicPr>
            <a:picLocks noChangeAspect="1"/>
          </p:cNvPicPr>
          <p:nvPr/>
        </p:nvPicPr>
        <p:blipFill>
          <a:blip r:embed="rId1"/>
          <a:stretch>
            <a:fillRect/>
          </a:stretch>
        </p:blipFill>
        <p:spPr>
          <a:xfrm>
            <a:off x="699516" y="1888236"/>
            <a:ext cx="384048" cy="384048"/>
          </a:xfrm>
          <a:prstGeom prst="rect">
            <a:avLst/>
          </a:prstGeom>
        </p:spPr>
      </p:pic>
      <p:sp>
        <p:nvSpPr>
          <p:cNvPr id="6" name="Text 3"/>
          <p:cNvSpPr txBox="1"/>
          <p:nvPr/>
        </p:nvSpPr>
        <p:spPr>
          <a:xfrm>
            <a:off x="548640" y="2606040"/>
            <a:ext cx="2331720" cy="1325880"/>
          </a:xfrm>
          <a:prstGeom prst="rect">
            <a:avLst/>
          </a:prstGeom>
          <a:noFill/>
          <a:ln/>
        </p:spPr>
        <p:txBody>
          <a:bodyPr wrap="square" lIns="0" tIns="0" rIns="0" bIns="0" rtlCol="0" anchor="t"/>
          <a:lstStyle/>
          <a:p>
            <a:pPr indent="0" marL="0">
              <a:spcAft>
                <a:spcPts val="300"/>
              </a:spcAft>
              <a:buNone/>
            </a:pPr>
            <a:r>
              <a:rPr lang="en-US" sz="1700" b="1" dirty="0">
                <a:solidFill>
                  <a:schemeClr val="bg1"/>
                </a:solidFill>
                <a:latin typeface="Arial" pitchFamily="34" charset="0"/>
                <a:ea typeface="Arial" pitchFamily="34" charset="-122"/>
                <a:cs typeface="Arial" pitchFamily="34" charset="-120"/>
              </a:rPr>
              <a:t>1  Fotografieren</a:t>
            </a:r>
            <a:endParaRPr lang="en-US" sz="1700" dirty="0"/>
          </a:p>
          <a:p>
            <a:pPr indent="0" marL="0">
              <a:spcAft>
                <a:spcPts val="300"/>
              </a:spcAft>
              <a:buNone/>
            </a:pPr>
            <a:r>
              <a:rPr lang="en-US" sz="1400" dirty="0">
                <a:solidFill>
                  <a:schemeClr val="bg2"/>
                </a:solidFill>
                <a:latin typeface="Arial" pitchFamily="34" charset="0"/>
                <a:ea typeface="Arial" pitchFamily="34" charset="-122"/>
                <a:cs typeface="Arial" pitchFamily="34" charset="-120"/>
              </a:rPr>
              <a:t>Motiv fotografieren, oft mehrere Aufnahmen kombinieren.</a:t>
            </a:r>
            <a:endParaRPr lang="en-US" sz="1700" dirty="0"/>
          </a:p>
        </p:txBody>
      </p:sp>
      <p:pic>
        <p:nvPicPr>
          <p:cNvPr id="7" name="Image 1" descr="Pfeil">    </p:cNvPr>
          <p:cNvPicPr>
            <a:picLocks noChangeAspect="1"/>
          </p:cNvPicPr>
          <p:nvPr/>
        </p:nvPicPr>
        <p:blipFill>
          <a:blip r:embed="rId2"/>
          <a:stretch>
            <a:fillRect/>
          </a:stretch>
        </p:blipFill>
        <p:spPr>
          <a:xfrm>
            <a:off x="2992069" y="1892808"/>
            <a:ext cx="365760" cy="365760"/>
          </a:xfrm>
          <a:prstGeom prst="rect">
            <a:avLst/>
          </a:prstGeom>
        </p:spPr>
      </p:pic>
      <p:sp>
        <p:nvSpPr>
          <p:cNvPr id="8" name="Shape 4"/>
          <p:cNvSpPr/>
          <p:nvPr/>
        </p:nvSpPr>
        <p:spPr>
          <a:xfrm>
            <a:off x="3469538" y="1737360"/>
            <a:ext cx="685800" cy="685800"/>
          </a:xfrm>
          <a:prstGeom prst="ellipse">
            <a:avLst/>
          </a:prstGeom>
          <a:solidFill>
            <a:schemeClr val="accent4"/>
          </a:solidFill>
          <a:ln w="15875">
            <a:solidFill>
              <a:schemeClr val="accent1"/>
            </a:solidFill>
            <a:prstDash val="solid"/>
          </a:ln>
        </p:spPr>
      </p:sp>
      <p:pic>
        <p:nvPicPr>
          <p:cNvPr id="9" name="Image 2" descr="Symbol Grid3X3">    </p:cNvPr>
          <p:cNvPicPr>
            <a:picLocks noChangeAspect="1"/>
          </p:cNvPicPr>
          <p:nvPr/>
        </p:nvPicPr>
        <p:blipFill>
          <a:blip r:embed="rId3"/>
          <a:stretch>
            <a:fillRect/>
          </a:stretch>
        </p:blipFill>
        <p:spPr>
          <a:xfrm>
            <a:off x="3620414" y="1888236"/>
            <a:ext cx="384048" cy="384048"/>
          </a:xfrm>
          <a:prstGeom prst="rect">
            <a:avLst/>
          </a:prstGeom>
        </p:spPr>
      </p:pic>
      <p:sp>
        <p:nvSpPr>
          <p:cNvPr id="10" name="Text 5"/>
          <p:cNvSpPr txBox="1"/>
          <p:nvPr/>
        </p:nvSpPr>
        <p:spPr>
          <a:xfrm>
            <a:off x="3469538" y="2606040"/>
            <a:ext cx="2331720" cy="1325880"/>
          </a:xfrm>
          <a:prstGeom prst="rect">
            <a:avLst/>
          </a:prstGeom>
          <a:noFill/>
          <a:ln/>
        </p:spPr>
        <p:txBody>
          <a:bodyPr wrap="square" lIns="0" tIns="0" rIns="0" bIns="0" rtlCol="0" anchor="t"/>
          <a:lstStyle/>
          <a:p>
            <a:pPr indent="0" marL="0">
              <a:spcAft>
                <a:spcPts val="300"/>
              </a:spcAft>
              <a:buNone/>
            </a:pPr>
            <a:r>
              <a:rPr lang="en-US" sz="1700" b="1" dirty="0">
                <a:solidFill>
                  <a:schemeClr val="bg1"/>
                </a:solidFill>
                <a:latin typeface="Arial" pitchFamily="34" charset="0"/>
                <a:ea typeface="Arial" pitchFamily="34" charset="-122"/>
                <a:cs typeface="Arial" pitchFamily="34" charset="-120"/>
              </a:rPr>
              <a:t>2  Übertragen</a:t>
            </a:r>
            <a:endParaRPr lang="en-US" sz="1700" dirty="0"/>
          </a:p>
          <a:p>
            <a:pPr indent="0" marL="0">
              <a:spcAft>
                <a:spcPts val="300"/>
              </a:spcAft>
              <a:buNone/>
            </a:pPr>
            <a:r>
              <a:rPr lang="en-US" sz="1400" dirty="0">
                <a:solidFill>
                  <a:schemeClr val="bg2"/>
                </a:solidFill>
                <a:latin typeface="Arial" pitchFamily="34" charset="0"/>
                <a:ea typeface="Arial" pitchFamily="34" charset="-122"/>
                <a:cs typeface="Arial" pitchFamily="34" charset="-120"/>
              </a:rPr>
              <a:t>Raster zeichnen oder ein Dia auf die Leinwand projizieren.</a:t>
            </a:r>
            <a:endParaRPr lang="en-US" sz="1700" dirty="0"/>
          </a:p>
        </p:txBody>
      </p:sp>
      <p:pic>
        <p:nvPicPr>
          <p:cNvPr id="11" name="Image 3" descr="Pfeil">    </p:cNvPr>
          <p:cNvPicPr>
            <a:picLocks noChangeAspect="1"/>
          </p:cNvPicPr>
          <p:nvPr/>
        </p:nvPicPr>
        <p:blipFill>
          <a:blip r:embed="rId4"/>
          <a:stretch>
            <a:fillRect/>
          </a:stretch>
        </p:blipFill>
        <p:spPr>
          <a:xfrm>
            <a:off x="5912968" y="1892808"/>
            <a:ext cx="365760" cy="365760"/>
          </a:xfrm>
          <a:prstGeom prst="rect">
            <a:avLst/>
          </a:prstGeom>
        </p:spPr>
      </p:pic>
      <p:sp>
        <p:nvSpPr>
          <p:cNvPr id="12" name="Shape 6"/>
          <p:cNvSpPr/>
          <p:nvPr/>
        </p:nvSpPr>
        <p:spPr>
          <a:xfrm>
            <a:off x="6390437" y="1737360"/>
            <a:ext cx="685800" cy="685800"/>
          </a:xfrm>
          <a:prstGeom prst="ellipse">
            <a:avLst/>
          </a:prstGeom>
          <a:solidFill>
            <a:schemeClr val="accent4"/>
          </a:solidFill>
          <a:ln w="15875">
            <a:solidFill>
              <a:schemeClr val="accent1"/>
            </a:solidFill>
            <a:prstDash val="solid"/>
          </a:ln>
        </p:spPr>
      </p:sp>
      <p:pic>
        <p:nvPicPr>
          <p:cNvPr id="13" name="Image 4" descr="Symbol Spray">    </p:cNvPr>
          <p:cNvPicPr>
            <a:picLocks noChangeAspect="1"/>
          </p:cNvPicPr>
          <p:nvPr/>
        </p:nvPicPr>
        <p:blipFill>
          <a:blip r:embed="rId5"/>
          <a:stretch>
            <a:fillRect/>
          </a:stretch>
        </p:blipFill>
        <p:spPr>
          <a:xfrm>
            <a:off x="6541313" y="1888236"/>
            <a:ext cx="384048" cy="384048"/>
          </a:xfrm>
          <a:prstGeom prst="rect">
            <a:avLst/>
          </a:prstGeom>
        </p:spPr>
      </p:pic>
      <p:sp>
        <p:nvSpPr>
          <p:cNvPr id="14" name="Text 7"/>
          <p:cNvSpPr txBox="1"/>
          <p:nvPr/>
        </p:nvSpPr>
        <p:spPr>
          <a:xfrm>
            <a:off x="6390437" y="2606040"/>
            <a:ext cx="2331720" cy="1325880"/>
          </a:xfrm>
          <a:prstGeom prst="rect">
            <a:avLst/>
          </a:prstGeom>
          <a:noFill/>
          <a:ln/>
        </p:spPr>
        <p:txBody>
          <a:bodyPr wrap="square" lIns="0" tIns="0" rIns="0" bIns="0" rtlCol="0" anchor="t"/>
          <a:lstStyle/>
          <a:p>
            <a:pPr indent="0" marL="0">
              <a:spcAft>
                <a:spcPts val="300"/>
              </a:spcAft>
              <a:buNone/>
            </a:pPr>
            <a:r>
              <a:rPr lang="en-US" sz="1700" b="1" dirty="0">
                <a:solidFill>
                  <a:schemeClr val="bg1"/>
                </a:solidFill>
                <a:latin typeface="Arial" pitchFamily="34" charset="0"/>
                <a:ea typeface="Arial" pitchFamily="34" charset="-122"/>
                <a:cs typeface="Arial" pitchFamily="34" charset="-120"/>
              </a:rPr>
              <a:t>3  Malen</a:t>
            </a:r>
            <a:endParaRPr lang="en-US" sz="1700" dirty="0"/>
          </a:p>
          <a:p>
            <a:pPr indent="0" marL="0">
              <a:spcAft>
                <a:spcPts val="300"/>
              </a:spcAft>
              <a:buNone/>
            </a:pPr>
            <a:r>
              <a:rPr lang="en-US" sz="1400" dirty="0">
                <a:solidFill>
                  <a:schemeClr val="bg2"/>
                </a:solidFill>
                <a:latin typeface="Arial" pitchFamily="34" charset="0"/>
                <a:ea typeface="Arial" pitchFamily="34" charset="-122"/>
                <a:cs typeface="Arial" pitchFamily="34" charset="-120"/>
              </a:rPr>
              <a:t>Schicht für Schicht mit Acryl, Öl oder Airbrush – oft monatelang.</a:t>
            </a:r>
            <a:endParaRPr lang="en-US" sz="1700" dirty="0"/>
          </a:p>
        </p:txBody>
      </p:sp>
      <p:pic>
        <p:nvPicPr>
          <p:cNvPr id="15" name="Image 5" descr="Pfeil">    </p:cNvPr>
          <p:cNvPicPr>
            <a:picLocks noChangeAspect="1"/>
          </p:cNvPicPr>
          <p:nvPr/>
        </p:nvPicPr>
        <p:blipFill>
          <a:blip r:embed="rId6"/>
          <a:stretch>
            <a:fillRect/>
          </a:stretch>
        </p:blipFill>
        <p:spPr>
          <a:xfrm>
            <a:off x="8833866" y="1892808"/>
            <a:ext cx="365760" cy="365760"/>
          </a:xfrm>
          <a:prstGeom prst="rect">
            <a:avLst/>
          </a:prstGeom>
        </p:spPr>
      </p:pic>
      <p:sp>
        <p:nvSpPr>
          <p:cNvPr id="16" name="Shape 8"/>
          <p:cNvSpPr/>
          <p:nvPr/>
        </p:nvSpPr>
        <p:spPr>
          <a:xfrm>
            <a:off x="9311335" y="1737360"/>
            <a:ext cx="685800" cy="685800"/>
          </a:xfrm>
          <a:prstGeom prst="ellipse">
            <a:avLst/>
          </a:prstGeom>
          <a:solidFill>
            <a:schemeClr val="accent4"/>
          </a:solidFill>
          <a:ln w="15875">
            <a:solidFill>
              <a:schemeClr val="accent1"/>
            </a:solidFill>
            <a:prstDash val="solid"/>
          </a:ln>
        </p:spPr>
      </p:sp>
      <p:pic>
        <p:nvPicPr>
          <p:cNvPr id="17" name="Image 6" descr="Symbol Eye">    </p:cNvPr>
          <p:cNvPicPr>
            <a:picLocks noChangeAspect="1"/>
          </p:cNvPicPr>
          <p:nvPr/>
        </p:nvPicPr>
        <p:blipFill>
          <a:blip r:embed="rId7"/>
          <a:stretch>
            <a:fillRect/>
          </a:stretch>
        </p:blipFill>
        <p:spPr>
          <a:xfrm>
            <a:off x="9462211" y="1888236"/>
            <a:ext cx="384048" cy="384048"/>
          </a:xfrm>
          <a:prstGeom prst="rect">
            <a:avLst/>
          </a:prstGeom>
        </p:spPr>
      </p:pic>
      <p:sp>
        <p:nvSpPr>
          <p:cNvPr id="18" name="Text 9"/>
          <p:cNvSpPr txBox="1"/>
          <p:nvPr/>
        </p:nvSpPr>
        <p:spPr>
          <a:xfrm>
            <a:off x="9311335" y="2606040"/>
            <a:ext cx="2331720" cy="1325880"/>
          </a:xfrm>
          <a:prstGeom prst="rect">
            <a:avLst/>
          </a:prstGeom>
          <a:noFill/>
          <a:ln/>
        </p:spPr>
        <p:txBody>
          <a:bodyPr wrap="square" lIns="0" tIns="0" rIns="0" bIns="0" rtlCol="0" anchor="t"/>
          <a:lstStyle/>
          <a:p>
            <a:pPr indent="0" marL="0">
              <a:spcAft>
                <a:spcPts val="300"/>
              </a:spcAft>
              <a:buNone/>
            </a:pPr>
            <a:r>
              <a:rPr lang="en-US" sz="1700" b="1" dirty="0">
                <a:solidFill>
                  <a:schemeClr val="bg1"/>
                </a:solidFill>
                <a:latin typeface="Arial" pitchFamily="34" charset="0"/>
                <a:ea typeface="Arial" pitchFamily="34" charset="-122"/>
                <a:cs typeface="Arial" pitchFamily="34" charset="-120"/>
              </a:rPr>
              <a:t>4  Täuschen</a:t>
            </a:r>
            <a:endParaRPr lang="en-US" sz="1700" dirty="0"/>
          </a:p>
          <a:p>
            <a:pPr indent="0" marL="0">
              <a:spcAft>
                <a:spcPts val="300"/>
              </a:spcAft>
              <a:buNone/>
            </a:pPr>
            <a:r>
              <a:rPr lang="en-US" sz="1400" dirty="0">
                <a:solidFill>
                  <a:schemeClr val="bg2"/>
                </a:solidFill>
                <a:latin typeface="Arial" pitchFamily="34" charset="0"/>
                <a:ea typeface="Arial" pitchFamily="34" charset="-122"/>
                <a:cs typeface="Arial" pitchFamily="34" charset="-120"/>
              </a:rPr>
              <a:t>Das Gemälde wirkt auf den ersten Blick wie ein Foto.</a:t>
            </a:r>
            <a:endParaRPr lang="en-US" sz="1700" dirty="0"/>
          </a:p>
        </p:txBody>
      </p:sp>
      <p:sp>
        <p:nvSpPr>
          <p:cNvPr id="19" name="Shape 10"/>
          <p:cNvSpPr/>
          <p:nvPr/>
        </p:nvSpPr>
        <p:spPr>
          <a:xfrm>
            <a:off x="548640" y="4160520"/>
            <a:ext cx="11094415" cy="2011680"/>
          </a:xfrm>
          <a:prstGeom prst="rect">
            <a:avLst/>
          </a:prstGeom>
          <a:solidFill>
            <a:schemeClr val="tx2"/>
          </a:solidFill>
          <a:ln w="12700">
            <a:solidFill>
              <a:schemeClr val="tx2"/>
            </a:solidFill>
            <a:prstDash val="solid"/>
          </a:ln>
        </p:spPr>
      </p:sp>
      <p:sp>
        <p:nvSpPr>
          <p:cNvPr id="20" name="Text 11"/>
          <p:cNvSpPr txBox="1"/>
          <p:nvPr/>
        </p:nvSpPr>
        <p:spPr>
          <a:xfrm>
            <a:off x="822960" y="4343400"/>
            <a:ext cx="10545775" cy="365760"/>
          </a:xfrm>
          <a:prstGeom prst="rect">
            <a:avLst/>
          </a:prstGeom>
          <a:noFill/>
          <a:ln/>
        </p:spPr>
        <p:txBody>
          <a:bodyPr wrap="square" lIns="0" tIns="0" rIns="0" bIns="0" rtlCol="0" anchor="ctr"/>
          <a:lstStyle/>
          <a:p>
            <a:pPr indent="0" marL="0">
              <a:buNone/>
            </a:pPr>
            <a:r>
              <a:rPr lang="en-US" sz="1500" b="1" dirty="0">
                <a:solidFill>
                  <a:schemeClr val="accent1"/>
                </a:solidFill>
                <a:latin typeface="Arial" pitchFamily="34" charset="0"/>
                <a:ea typeface="Arial" pitchFamily="34" charset="-122"/>
                <a:cs typeface="Arial" pitchFamily="34" charset="-120"/>
              </a:rPr>
              <a:t>Definition nach Louis K. Meisel (formuliert 1972) – ein Fotorealist …</a:t>
            </a:r>
            <a:endParaRPr lang="en-US" sz="1500" dirty="0"/>
          </a:p>
        </p:txBody>
      </p:sp>
      <p:sp>
        <p:nvSpPr>
          <p:cNvPr id="21" name="Text 12"/>
          <p:cNvSpPr txBox="1"/>
          <p:nvPr/>
        </p:nvSpPr>
        <p:spPr>
          <a:xfrm>
            <a:off x="822960" y="4800600"/>
            <a:ext cx="4998568" cy="1234440"/>
          </a:xfrm>
          <a:prstGeom prst="rect">
            <a:avLst/>
          </a:prstGeom>
          <a:noFill/>
          <a:ln/>
        </p:spPr>
        <p:txBody>
          <a:bodyPr wrap="square" lIns="0" tIns="0" rIns="0" bIns="0" rtlCol="0" anchor="t"/>
          <a:lstStyle/>
          <a:p>
            <a:pPr indent="0" marL="0">
              <a:spcAft>
                <a:spcPts val="600"/>
              </a:spcAft>
              <a:buNone/>
            </a:pPr>
            <a:r>
              <a:rPr lang="en-US" sz="1400" dirty="0">
                <a:solidFill>
                  <a:schemeClr val="bg1"/>
                </a:solidFill>
                <a:latin typeface="Arial" pitchFamily="34" charset="0"/>
                <a:ea typeface="Arial" pitchFamily="34" charset="-122"/>
                <a:cs typeface="Arial" pitchFamily="34" charset="-120"/>
              </a:rPr>
              <a:t>1   nutzt Kamera und Foto, um Bildinformationen zu sammeln,</a:t>
            </a:r>
            <a:endParaRPr lang="en-US" sz="1400" dirty="0"/>
          </a:p>
          <a:p>
            <a:pPr indent="0" marL="0">
              <a:spcAft>
                <a:spcPts val="600"/>
              </a:spcAft>
              <a:buNone/>
            </a:pPr>
            <a:r>
              <a:rPr lang="en-US" sz="1400" dirty="0">
                <a:solidFill>
                  <a:schemeClr val="bg1"/>
                </a:solidFill>
                <a:latin typeface="Arial" pitchFamily="34" charset="0"/>
                <a:ea typeface="Arial" pitchFamily="34" charset="-122"/>
                <a:cs typeface="Arial" pitchFamily="34" charset="-120"/>
              </a:rPr>
              <a:t>2   überträgt sie mechanisch oder halbmechanisch auf die Leinwand,</a:t>
            </a:r>
            <a:endParaRPr lang="en-US" sz="1400" dirty="0"/>
          </a:p>
          <a:p>
            <a:pPr indent="0" marL="0">
              <a:spcAft>
                <a:spcPts val="600"/>
              </a:spcAft>
              <a:buNone/>
            </a:pPr>
            <a:r>
              <a:rPr lang="en-US" sz="1400" dirty="0">
                <a:solidFill>
                  <a:schemeClr val="bg1"/>
                </a:solidFill>
                <a:latin typeface="Arial" pitchFamily="34" charset="0"/>
                <a:ea typeface="Arial" pitchFamily="34" charset="-122"/>
                <a:cs typeface="Arial" pitchFamily="34" charset="-120"/>
              </a:rPr>
              <a:t>3   hat das technische Können, das Werk fotografisch wirken zu lassen,</a:t>
            </a:r>
            <a:endParaRPr lang="en-US" sz="1400" dirty="0"/>
          </a:p>
        </p:txBody>
      </p:sp>
      <p:sp>
        <p:nvSpPr>
          <p:cNvPr id="22" name="Text 13"/>
          <p:cNvSpPr txBox="1"/>
          <p:nvPr/>
        </p:nvSpPr>
        <p:spPr>
          <a:xfrm>
            <a:off x="6370168" y="4800600"/>
            <a:ext cx="4998568" cy="1234440"/>
          </a:xfrm>
          <a:prstGeom prst="rect">
            <a:avLst/>
          </a:prstGeom>
          <a:noFill/>
          <a:ln/>
        </p:spPr>
        <p:txBody>
          <a:bodyPr wrap="square" lIns="0" tIns="0" rIns="0" bIns="0" rtlCol="0" anchor="t"/>
          <a:lstStyle/>
          <a:p>
            <a:pPr indent="0" marL="0">
              <a:spcAft>
                <a:spcPts val="600"/>
              </a:spcAft>
              <a:buNone/>
            </a:pPr>
            <a:r>
              <a:rPr lang="en-US" sz="1400" dirty="0">
                <a:solidFill>
                  <a:schemeClr val="bg1"/>
                </a:solidFill>
                <a:latin typeface="Arial" pitchFamily="34" charset="0"/>
                <a:ea typeface="Arial" pitchFamily="34" charset="-122"/>
                <a:cs typeface="Arial" pitchFamily="34" charset="-120"/>
              </a:rPr>
              <a:t>4   hat bis 1972 als Fotorealist ausgestellt,</a:t>
            </a:r>
            <a:endParaRPr lang="en-US" sz="1400" dirty="0"/>
          </a:p>
          <a:p>
            <a:pPr indent="0" marL="0">
              <a:spcAft>
                <a:spcPts val="600"/>
              </a:spcAft>
              <a:buNone/>
            </a:pPr>
            <a:r>
              <a:rPr lang="en-US" sz="1400" dirty="0">
                <a:solidFill>
                  <a:schemeClr val="bg1"/>
                </a:solidFill>
                <a:latin typeface="Arial" pitchFamily="34" charset="0"/>
                <a:ea typeface="Arial" pitchFamily="34" charset="-122"/>
                <a:cs typeface="Arial" pitchFamily="34" charset="-120"/>
              </a:rPr>
              <a:t>5   hat mindestens fünf Jahre fotorealistisch gearbeitet.</a:t>
            </a:r>
            <a:endParaRPr lang="en-US" sz="14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lIns="0" tIns="0" rIns="0" bIns="0" rtlCol="0" anchor="ctr"/>
          <a:lstStyle/>
          <a:p>
            <a:pPr algn="l" indent="0" marL="0">
              <a:buNone/>
            </a:pPr>
            <a:r>
              <a:rPr lang="en-US" sz="1200" b="1" spc="300" kern="0" dirty="0">
                <a:solidFill>
                  <a:schemeClr val="accent1"/>
                </a:solidFill>
                <a:latin typeface="Arial" pitchFamily="34" charset="0"/>
                <a:ea typeface="Arial" pitchFamily="34" charset="-122"/>
                <a:cs typeface="Arial" pitchFamily="34" charset="-120"/>
              </a:rPr>
              <a:t>03 · MOTIVE</a:t>
            </a:r>
            <a:endParaRPr lang="en-US" sz="1200" dirty="0"/>
          </a:p>
        </p:txBody>
      </p:sp>
      <p:sp>
        <p:nvSpPr>
          <p:cNvPr id="3" name="Text 0"/>
          <p:cNvSpPr/>
          <p:nvPr>
            <p:ph idx="101" type="title" hasCustomPrompt="1"/>
          </p:nvPr>
        </p:nvSpPr>
        <p:spPr>
          <a:xfrm>
            <a:off x="548640" y="694944"/>
            <a:ext cx="11094415" cy="749808"/>
          </a:xfrm>
          <a:prstGeom prst="rect">
            <a:avLst/>
          </a:prstGeom>
          <a:noFill/>
          <a:ln/>
        </p:spPr>
        <p:txBody>
          <a:bodyPr wrap="square" lIns="0" tIns="0" rIns="0" bIns="0" rtlCol="0" anchor="t"/>
          <a:lstStyle/>
          <a:p>
            <a:pPr algn="l" indent="0" marL="0">
              <a:buNone/>
            </a:pPr>
            <a:r>
              <a:rPr lang="en-US" sz="3200" b="1" dirty="0">
                <a:solidFill>
                  <a:schemeClr val="bg1"/>
                </a:solidFill>
                <a:latin typeface="Georgia" pitchFamily="34" charset="0"/>
                <a:ea typeface="Georgia" pitchFamily="34" charset="-122"/>
                <a:cs typeface="Georgia" pitchFamily="34" charset="-120"/>
              </a:rPr>
              <a:t>Das Alltägliche wird bildwürdig</a:t>
            </a:r>
            <a:endParaRPr lang="en-US" sz="3200" dirty="0"/>
          </a:p>
        </p:txBody>
      </p:sp>
      <p:sp>
        <p:nvSpPr>
          <p:cNvPr id="4" name="Shape 2"/>
          <p:cNvSpPr/>
          <p:nvPr/>
        </p:nvSpPr>
        <p:spPr>
          <a:xfrm>
            <a:off x="548640" y="1737360"/>
            <a:ext cx="3520440" cy="2011680"/>
          </a:xfrm>
          <a:prstGeom prst="rect">
            <a:avLst/>
          </a:prstGeom>
          <a:solidFill>
            <a:schemeClr val="tx2"/>
          </a:solidFill>
          <a:ln w="12700">
            <a:solidFill>
              <a:schemeClr val="tx2"/>
            </a:solidFill>
            <a:prstDash val="solid"/>
          </a:ln>
        </p:spPr>
      </p:sp>
      <p:sp>
        <p:nvSpPr>
          <p:cNvPr id="5" name="Shape 3"/>
          <p:cNvSpPr/>
          <p:nvPr/>
        </p:nvSpPr>
        <p:spPr>
          <a:xfrm>
            <a:off x="777240" y="1965960"/>
            <a:ext cx="566928" cy="566928"/>
          </a:xfrm>
          <a:prstGeom prst="ellipse">
            <a:avLst/>
          </a:prstGeom>
          <a:solidFill>
            <a:schemeClr val="accent4"/>
          </a:solidFill>
          <a:ln w="15875">
            <a:solidFill>
              <a:schemeClr val="accent1"/>
            </a:solidFill>
            <a:prstDash val="solid"/>
          </a:ln>
        </p:spPr>
      </p:sp>
      <p:pic>
        <p:nvPicPr>
          <p:cNvPr id="6" name="Image 0" descr="Symbol BuildingSkyscraper">    </p:cNvPr>
          <p:cNvPicPr>
            <a:picLocks noChangeAspect="1"/>
          </p:cNvPicPr>
          <p:nvPr/>
        </p:nvPicPr>
        <p:blipFill>
          <a:blip r:embed="rId1"/>
          <a:stretch>
            <a:fillRect/>
          </a:stretch>
        </p:blipFill>
        <p:spPr>
          <a:xfrm>
            <a:off x="901964" y="2090684"/>
            <a:ext cx="317480" cy="317480"/>
          </a:xfrm>
          <a:prstGeom prst="rect">
            <a:avLst/>
          </a:prstGeom>
        </p:spPr>
      </p:pic>
      <p:sp>
        <p:nvSpPr>
          <p:cNvPr id="7" name="Text 4"/>
          <p:cNvSpPr txBox="1"/>
          <p:nvPr/>
        </p:nvSpPr>
        <p:spPr>
          <a:xfrm>
            <a:off x="1508760" y="1965960"/>
            <a:ext cx="2377440" cy="566928"/>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Stadt &amp; Schaufenster</a:t>
            </a:r>
            <a:endParaRPr lang="en-US" sz="1700" dirty="0"/>
          </a:p>
        </p:txBody>
      </p:sp>
      <p:sp>
        <p:nvSpPr>
          <p:cNvPr id="8" name="Text 5"/>
          <p:cNvSpPr txBox="1"/>
          <p:nvPr/>
        </p:nvSpPr>
        <p:spPr>
          <a:xfrm>
            <a:off x="777240" y="2651760"/>
            <a:ext cx="3063240" cy="1005840"/>
          </a:xfrm>
          <a:prstGeom prst="rect">
            <a:avLst/>
          </a:prstGeom>
          <a:noFill/>
          <a:ln/>
        </p:spPr>
        <p:txBody>
          <a:bodyPr wrap="square" lIns="0" tIns="0" rIns="0" bIns="0" rtlCol="0" anchor="t"/>
          <a:lstStyle/>
          <a:p>
            <a:pPr indent="0" marL="0">
              <a:spcAft>
                <a:spcPts val="400"/>
              </a:spcAft>
              <a:buNone/>
            </a:pPr>
            <a:r>
              <a:rPr lang="en-US" sz="1500" dirty="0">
                <a:solidFill>
                  <a:schemeClr val="bg2"/>
                </a:solidFill>
                <a:latin typeface="Arial" pitchFamily="34" charset="0"/>
                <a:ea typeface="Arial" pitchFamily="34" charset="-122"/>
                <a:cs typeface="Arial" pitchFamily="34" charset="-120"/>
              </a:rPr>
              <a:t>Spiegelungen, Reklame, Leuchtschrift</a:t>
            </a:r>
            <a:endParaRPr lang="en-US" sz="1500" dirty="0"/>
          </a:p>
          <a:p>
            <a:pPr indent="0" marL="0">
              <a:spcAft>
                <a:spcPts val="400"/>
              </a:spcAft>
              <a:buNone/>
            </a:pPr>
            <a:r>
              <a:rPr lang="en-US" sz="1500" b="1" dirty="0">
                <a:solidFill>
                  <a:schemeClr val="accent1"/>
                </a:solidFill>
                <a:latin typeface="Arial" pitchFamily="34" charset="0"/>
                <a:ea typeface="Arial" pitchFamily="34" charset="-122"/>
                <a:cs typeface="Arial" pitchFamily="34" charset="-120"/>
              </a:rPr>
              <a:t>Richard Estes, Don Eddy, Robert Cottingham</a:t>
            </a:r>
            <a:endParaRPr lang="en-US" sz="1500" dirty="0"/>
          </a:p>
        </p:txBody>
      </p:sp>
      <p:sp>
        <p:nvSpPr>
          <p:cNvPr id="9" name="Shape 6"/>
          <p:cNvSpPr/>
          <p:nvPr/>
        </p:nvSpPr>
        <p:spPr>
          <a:xfrm>
            <a:off x="4335628" y="1737360"/>
            <a:ext cx="3520440" cy="2011680"/>
          </a:xfrm>
          <a:prstGeom prst="rect">
            <a:avLst/>
          </a:prstGeom>
          <a:solidFill>
            <a:schemeClr val="tx2"/>
          </a:solidFill>
          <a:ln w="12700">
            <a:solidFill>
              <a:schemeClr val="tx2"/>
            </a:solidFill>
            <a:prstDash val="solid"/>
          </a:ln>
        </p:spPr>
      </p:sp>
      <p:sp>
        <p:nvSpPr>
          <p:cNvPr id="10" name="Shape 7"/>
          <p:cNvSpPr/>
          <p:nvPr/>
        </p:nvSpPr>
        <p:spPr>
          <a:xfrm>
            <a:off x="4564228" y="1965960"/>
            <a:ext cx="566928" cy="566928"/>
          </a:xfrm>
          <a:prstGeom prst="ellipse">
            <a:avLst/>
          </a:prstGeom>
          <a:solidFill>
            <a:schemeClr val="accent4"/>
          </a:solidFill>
          <a:ln w="15875">
            <a:solidFill>
              <a:schemeClr val="accent1"/>
            </a:solidFill>
            <a:prstDash val="solid"/>
          </a:ln>
        </p:spPr>
      </p:sp>
      <p:pic>
        <p:nvPicPr>
          <p:cNvPr id="11" name="Image 1" descr="Symbol Car">    </p:cNvPr>
          <p:cNvPicPr>
            <a:picLocks noChangeAspect="1"/>
          </p:cNvPicPr>
          <p:nvPr/>
        </p:nvPicPr>
        <p:blipFill>
          <a:blip r:embed="rId2"/>
          <a:stretch>
            <a:fillRect/>
          </a:stretch>
        </p:blipFill>
        <p:spPr>
          <a:xfrm>
            <a:off x="4688952" y="2090684"/>
            <a:ext cx="317480" cy="317480"/>
          </a:xfrm>
          <a:prstGeom prst="rect">
            <a:avLst/>
          </a:prstGeom>
        </p:spPr>
      </p:pic>
      <p:sp>
        <p:nvSpPr>
          <p:cNvPr id="12" name="Text 8"/>
          <p:cNvSpPr txBox="1"/>
          <p:nvPr/>
        </p:nvSpPr>
        <p:spPr>
          <a:xfrm>
            <a:off x="5295748" y="1965960"/>
            <a:ext cx="2377440" cy="566928"/>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Autos &amp; Wohnwagen</a:t>
            </a:r>
            <a:endParaRPr lang="en-US" sz="1700" dirty="0"/>
          </a:p>
        </p:txBody>
      </p:sp>
      <p:sp>
        <p:nvSpPr>
          <p:cNvPr id="13" name="Text 9"/>
          <p:cNvSpPr txBox="1"/>
          <p:nvPr/>
        </p:nvSpPr>
        <p:spPr>
          <a:xfrm>
            <a:off x="4564228" y="2651760"/>
            <a:ext cx="3063240" cy="1005840"/>
          </a:xfrm>
          <a:prstGeom prst="rect">
            <a:avLst/>
          </a:prstGeom>
          <a:noFill/>
          <a:ln/>
        </p:spPr>
        <p:txBody>
          <a:bodyPr wrap="square" lIns="0" tIns="0" rIns="0" bIns="0" rtlCol="0" anchor="t"/>
          <a:lstStyle/>
          <a:p>
            <a:pPr indent="0" marL="0">
              <a:spcAft>
                <a:spcPts val="400"/>
              </a:spcAft>
              <a:buNone/>
            </a:pPr>
            <a:r>
              <a:rPr lang="en-US" sz="1500" dirty="0">
                <a:solidFill>
                  <a:schemeClr val="bg2"/>
                </a:solidFill>
                <a:latin typeface="Arial" pitchFamily="34" charset="0"/>
                <a:ea typeface="Arial" pitchFamily="34" charset="-122"/>
                <a:cs typeface="Arial" pitchFamily="34" charset="-120"/>
              </a:rPr>
              <a:t>Chrom und Lack – Symbole des „American Way of Life“</a:t>
            </a:r>
            <a:endParaRPr lang="en-US" sz="1500" dirty="0"/>
          </a:p>
          <a:p>
            <a:pPr indent="0" marL="0">
              <a:spcAft>
                <a:spcPts val="400"/>
              </a:spcAft>
              <a:buNone/>
            </a:pPr>
            <a:r>
              <a:rPr lang="en-US" sz="1500" b="1" dirty="0">
                <a:solidFill>
                  <a:schemeClr val="accent1"/>
                </a:solidFill>
                <a:latin typeface="Arial" pitchFamily="34" charset="0"/>
                <a:ea typeface="Arial" pitchFamily="34" charset="-122"/>
                <a:cs typeface="Arial" pitchFamily="34" charset="-120"/>
              </a:rPr>
              <a:t>Robert Bechtle, Ralph Goings, Tom Blackwell</a:t>
            </a:r>
            <a:endParaRPr lang="en-US" sz="1500" dirty="0"/>
          </a:p>
        </p:txBody>
      </p:sp>
      <p:sp>
        <p:nvSpPr>
          <p:cNvPr id="14" name="Shape 10"/>
          <p:cNvSpPr/>
          <p:nvPr/>
        </p:nvSpPr>
        <p:spPr>
          <a:xfrm>
            <a:off x="8122615" y="1737360"/>
            <a:ext cx="3520440" cy="2011680"/>
          </a:xfrm>
          <a:prstGeom prst="rect">
            <a:avLst/>
          </a:prstGeom>
          <a:solidFill>
            <a:schemeClr val="tx2"/>
          </a:solidFill>
          <a:ln w="12700">
            <a:solidFill>
              <a:schemeClr val="tx2"/>
            </a:solidFill>
            <a:prstDash val="solid"/>
          </a:ln>
        </p:spPr>
      </p:sp>
      <p:sp>
        <p:nvSpPr>
          <p:cNvPr id="15" name="Shape 11"/>
          <p:cNvSpPr/>
          <p:nvPr/>
        </p:nvSpPr>
        <p:spPr>
          <a:xfrm>
            <a:off x="8351215" y="1965960"/>
            <a:ext cx="566928" cy="566928"/>
          </a:xfrm>
          <a:prstGeom prst="ellipse">
            <a:avLst/>
          </a:prstGeom>
          <a:solidFill>
            <a:schemeClr val="accent4"/>
          </a:solidFill>
          <a:ln w="15875">
            <a:solidFill>
              <a:schemeClr val="accent1"/>
            </a:solidFill>
            <a:prstDash val="solid"/>
          </a:ln>
        </p:spPr>
      </p:sp>
      <p:pic>
        <p:nvPicPr>
          <p:cNvPr id="16" name="Image 2" descr="Symbol ToolsKitchen2">    </p:cNvPr>
          <p:cNvPicPr>
            <a:picLocks noChangeAspect="1"/>
          </p:cNvPicPr>
          <p:nvPr/>
        </p:nvPicPr>
        <p:blipFill>
          <a:blip r:embed="rId3"/>
          <a:stretch>
            <a:fillRect/>
          </a:stretch>
        </p:blipFill>
        <p:spPr>
          <a:xfrm>
            <a:off x="8475939" y="2090684"/>
            <a:ext cx="317480" cy="317480"/>
          </a:xfrm>
          <a:prstGeom prst="rect">
            <a:avLst/>
          </a:prstGeom>
        </p:spPr>
      </p:pic>
      <p:sp>
        <p:nvSpPr>
          <p:cNvPr id="17" name="Text 12"/>
          <p:cNvSpPr txBox="1"/>
          <p:nvPr/>
        </p:nvSpPr>
        <p:spPr>
          <a:xfrm>
            <a:off x="9082735" y="1965960"/>
            <a:ext cx="2377440" cy="566928"/>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Diner &amp; Imbiss</a:t>
            </a:r>
            <a:endParaRPr lang="en-US" sz="1700" dirty="0"/>
          </a:p>
        </p:txBody>
      </p:sp>
      <p:sp>
        <p:nvSpPr>
          <p:cNvPr id="18" name="Text 13"/>
          <p:cNvSpPr txBox="1"/>
          <p:nvPr/>
        </p:nvSpPr>
        <p:spPr>
          <a:xfrm>
            <a:off x="8351215" y="2651760"/>
            <a:ext cx="3063240" cy="1005840"/>
          </a:xfrm>
          <a:prstGeom prst="rect">
            <a:avLst/>
          </a:prstGeom>
          <a:noFill/>
          <a:ln/>
        </p:spPr>
        <p:txBody>
          <a:bodyPr wrap="square" lIns="0" tIns="0" rIns="0" bIns="0" rtlCol="0" anchor="t"/>
          <a:lstStyle/>
          <a:p>
            <a:pPr indent="0" marL="0">
              <a:spcAft>
                <a:spcPts val="400"/>
              </a:spcAft>
              <a:buNone/>
            </a:pPr>
            <a:r>
              <a:rPr lang="en-US" sz="1500" dirty="0">
                <a:solidFill>
                  <a:schemeClr val="bg2"/>
                </a:solidFill>
                <a:latin typeface="Arial" pitchFamily="34" charset="0"/>
                <a:ea typeface="Arial" pitchFamily="34" charset="-122"/>
                <a:cs typeface="Arial" pitchFamily="34" charset="-120"/>
              </a:rPr>
              <a:t>Theken, Ketchup, Kaffeetassen</a:t>
            </a:r>
            <a:endParaRPr lang="en-US" sz="1500" dirty="0"/>
          </a:p>
          <a:p>
            <a:pPr indent="0" marL="0">
              <a:spcAft>
                <a:spcPts val="400"/>
              </a:spcAft>
              <a:buNone/>
            </a:pPr>
            <a:r>
              <a:rPr lang="en-US" sz="1500" b="1" dirty="0">
                <a:solidFill>
                  <a:schemeClr val="accent1"/>
                </a:solidFill>
                <a:latin typeface="Arial" pitchFamily="34" charset="0"/>
                <a:ea typeface="Arial" pitchFamily="34" charset="-122"/>
                <a:cs typeface="Arial" pitchFamily="34" charset="-120"/>
              </a:rPr>
              <a:t>Ralph Goings</a:t>
            </a:r>
            <a:endParaRPr lang="en-US" sz="1500" dirty="0"/>
          </a:p>
        </p:txBody>
      </p:sp>
      <p:sp>
        <p:nvSpPr>
          <p:cNvPr id="19" name="Shape 14"/>
          <p:cNvSpPr/>
          <p:nvPr/>
        </p:nvSpPr>
        <p:spPr>
          <a:xfrm>
            <a:off x="548640" y="4023360"/>
            <a:ext cx="3520440" cy="2011680"/>
          </a:xfrm>
          <a:prstGeom prst="rect">
            <a:avLst/>
          </a:prstGeom>
          <a:solidFill>
            <a:schemeClr val="tx2"/>
          </a:solidFill>
          <a:ln w="12700">
            <a:solidFill>
              <a:schemeClr val="tx2"/>
            </a:solidFill>
            <a:prstDash val="solid"/>
          </a:ln>
        </p:spPr>
      </p:sp>
      <p:sp>
        <p:nvSpPr>
          <p:cNvPr id="20" name="Shape 15"/>
          <p:cNvSpPr/>
          <p:nvPr/>
        </p:nvSpPr>
        <p:spPr>
          <a:xfrm>
            <a:off x="777240" y="4251960"/>
            <a:ext cx="566928" cy="566928"/>
          </a:xfrm>
          <a:prstGeom prst="ellipse">
            <a:avLst/>
          </a:prstGeom>
          <a:solidFill>
            <a:schemeClr val="accent4"/>
          </a:solidFill>
          <a:ln w="15875">
            <a:solidFill>
              <a:schemeClr val="accent1"/>
            </a:solidFill>
            <a:prstDash val="solid"/>
          </a:ln>
        </p:spPr>
      </p:sp>
      <p:pic>
        <p:nvPicPr>
          <p:cNvPr id="21" name="Image 3" descr="Symbol User">    </p:cNvPr>
          <p:cNvPicPr>
            <a:picLocks noChangeAspect="1"/>
          </p:cNvPicPr>
          <p:nvPr/>
        </p:nvPicPr>
        <p:blipFill>
          <a:blip r:embed="rId4"/>
          <a:stretch>
            <a:fillRect/>
          </a:stretch>
        </p:blipFill>
        <p:spPr>
          <a:xfrm>
            <a:off x="901964" y="4376684"/>
            <a:ext cx="317480" cy="317480"/>
          </a:xfrm>
          <a:prstGeom prst="rect">
            <a:avLst/>
          </a:prstGeom>
        </p:spPr>
      </p:pic>
      <p:sp>
        <p:nvSpPr>
          <p:cNvPr id="22" name="Text 16"/>
          <p:cNvSpPr txBox="1"/>
          <p:nvPr/>
        </p:nvSpPr>
        <p:spPr>
          <a:xfrm>
            <a:off x="1508760" y="4251960"/>
            <a:ext cx="2377440" cy="566928"/>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Porträts</a:t>
            </a:r>
            <a:endParaRPr lang="en-US" sz="1700" dirty="0"/>
          </a:p>
        </p:txBody>
      </p:sp>
      <p:sp>
        <p:nvSpPr>
          <p:cNvPr id="23" name="Text 17"/>
          <p:cNvSpPr txBox="1"/>
          <p:nvPr/>
        </p:nvSpPr>
        <p:spPr>
          <a:xfrm>
            <a:off x="777240" y="4937760"/>
            <a:ext cx="3063240" cy="1005840"/>
          </a:xfrm>
          <a:prstGeom prst="rect">
            <a:avLst/>
          </a:prstGeom>
          <a:noFill/>
          <a:ln/>
        </p:spPr>
        <p:txBody>
          <a:bodyPr wrap="square" lIns="0" tIns="0" rIns="0" bIns="0" rtlCol="0" anchor="t"/>
          <a:lstStyle/>
          <a:p>
            <a:pPr indent="0" marL="0">
              <a:spcAft>
                <a:spcPts val="400"/>
              </a:spcAft>
              <a:buNone/>
            </a:pPr>
            <a:r>
              <a:rPr lang="en-US" sz="1500" dirty="0">
                <a:solidFill>
                  <a:schemeClr val="bg2"/>
                </a:solidFill>
                <a:latin typeface="Arial" pitchFamily="34" charset="0"/>
                <a:ea typeface="Arial" pitchFamily="34" charset="-122"/>
                <a:cs typeface="Arial" pitchFamily="34" charset="-120"/>
              </a:rPr>
              <a:t>Gesichter im Riesenformat</a:t>
            </a:r>
            <a:endParaRPr lang="en-US" sz="1500" dirty="0"/>
          </a:p>
          <a:p>
            <a:pPr indent="0" marL="0">
              <a:spcAft>
                <a:spcPts val="400"/>
              </a:spcAft>
              <a:buNone/>
            </a:pPr>
            <a:r>
              <a:rPr lang="en-US" sz="1500" b="1" dirty="0">
                <a:solidFill>
                  <a:schemeClr val="accent1"/>
                </a:solidFill>
                <a:latin typeface="Arial" pitchFamily="34" charset="0"/>
                <a:ea typeface="Arial" pitchFamily="34" charset="-122"/>
                <a:cs typeface="Arial" pitchFamily="34" charset="-120"/>
              </a:rPr>
              <a:t>Chuck Close, Franz Gertsch</a:t>
            </a:r>
            <a:endParaRPr lang="en-US" sz="1500" dirty="0"/>
          </a:p>
        </p:txBody>
      </p:sp>
      <p:sp>
        <p:nvSpPr>
          <p:cNvPr id="24" name="Shape 18"/>
          <p:cNvSpPr/>
          <p:nvPr/>
        </p:nvSpPr>
        <p:spPr>
          <a:xfrm>
            <a:off x="4335628" y="4023360"/>
            <a:ext cx="3520440" cy="2011680"/>
          </a:xfrm>
          <a:prstGeom prst="rect">
            <a:avLst/>
          </a:prstGeom>
          <a:solidFill>
            <a:schemeClr val="tx2"/>
          </a:solidFill>
          <a:ln w="12700">
            <a:solidFill>
              <a:schemeClr val="tx2"/>
            </a:solidFill>
            <a:prstDash val="solid"/>
          </a:ln>
        </p:spPr>
      </p:sp>
      <p:sp>
        <p:nvSpPr>
          <p:cNvPr id="25" name="Shape 19"/>
          <p:cNvSpPr/>
          <p:nvPr/>
        </p:nvSpPr>
        <p:spPr>
          <a:xfrm>
            <a:off x="4564228" y="4251960"/>
            <a:ext cx="566928" cy="566928"/>
          </a:xfrm>
          <a:prstGeom prst="ellipse">
            <a:avLst/>
          </a:prstGeom>
          <a:solidFill>
            <a:schemeClr val="accent4"/>
          </a:solidFill>
          <a:ln w="15875">
            <a:solidFill>
              <a:schemeClr val="accent1"/>
            </a:solidFill>
            <a:prstDash val="solid"/>
          </a:ln>
        </p:spPr>
      </p:sp>
      <p:pic>
        <p:nvPicPr>
          <p:cNvPr id="26" name="Image 4" descr="Symbol Candy">    </p:cNvPr>
          <p:cNvPicPr>
            <a:picLocks noChangeAspect="1"/>
          </p:cNvPicPr>
          <p:nvPr/>
        </p:nvPicPr>
        <p:blipFill>
          <a:blip r:embed="rId5"/>
          <a:stretch>
            <a:fillRect/>
          </a:stretch>
        </p:blipFill>
        <p:spPr>
          <a:xfrm>
            <a:off x="4688952" y="4376684"/>
            <a:ext cx="317480" cy="317480"/>
          </a:xfrm>
          <a:prstGeom prst="rect">
            <a:avLst/>
          </a:prstGeom>
        </p:spPr>
      </p:pic>
      <p:sp>
        <p:nvSpPr>
          <p:cNvPr id="27" name="Text 20"/>
          <p:cNvSpPr txBox="1"/>
          <p:nvPr/>
        </p:nvSpPr>
        <p:spPr>
          <a:xfrm>
            <a:off x="5295748" y="4251960"/>
            <a:ext cx="2377440" cy="566928"/>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Konsum &amp; Stillleben</a:t>
            </a:r>
            <a:endParaRPr lang="en-US" sz="1700" dirty="0"/>
          </a:p>
        </p:txBody>
      </p:sp>
      <p:sp>
        <p:nvSpPr>
          <p:cNvPr id="28" name="Text 21"/>
          <p:cNvSpPr txBox="1"/>
          <p:nvPr/>
        </p:nvSpPr>
        <p:spPr>
          <a:xfrm>
            <a:off x="4564228" y="4937760"/>
            <a:ext cx="3063240" cy="1005840"/>
          </a:xfrm>
          <a:prstGeom prst="rect">
            <a:avLst/>
          </a:prstGeom>
          <a:noFill/>
          <a:ln/>
        </p:spPr>
        <p:txBody>
          <a:bodyPr wrap="square" lIns="0" tIns="0" rIns="0" bIns="0" rtlCol="0" anchor="t"/>
          <a:lstStyle/>
          <a:p>
            <a:pPr indent="0" marL="0">
              <a:spcAft>
                <a:spcPts val="400"/>
              </a:spcAft>
              <a:buNone/>
            </a:pPr>
            <a:r>
              <a:rPr lang="en-US" sz="1500" dirty="0">
                <a:solidFill>
                  <a:schemeClr val="bg2"/>
                </a:solidFill>
                <a:latin typeface="Arial" pitchFamily="34" charset="0"/>
                <a:ea typeface="Arial" pitchFamily="34" charset="-122"/>
                <a:cs typeface="Arial" pitchFamily="34" charset="-120"/>
              </a:rPr>
              <a:t>Kaugummiautomaten, Spielzeug, Vanitas</a:t>
            </a:r>
            <a:endParaRPr lang="en-US" sz="1500" dirty="0"/>
          </a:p>
          <a:p>
            <a:pPr indent="0" marL="0">
              <a:spcAft>
                <a:spcPts val="400"/>
              </a:spcAft>
              <a:buNone/>
            </a:pPr>
            <a:r>
              <a:rPr lang="en-US" sz="1500" b="1" dirty="0">
                <a:solidFill>
                  <a:schemeClr val="accent1"/>
                </a:solidFill>
                <a:latin typeface="Arial" pitchFamily="34" charset="0"/>
                <a:ea typeface="Arial" pitchFamily="34" charset="-122"/>
                <a:cs typeface="Arial" pitchFamily="34" charset="-120"/>
              </a:rPr>
              <a:t>Audrey Flack, Charles Bell</a:t>
            </a:r>
            <a:endParaRPr lang="en-US" sz="1500" dirty="0"/>
          </a:p>
        </p:txBody>
      </p:sp>
      <p:sp>
        <p:nvSpPr>
          <p:cNvPr id="29" name="Shape 22"/>
          <p:cNvSpPr/>
          <p:nvPr/>
        </p:nvSpPr>
        <p:spPr>
          <a:xfrm>
            <a:off x="8122615" y="4023360"/>
            <a:ext cx="3520440" cy="2011680"/>
          </a:xfrm>
          <a:prstGeom prst="rect">
            <a:avLst/>
          </a:prstGeom>
          <a:solidFill>
            <a:schemeClr val="tx2"/>
          </a:solidFill>
          <a:ln w="12700">
            <a:solidFill>
              <a:schemeClr val="tx2"/>
            </a:solidFill>
            <a:prstDash val="solid"/>
          </a:ln>
        </p:spPr>
      </p:sp>
      <p:sp>
        <p:nvSpPr>
          <p:cNvPr id="30" name="Shape 23"/>
          <p:cNvSpPr/>
          <p:nvPr/>
        </p:nvSpPr>
        <p:spPr>
          <a:xfrm>
            <a:off x="8351215" y="4251960"/>
            <a:ext cx="566928" cy="566928"/>
          </a:xfrm>
          <a:prstGeom prst="ellipse">
            <a:avLst/>
          </a:prstGeom>
          <a:solidFill>
            <a:schemeClr val="accent4"/>
          </a:solidFill>
          <a:ln w="15875">
            <a:solidFill>
              <a:schemeClr val="accent1"/>
            </a:solidFill>
            <a:prstDash val="solid"/>
          </a:ln>
        </p:spPr>
      </p:sp>
      <p:pic>
        <p:nvPicPr>
          <p:cNvPr id="31" name="Image 5" descr="Symbol Man">    </p:cNvPr>
          <p:cNvPicPr>
            <a:picLocks noChangeAspect="1"/>
          </p:cNvPicPr>
          <p:nvPr/>
        </p:nvPicPr>
        <p:blipFill>
          <a:blip r:embed="rId6"/>
          <a:stretch>
            <a:fillRect/>
          </a:stretch>
        </p:blipFill>
        <p:spPr>
          <a:xfrm>
            <a:off x="8475939" y="4376684"/>
            <a:ext cx="317480" cy="317480"/>
          </a:xfrm>
          <a:prstGeom prst="rect">
            <a:avLst/>
          </a:prstGeom>
        </p:spPr>
      </p:pic>
      <p:sp>
        <p:nvSpPr>
          <p:cNvPr id="32" name="Text 24"/>
          <p:cNvSpPr txBox="1"/>
          <p:nvPr/>
        </p:nvSpPr>
        <p:spPr>
          <a:xfrm>
            <a:off x="9082735" y="4251960"/>
            <a:ext cx="2377440" cy="566928"/>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Mensch &amp; Körper</a:t>
            </a:r>
            <a:endParaRPr lang="en-US" sz="1700" dirty="0"/>
          </a:p>
        </p:txBody>
      </p:sp>
      <p:sp>
        <p:nvSpPr>
          <p:cNvPr id="33" name="Text 25"/>
          <p:cNvSpPr txBox="1"/>
          <p:nvPr/>
        </p:nvSpPr>
        <p:spPr>
          <a:xfrm>
            <a:off x="8351215" y="4937760"/>
            <a:ext cx="3063240" cy="1005840"/>
          </a:xfrm>
          <a:prstGeom prst="rect">
            <a:avLst/>
          </a:prstGeom>
          <a:noFill/>
          <a:ln/>
        </p:spPr>
        <p:txBody>
          <a:bodyPr wrap="square" lIns="0" tIns="0" rIns="0" bIns="0" rtlCol="0" anchor="t"/>
          <a:lstStyle/>
          <a:p>
            <a:pPr indent="0" marL="0">
              <a:spcAft>
                <a:spcPts val="400"/>
              </a:spcAft>
              <a:buNone/>
            </a:pPr>
            <a:r>
              <a:rPr lang="en-US" sz="1500" dirty="0">
                <a:solidFill>
                  <a:schemeClr val="bg2"/>
                </a:solidFill>
                <a:latin typeface="Arial" pitchFamily="34" charset="0"/>
                <a:ea typeface="Arial" pitchFamily="34" charset="-122"/>
                <a:cs typeface="Arial" pitchFamily="34" charset="-120"/>
              </a:rPr>
              <a:t>lebensechte Figuren, Haut, Wasser</a:t>
            </a:r>
            <a:endParaRPr lang="en-US" sz="1500" dirty="0"/>
          </a:p>
          <a:p>
            <a:pPr indent="0" marL="0">
              <a:spcAft>
                <a:spcPts val="400"/>
              </a:spcAft>
              <a:buNone/>
            </a:pPr>
            <a:r>
              <a:rPr lang="en-US" sz="1500" b="1" dirty="0">
                <a:solidFill>
                  <a:schemeClr val="accent1"/>
                </a:solidFill>
                <a:latin typeface="Arial" pitchFamily="34" charset="0"/>
                <a:ea typeface="Arial" pitchFamily="34" charset="-122"/>
                <a:cs typeface="Arial" pitchFamily="34" charset="-120"/>
              </a:rPr>
              <a:t>Duane Hanson, Ron Mueck</a:t>
            </a:r>
            <a:endParaRPr lang="en-US" sz="15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lIns="0" tIns="0" rIns="0" bIns="0" rtlCol="0" anchor="ctr"/>
          <a:lstStyle/>
          <a:p>
            <a:pPr algn="l" indent="0" marL="0">
              <a:buNone/>
            </a:pPr>
            <a:r>
              <a:rPr lang="en-US" sz="1200" b="1" spc="300" kern="0" dirty="0">
                <a:solidFill>
                  <a:schemeClr val="accent1"/>
                </a:solidFill>
                <a:latin typeface="Arial" pitchFamily="34" charset="0"/>
                <a:ea typeface="Arial" pitchFamily="34" charset="-122"/>
                <a:cs typeface="Arial" pitchFamily="34" charset="-120"/>
              </a:rPr>
              <a:t>04 · HAUPTVERTRETER</a:t>
            </a:r>
            <a:endParaRPr lang="en-US" sz="1200" dirty="0"/>
          </a:p>
        </p:txBody>
      </p:sp>
      <p:sp>
        <p:nvSpPr>
          <p:cNvPr id="3" name="Text 0"/>
          <p:cNvSpPr/>
          <p:nvPr>
            <p:ph idx="101" type="title" hasCustomPrompt="1"/>
          </p:nvPr>
        </p:nvSpPr>
        <p:spPr>
          <a:xfrm>
            <a:off x="548640" y="694944"/>
            <a:ext cx="11094415" cy="749808"/>
          </a:xfrm>
          <a:prstGeom prst="rect">
            <a:avLst/>
          </a:prstGeom>
          <a:noFill/>
          <a:ln/>
        </p:spPr>
        <p:txBody>
          <a:bodyPr wrap="square" lIns="0" tIns="0" rIns="0" bIns="0" rtlCol="0" anchor="t"/>
          <a:lstStyle/>
          <a:p>
            <a:pPr algn="l" indent="0" marL="0">
              <a:buNone/>
            </a:pPr>
            <a:r>
              <a:rPr lang="en-US" sz="3200" b="1" dirty="0">
                <a:solidFill>
                  <a:schemeClr val="bg1"/>
                </a:solidFill>
                <a:latin typeface="Georgia" pitchFamily="34" charset="0"/>
                <a:ea typeface="Georgia" pitchFamily="34" charset="-122"/>
                <a:cs typeface="Georgia" pitchFamily="34" charset="-120"/>
              </a:rPr>
              <a:t>Hauptvertreter des Fotorealismus</a:t>
            </a:r>
            <a:endParaRPr lang="en-US" sz="3200" dirty="0"/>
          </a:p>
        </p:txBody>
      </p:sp>
      <p:sp>
        <p:nvSpPr>
          <p:cNvPr id="4" name="Shape 2"/>
          <p:cNvSpPr/>
          <p:nvPr/>
        </p:nvSpPr>
        <p:spPr>
          <a:xfrm>
            <a:off x="548640" y="1737360"/>
            <a:ext cx="3520440" cy="2011680"/>
          </a:xfrm>
          <a:prstGeom prst="rect">
            <a:avLst/>
          </a:prstGeom>
          <a:solidFill>
            <a:schemeClr val="tx2"/>
          </a:solidFill>
          <a:ln w="12700">
            <a:solidFill>
              <a:schemeClr val="tx2"/>
            </a:solidFill>
            <a:prstDash val="solid"/>
          </a:ln>
        </p:spPr>
      </p:sp>
      <p:sp>
        <p:nvSpPr>
          <p:cNvPr id="5" name="Text 3"/>
          <p:cNvSpPr txBox="1"/>
          <p:nvPr/>
        </p:nvSpPr>
        <p:spPr>
          <a:xfrm>
            <a:off x="822960" y="1965960"/>
            <a:ext cx="2971800" cy="411480"/>
          </a:xfrm>
          <a:prstGeom prst="rect">
            <a:avLst/>
          </a:prstGeom>
          <a:noFill/>
          <a:ln/>
        </p:spPr>
        <p:txBody>
          <a:bodyPr wrap="square" lIns="0" tIns="0" rIns="0" bIns="0" rtlCol="0" anchor="t"/>
          <a:lstStyle/>
          <a:p>
            <a:pPr indent="0" marL="0">
              <a:buNone/>
            </a:pPr>
            <a:r>
              <a:rPr lang="en-US" sz="2000" b="1" dirty="0">
                <a:solidFill>
                  <a:schemeClr val="bg1"/>
                </a:solidFill>
                <a:latin typeface="Georgia" pitchFamily="34" charset="0"/>
                <a:ea typeface="Georgia" pitchFamily="34" charset="-122"/>
                <a:cs typeface="Georgia" pitchFamily="34" charset="-120"/>
              </a:rPr>
              <a:t>Richard Estes</a:t>
            </a:r>
            <a:endParaRPr lang="en-US" sz="2000" dirty="0"/>
          </a:p>
        </p:txBody>
      </p:sp>
      <p:sp>
        <p:nvSpPr>
          <p:cNvPr id="6" name="Text 4"/>
          <p:cNvSpPr txBox="1"/>
          <p:nvPr/>
        </p:nvSpPr>
        <p:spPr>
          <a:xfrm>
            <a:off x="822960" y="2395728"/>
            <a:ext cx="2971800" cy="274320"/>
          </a:xfrm>
          <a:prstGeom prst="rect">
            <a:avLst/>
          </a:prstGeom>
          <a:noFill/>
          <a:ln/>
        </p:spPr>
        <p:txBody>
          <a:bodyPr wrap="square" lIns="0" tIns="0" rIns="0" bIns="0" rtlCol="0" anchor="t"/>
          <a:lstStyle/>
          <a:p>
            <a:pPr indent="0" marL="0">
              <a:buNone/>
            </a:pPr>
            <a:r>
              <a:rPr lang="en-US" sz="1300" b="1" dirty="0">
                <a:solidFill>
                  <a:schemeClr val="accent1"/>
                </a:solidFill>
                <a:latin typeface="Arial" pitchFamily="34" charset="0"/>
                <a:ea typeface="Arial" pitchFamily="34" charset="-122"/>
                <a:cs typeface="Arial" pitchFamily="34" charset="-120"/>
              </a:rPr>
              <a:t>* 1932 · USA</a:t>
            </a:r>
            <a:endParaRPr lang="en-US" sz="1300" dirty="0"/>
          </a:p>
        </p:txBody>
      </p:sp>
      <p:sp>
        <p:nvSpPr>
          <p:cNvPr id="7" name="Text 5"/>
          <p:cNvSpPr txBox="1"/>
          <p:nvPr/>
        </p:nvSpPr>
        <p:spPr>
          <a:xfrm>
            <a:off x="822960" y="2743200"/>
            <a:ext cx="2971800" cy="86868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Mitbegründer; New Yorker Stadtansichten voller Spiegelungen</a:t>
            </a:r>
            <a:endParaRPr lang="en-US" sz="1600" dirty="0"/>
          </a:p>
        </p:txBody>
      </p:sp>
      <p:sp>
        <p:nvSpPr>
          <p:cNvPr id="8" name="Shape 6"/>
          <p:cNvSpPr/>
          <p:nvPr/>
        </p:nvSpPr>
        <p:spPr>
          <a:xfrm>
            <a:off x="4335628" y="1737360"/>
            <a:ext cx="3520440" cy="2011680"/>
          </a:xfrm>
          <a:prstGeom prst="rect">
            <a:avLst/>
          </a:prstGeom>
          <a:solidFill>
            <a:schemeClr val="tx2"/>
          </a:solidFill>
          <a:ln w="12700">
            <a:solidFill>
              <a:schemeClr val="tx2"/>
            </a:solidFill>
            <a:prstDash val="solid"/>
          </a:ln>
        </p:spPr>
      </p:sp>
      <p:sp>
        <p:nvSpPr>
          <p:cNvPr id="9" name="Text 7"/>
          <p:cNvSpPr txBox="1"/>
          <p:nvPr/>
        </p:nvSpPr>
        <p:spPr>
          <a:xfrm>
            <a:off x="4609948" y="1965960"/>
            <a:ext cx="2971800" cy="411480"/>
          </a:xfrm>
          <a:prstGeom prst="rect">
            <a:avLst/>
          </a:prstGeom>
          <a:noFill/>
          <a:ln/>
        </p:spPr>
        <p:txBody>
          <a:bodyPr wrap="square" lIns="0" tIns="0" rIns="0" bIns="0" rtlCol="0" anchor="t"/>
          <a:lstStyle/>
          <a:p>
            <a:pPr indent="0" marL="0">
              <a:buNone/>
            </a:pPr>
            <a:r>
              <a:rPr lang="en-US" sz="2000" b="1" dirty="0">
                <a:solidFill>
                  <a:schemeClr val="bg1"/>
                </a:solidFill>
                <a:latin typeface="Georgia" pitchFamily="34" charset="0"/>
                <a:ea typeface="Georgia" pitchFamily="34" charset="-122"/>
                <a:cs typeface="Georgia" pitchFamily="34" charset="-120"/>
              </a:rPr>
              <a:t>Chuck Close</a:t>
            </a:r>
            <a:endParaRPr lang="en-US" sz="2000" dirty="0"/>
          </a:p>
        </p:txBody>
      </p:sp>
      <p:sp>
        <p:nvSpPr>
          <p:cNvPr id="10" name="Text 8"/>
          <p:cNvSpPr txBox="1"/>
          <p:nvPr/>
        </p:nvSpPr>
        <p:spPr>
          <a:xfrm>
            <a:off x="4609948" y="2395728"/>
            <a:ext cx="2971800" cy="274320"/>
          </a:xfrm>
          <a:prstGeom prst="rect">
            <a:avLst/>
          </a:prstGeom>
          <a:noFill/>
          <a:ln/>
        </p:spPr>
        <p:txBody>
          <a:bodyPr wrap="square" lIns="0" tIns="0" rIns="0" bIns="0" rtlCol="0" anchor="t"/>
          <a:lstStyle/>
          <a:p>
            <a:pPr indent="0" marL="0">
              <a:buNone/>
            </a:pPr>
            <a:r>
              <a:rPr lang="en-US" sz="1300" b="1" dirty="0">
                <a:solidFill>
                  <a:schemeClr val="accent1"/>
                </a:solidFill>
                <a:latin typeface="Arial" pitchFamily="34" charset="0"/>
                <a:ea typeface="Arial" pitchFamily="34" charset="-122"/>
                <a:cs typeface="Arial" pitchFamily="34" charset="-120"/>
              </a:rPr>
              <a:t>1940–2021 · USA</a:t>
            </a:r>
            <a:endParaRPr lang="en-US" sz="1300" dirty="0"/>
          </a:p>
        </p:txBody>
      </p:sp>
      <p:sp>
        <p:nvSpPr>
          <p:cNvPr id="11" name="Text 9"/>
          <p:cNvSpPr txBox="1"/>
          <p:nvPr/>
        </p:nvSpPr>
        <p:spPr>
          <a:xfrm>
            <a:off x="4609948" y="2743200"/>
            <a:ext cx="2971800" cy="86868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Monumentale Porträts, im Raster übertragen</a:t>
            </a:r>
            <a:endParaRPr lang="en-US" sz="1600" dirty="0"/>
          </a:p>
        </p:txBody>
      </p:sp>
      <p:sp>
        <p:nvSpPr>
          <p:cNvPr id="12" name="Shape 10"/>
          <p:cNvSpPr/>
          <p:nvPr/>
        </p:nvSpPr>
        <p:spPr>
          <a:xfrm>
            <a:off x="8122615" y="1737360"/>
            <a:ext cx="3520440" cy="2011680"/>
          </a:xfrm>
          <a:prstGeom prst="rect">
            <a:avLst/>
          </a:prstGeom>
          <a:solidFill>
            <a:schemeClr val="tx2"/>
          </a:solidFill>
          <a:ln w="12700">
            <a:solidFill>
              <a:schemeClr val="tx2"/>
            </a:solidFill>
            <a:prstDash val="solid"/>
          </a:ln>
        </p:spPr>
      </p:sp>
      <p:sp>
        <p:nvSpPr>
          <p:cNvPr id="13" name="Text 11"/>
          <p:cNvSpPr txBox="1"/>
          <p:nvPr/>
        </p:nvSpPr>
        <p:spPr>
          <a:xfrm>
            <a:off x="8396935" y="1965960"/>
            <a:ext cx="2971800" cy="411480"/>
          </a:xfrm>
          <a:prstGeom prst="rect">
            <a:avLst/>
          </a:prstGeom>
          <a:noFill/>
          <a:ln/>
        </p:spPr>
        <p:txBody>
          <a:bodyPr wrap="square" lIns="0" tIns="0" rIns="0" bIns="0" rtlCol="0" anchor="t"/>
          <a:lstStyle/>
          <a:p>
            <a:pPr indent="0" marL="0">
              <a:buNone/>
            </a:pPr>
            <a:r>
              <a:rPr lang="en-US" sz="2000" b="1" dirty="0">
                <a:solidFill>
                  <a:schemeClr val="bg1"/>
                </a:solidFill>
                <a:latin typeface="Georgia" pitchFamily="34" charset="0"/>
                <a:ea typeface="Georgia" pitchFamily="34" charset="-122"/>
                <a:cs typeface="Georgia" pitchFamily="34" charset="-120"/>
              </a:rPr>
              <a:t>Ralph Goings</a:t>
            </a:r>
            <a:endParaRPr lang="en-US" sz="2000" dirty="0"/>
          </a:p>
        </p:txBody>
      </p:sp>
      <p:sp>
        <p:nvSpPr>
          <p:cNvPr id="14" name="Text 12"/>
          <p:cNvSpPr txBox="1"/>
          <p:nvPr/>
        </p:nvSpPr>
        <p:spPr>
          <a:xfrm>
            <a:off x="8396935" y="2395728"/>
            <a:ext cx="2971800" cy="274320"/>
          </a:xfrm>
          <a:prstGeom prst="rect">
            <a:avLst/>
          </a:prstGeom>
          <a:noFill/>
          <a:ln/>
        </p:spPr>
        <p:txBody>
          <a:bodyPr wrap="square" lIns="0" tIns="0" rIns="0" bIns="0" rtlCol="0" anchor="t"/>
          <a:lstStyle/>
          <a:p>
            <a:pPr indent="0" marL="0">
              <a:buNone/>
            </a:pPr>
            <a:r>
              <a:rPr lang="en-US" sz="1300" b="1" dirty="0">
                <a:solidFill>
                  <a:schemeClr val="accent1"/>
                </a:solidFill>
                <a:latin typeface="Arial" pitchFamily="34" charset="0"/>
                <a:ea typeface="Arial" pitchFamily="34" charset="-122"/>
                <a:cs typeface="Arial" pitchFamily="34" charset="-120"/>
              </a:rPr>
              <a:t>1928–2016 · USA</a:t>
            </a:r>
            <a:endParaRPr lang="en-US" sz="1300" dirty="0"/>
          </a:p>
        </p:txBody>
      </p:sp>
      <p:sp>
        <p:nvSpPr>
          <p:cNvPr id="15" name="Text 13"/>
          <p:cNvSpPr txBox="1"/>
          <p:nvPr/>
        </p:nvSpPr>
        <p:spPr>
          <a:xfrm>
            <a:off x="8396935" y="2743200"/>
            <a:ext cx="2971800" cy="86868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Diner, Pick-ups und Stillleben vom Imbisstisch</a:t>
            </a:r>
            <a:endParaRPr lang="en-US" sz="1600" dirty="0"/>
          </a:p>
        </p:txBody>
      </p:sp>
      <p:sp>
        <p:nvSpPr>
          <p:cNvPr id="16" name="Shape 14"/>
          <p:cNvSpPr/>
          <p:nvPr/>
        </p:nvSpPr>
        <p:spPr>
          <a:xfrm>
            <a:off x="548640" y="4023360"/>
            <a:ext cx="3520440" cy="2011680"/>
          </a:xfrm>
          <a:prstGeom prst="rect">
            <a:avLst/>
          </a:prstGeom>
          <a:solidFill>
            <a:schemeClr val="tx2"/>
          </a:solidFill>
          <a:ln w="12700">
            <a:solidFill>
              <a:schemeClr val="tx2"/>
            </a:solidFill>
            <a:prstDash val="solid"/>
          </a:ln>
        </p:spPr>
      </p:sp>
      <p:sp>
        <p:nvSpPr>
          <p:cNvPr id="17" name="Text 15"/>
          <p:cNvSpPr txBox="1"/>
          <p:nvPr/>
        </p:nvSpPr>
        <p:spPr>
          <a:xfrm>
            <a:off x="822960" y="4251960"/>
            <a:ext cx="2971800" cy="411480"/>
          </a:xfrm>
          <a:prstGeom prst="rect">
            <a:avLst/>
          </a:prstGeom>
          <a:noFill/>
          <a:ln/>
        </p:spPr>
        <p:txBody>
          <a:bodyPr wrap="square" lIns="0" tIns="0" rIns="0" bIns="0" rtlCol="0" anchor="t"/>
          <a:lstStyle/>
          <a:p>
            <a:pPr indent="0" marL="0">
              <a:buNone/>
            </a:pPr>
            <a:r>
              <a:rPr lang="en-US" sz="2000" b="1" dirty="0">
                <a:solidFill>
                  <a:schemeClr val="bg1"/>
                </a:solidFill>
                <a:latin typeface="Georgia" pitchFamily="34" charset="0"/>
                <a:ea typeface="Georgia" pitchFamily="34" charset="-122"/>
                <a:cs typeface="Georgia" pitchFamily="34" charset="-120"/>
              </a:rPr>
              <a:t>Audrey Flack</a:t>
            </a:r>
            <a:endParaRPr lang="en-US" sz="2000" dirty="0"/>
          </a:p>
        </p:txBody>
      </p:sp>
      <p:sp>
        <p:nvSpPr>
          <p:cNvPr id="18" name="Text 16"/>
          <p:cNvSpPr txBox="1"/>
          <p:nvPr/>
        </p:nvSpPr>
        <p:spPr>
          <a:xfrm>
            <a:off x="822960" y="4681728"/>
            <a:ext cx="2971800" cy="274320"/>
          </a:xfrm>
          <a:prstGeom prst="rect">
            <a:avLst/>
          </a:prstGeom>
          <a:noFill/>
          <a:ln/>
        </p:spPr>
        <p:txBody>
          <a:bodyPr wrap="square" lIns="0" tIns="0" rIns="0" bIns="0" rtlCol="0" anchor="t"/>
          <a:lstStyle/>
          <a:p>
            <a:pPr indent="0" marL="0">
              <a:buNone/>
            </a:pPr>
            <a:r>
              <a:rPr lang="en-US" sz="1300" b="1" dirty="0">
                <a:solidFill>
                  <a:schemeClr val="accent1"/>
                </a:solidFill>
                <a:latin typeface="Arial" pitchFamily="34" charset="0"/>
                <a:ea typeface="Arial" pitchFamily="34" charset="-122"/>
                <a:cs typeface="Arial" pitchFamily="34" charset="-120"/>
              </a:rPr>
              <a:t>1931–2024 · USA</a:t>
            </a:r>
            <a:endParaRPr lang="en-US" sz="1300" dirty="0"/>
          </a:p>
        </p:txBody>
      </p:sp>
      <p:sp>
        <p:nvSpPr>
          <p:cNvPr id="19" name="Text 17"/>
          <p:cNvSpPr txBox="1"/>
          <p:nvPr/>
        </p:nvSpPr>
        <p:spPr>
          <a:xfrm>
            <a:off x="822960" y="5029200"/>
            <a:ext cx="2971800" cy="86868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Wichtigste Künstlerin der ersten Generation; Vanitas-Stillleben</a:t>
            </a:r>
            <a:endParaRPr lang="en-US" sz="1600" dirty="0"/>
          </a:p>
        </p:txBody>
      </p:sp>
      <p:sp>
        <p:nvSpPr>
          <p:cNvPr id="20" name="Shape 18"/>
          <p:cNvSpPr/>
          <p:nvPr/>
        </p:nvSpPr>
        <p:spPr>
          <a:xfrm>
            <a:off x="4335628" y="4023360"/>
            <a:ext cx="3520440" cy="2011680"/>
          </a:xfrm>
          <a:prstGeom prst="rect">
            <a:avLst/>
          </a:prstGeom>
          <a:solidFill>
            <a:schemeClr val="tx2"/>
          </a:solidFill>
          <a:ln w="12700">
            <a:solidFill>
              <a:schemeClr val="tx2"/>
            </a:solidFill>
            <a:prstDash val="solid"/>
          </a:ln>
        </p:spPr>
      </p:sp>
      <p:sp>
        <p:nvSpPr>
          <p:cNvPr id="21" name="Text 19"/>
          <p:cNvSpPr txBox="1"/>
          <p:nvPr/>
        </p:nvSpPr>
        <p:spPr>
          <a:xfrm>
            <a:off x="4609948" y="4251960"/>
            <a:ext cx="2971800" cy="411480"/>
          </a:xfrm>
          <a:prstGeom prst="rect">
            <a:avLst/>
          </a:prstGeom>
          <a:noFill/>
          <a:ln/>
        </p:spPr>
        <p:txBody>
          <a:bodyPr wrap="square" lIns="0" tIns="0" rIns="0" bIns="0" rtlCol="0" anchor="t"/>
          <a:lstStyle/>
          <a:p>
            <a:pPr indent="0" marL="0">
              <a:buNone/>
            </a:pPr>
            <a:r>
              <a:rPr lang="en-US" sz="2000" b="1" dirty="0">
                <a:solidFill>
                  <a:schemeClr val="bg1"/>
                </a:solidFill>
                <a:latin typeface="Georgia" pitchFamily="34" charset="0"/>
                <a:ea typeface="Georgia" pitchFamily="34" charset="-122"/>
                <a:cs typeface="Georgia" pitchFamily="34" charset="-120"/>
              </a:rPr>
              <a:t>Robert Bechtle</a:t>
            </a:r>
            <a:endParaRPr lang="en-US" sz="2000" dirty="0"/>
          </a:p>
        </p:txBody>
      </p:sp>
      <p:sp>
        <p:nvSpPr>
          <p:cNvPr id="22" name="Text 20"/>
          <p:cNvSpPr txBox="1"/>
          <p:nvPr/>
        </p:nvSpPr>
        <p:spPr>
          <a:xfrm>
            <a:off x="4609948" y="4681728"/>
            <a:ext cx="2971800" cy="274320"/>
          </a:xfrm>
          <a:prstGeom prst="rect">
            <a:avLst/>
          </a:prstGeom>
          <a:noFill/>
          <a:ln/>
        </p:spPr>
        <p:txBody>
          <a:bodyPr wrap="square" lIns="0" tIns="0" rIns="0" bIns="0" rtlCol="0" anchor="t"/>
          <a:lstStyle/>
          <a:p>
            <a:pPr indent="0" marL="0">
              <a:buNone/>
            </a:pPr>
            <a:r>
              <a:rPr lang="en-US" sz="1300" b="1" dirty="0">
                <a:solidFill>
                  <a:schemeClr val="accent1"/>
                </a:solidFill>
                <a:latin typeface="Arial" pitchFamily="34" charset="0"/>
                <a:ea typeface="Arial" pitchFamily="34" charset="-122"/>
                <a:cs typeface="Arial" pitchFamily="34" charset="-120"/>
              </a:rPr>
              <a:t>1932–2020 · USA</a:t>
            </a:r>
            <a:endParaRPr lang="en-US" sz="1300" dirty="0"/>
          </a:p>
        </p:txBody>
      </p:sp>
      <p:sp>
        <p:nvSpPr>
          <p:cNvPr id="23" name="Text 21"/>
          <p:cNvSpPr txBox="1"/>
          <p:nvPr/>
        </p:nvSpPr>
        <p:spPr>
          <a:xfrm>
            <a:off x="4609948" y="5029200"/>
            <a:ext cx="2971800" cy="86868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Kalifornische Vorstadt: Autos, Häuser, Familien</a:t>
            </a:r>
            <a:endParaRPr lang="en-US" sz="1600" dirty="0"/>
          </a:p>
        </p:txBody>
      </p:sp>
      <p:sp>
        <p:nvSpPr>
          <p:cNvPr id="24" name="Shape 22"/>
          <p:cNvSpPr/>
          <p:nvPr/>
        </p:nvSpPr>
        <p:spPr>
          <a:xfrm>
            <a:off x="8122615" y="4023360"/>
            <a:ext cx="3520440" cy="2011680"/>
          </a:xfrm>
          <a:prstGeom prst="rect">
            <a:avLst/>
          </a:prstGeom>
          <a:solidFill>
            <a:schemeClr val="tx2"/>
          </a:solidFill>
          <a:ln w="12700">
            <a:solidFill>
              <a:schemeClr val="tx2"/>
            </a:solidFill>
            <a:prstDash val="solid"/>
          </a:ln>
        </p:spPr>
      </p:sp>
      <p:sp>
        <p:nvSpPr>
          <p:cNvPr id="25" name="Text 23"/>
          <p:cNvSpPr txBox="1"/>
          <p:nvPr/>
        </p:nvSpPr>
        <p:spPr>
          <a:xfrm>
            <a:off x="8396935" y="4251960"/>
            <a:ext cx="2971800" cy="411480"/>
          </a:xfrm>
          <a:prstGeom prst="rect">
            <a:avLst/>
          </a:prstGeom>
          <a:noFill/>
          <a:ln/>
        </p:spPr>
        <p:txBody>
          <a:bodyPr wrap="square" lIns="0" tIns="0" rIns="0" bIns="0" rtlCol="0" anchor="t"/>
          <a:lstStyle/>
          <a:p>
            <a:pPr indent="0" marL="0">
              <a:buNone/>
            </a:pPr>
            <a:r>
              <a:rPr lang="en-US" sz="2000" b="1" dirty="0">
                <a:solidFill>
                  <a:schemeClr val="bg1"/>
                </a:solidFill>
                <a:latin typeface="Georgia" pitchFamily="34" charset="0"/>
                <a:ea typeface="Georgia" pitchFamily="34" charset="-122"/>
                <a:cs typeface="Georgia" pitchFamily="34" charset="-120"/>
              </a:rPr>
              <a:t>Franz Gertsch</a:t>
            </a:r>
            <a:endParaRPr lang="en-US" sz="2000" dirty="0"/>
          </a:p>
        </p:txBody>
      </p:sp>
      <p:sp>
        <p:nvSpPr>
          <p:cNvPr id="26" name="Text 24"/>
          <p:cNvSpPr txBox="1"/>
          <p:nvPr/>
        </p:nvSpPr>
        <p:spPr>
          <a:xfrm>
            <a:off x="8396935" y="4681728"/>
            <a:ext cx="2971800" cy="274320"/>
          </a:xfrm>
          <a:prstGeom prst="rect">
            <a:avLst/>
          </a:prstGeom>
          <a:noFill/>
          <a:ln/>
        </p:spPr>
        <p:txBody>
          <a:bodyPr wrap="square" lIns="0" tIns="0" rIns="0" bIns="0" rtlCol="0" anchor="t"/>
          <a:lstStyle/>
          <a:p>
            <a:pPr indent="0" marL="0">
              <a:buNone/>
            </a:pPr>
            <a:r>
              <a:rPr lang="en-US" sz="1300" b="1" dirty="0">
                <a:solidFill>
                  <a:schemeClr val="accent1"/>
                </a:solidFill>
                <a:latin typeface="Arial" pitchFamily="34" charset="0"/>
                <a:ea typeface="Arial" pitchFamily="34" charset="-122"/>
                <a:cs typeface="Arial" pitchFamily="34" charset="-120"/>
              </a:rPr>
              <a:t>1930–2022 · Schweiz</a:t>
            </a:r>
            <a:endParaRPr lang="en-US" sz="1300" dirty="0"/>
          </a:p>
        </p:txBody>
      </p:sp>
      <p:sp>
        <p:nvSpPr>
          <p:cNvPr id="27" name="Text 25"/>
          <p:cNvSpPr txBox="1"/>
          <p:nvPr/>
        </p:nvSpPr>
        <p:spPr>
          <a:xfrm>
            <a:off x="8396935" y="5029200"/>
            <a:ext cx="2971800" cy="86868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Wichtigster europäischer Fotorealist; Durchbruch auf der documenta 5</a:t>
            </a:r>
            <a:endParaRPr lang="en-US" sz="16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lIns="0" tIns="0" rIns="0" bIns="0" rtlCol="0" anchor="ctr"/>
          <a:lstStyle/>
          <a:p>
            <a:pPr algn="l" indent="0" marL="0">
              <a:buNone/>
            </a:pPr>
            <a:r>
              <a:rPr lang="en-US" sz="1200" b="1" spc="300" kern="0" dirty="0">
                <a:solidFill>
                  <a:schemeClr val="accent1"/>
                </a:solidFill>
                <a:latin typeface="Arial" pitchFamily="34" charset="0"/>
                <a:ea typeface="Arial" pitchFamily="34" charset="-122"/>
                <a:cs typeface="Arial" pitchFamily="34" charset="-120"/>
              </a:rPr>
              <a:t>04 · HAUPTVERTRETER</a:t>
            </a:r>
            <a:endParaRPr lang="en-US" sz="1200" dirty="0"/>
          </a:p>
        </p:txBody>
      </p:sp>
      <p:sp>
        <p:nvSpPr>
          <p:cNvPr id="3" name="Text 0"/>
          <p:cNvSpPr/>
          <p:nvPr>
            <p:ph idx="101" type="title" hasCustomPrompt="1"/>
          </p:nvPr>
        </p:nvSpPr>
        <p:spPr>
          <a:xfrm>
            <a:off x="548640" y="694944"/>
            <a:ext cx="11094415" cy="749808"/>
          </a:xfrm>
          <a:prstGeom prst="rect">
            <a:avLst/>
          </a:prstGeom>
          <a:noFill/>
          <a:ln/>
        </p:spPr>
        <p:txBody>
          <a:bodyPr wrap="square" lIns="0" tIns="0" rIns="0" bIns="0" rtlCol="0" anchor="t"/>
          <a:lstStyle/>
          <a:p>
            <a:pPr algn="l" indent="0" marL="0">
              <a:buNone/>
            </a:pPr>
            <a:r>
              <a:rPr lang="en-US" sz="3200" b="1" dirty="0">
                <a:solidFill>
                  <a:schemeClr val="bg1"/>
                </a:solidFill>
                <a:latin typeface="Georgia" pitchFamily="34" charset="0"/>
                <a:ea typeface="Georgia" pitchFamily="34" charset="-122"/>
                <a:cs typeface="Georgia" pitchFamily="34" charset="-120"/>
              </a:rPr>
              <a:t>Hauptvertreter des Hyperrealismus</a:t>
            </a:r>
            <a:endParaRPr lang="en-US" sz="3200" dirty="0"/>
          </a:p>
        </p:txBody>
      </p:sp>
      <p:sp>
        <p:nvSpPr>
          <p:cNvPr id="4" name="Shape 2"/>
          <p:cNvSpPr/>
          <p:nvPr/>
        </p:nvSpPr>
        <p:spPr>
          <a:xfrm>
            <a:off x="548640" y="1737360"/>
            <a:ext cx="3520440" cy="2011680"/>
          </a:xfrm>
          <a:prstGeom prst="rect">
            <a:avLst/>
          </a:prstGeom>
          <a:solidFill>
            <a:schemeClr val="tx2"/>
          </a:solidFill>
          <a:ln w="12700">
            <a:solidFill>
              <a:schemeClr val="tx2"/>
            </a:solidFill>
            <a:prstDash val="solid"/>
          </a:ln>
        </p:spPr>
      </p:sp>
      <p:sp>
        <p:nvSpPr>
          <p:cNvPr id="5" name="Text 3"/>
          <p:cNvSpPr txBox="1"/>
          <p:nvPr/>
        </p:nvSpPr>
        <p:spPr>
          <a:xfrm>
            <a:off x="822960" y="1965960"/>
            <a:ext cx="2971800" cy="411480"/>
          </a:xfrm>
          <a:prstGeom prst="rect">
            <a:avLst/>
          </a:prstGeom>
          <a:noFill/>
          <a:ln/>
        </p:spPr>
        <p:txBody>
          <a:bodyPr wrap="square" lIns="0" tIns="0" rIns="0" bIns="0" rtlCol="0" anchor="t"/>
          <a:lstStyle/>
          <a:p>
            <a:pPr indent="0" marL="0">
              <a:buNone/>
            </a:pPr>
            <a:r>
              <a:rPr lang="en-US" sz="2000" b="1" dirty="0">
                <a:solidFill>
                  <a:schemeClr val="bg1"/>
                </a:solidFill>
                <a:latin typeface="Georgia" pitchFamily="34" charset="0"/>
                <a:ea typeface="Georgia" pitchFamily="34" charset="-122"/>
                <a:cs typeface="Georgia" pitchFamily="34" charset="-120"/>
              </a:rPr>
              <a:t>Duane Hanson</a:t>
            </a:r>
            <a:endParaRPr lang="en-US" sz="2000" dirty="0"/>
          </a:p>
        </p:txBody>
      </p:sp>
      <p:sp>
        <p:nvSpPr>
          <p:cNvPr id="6" name="Text 4"/>
          <p:cNvSpPr txBox="1"/>
          <p:nvPr/>
        </p:nvSpPr>
        <p:spPr>
          <a:xfrm>
            <a:off x="822960" y="2395728"/>
            <a:ext cx="2971800" cy="274320"/>
          </a:xfrm>
          <a:prstGeom prst="rect">
            <a:avLst/>
          </a:prstGeom>
          <a:noFill/>
          <a:ln/>
        </p:spPr>
        <p:txBody>
          <a:bodyPr wrap="square" lIns="0" tIns="0" rIns="0" bIns="0" rtlCol="0" anchor="t"/>
          <a:lstStyle/>
          <a:p>
            <a:pPr indent="0" marL="0">
              <a:buNone/>
            </a:pPr>
            <a:r>
              <a:rPr lang="en-US" sz="1300" b="1" dirty="0">
                <a:solidFill>
                  <a:schemeClr val="accent2"/>
                </a:solidFill>
                <a:latin typeface="Arial" pitchFamily="34" charset="0"/>
                <a:ea typeface="Arial" pitchFamily="34" charset="-122"/>
                <a:cs typeface="Arial" pitchFamily="34" charset="-120"/>
              </a:rPr>
              <a:t>1925–1996 · USA</a:t>
            </a:r>
            <a:endParaRPr lang="en-US" sz="1300" dirty="0"/>
          </a:p>
        </p:txBody>
      </p:sp>
      <p:sp>
        <p:nvSpPr>
          <p:cNvPr id="7" name="Text 5"/>
          <p:cNvSpPr txBox="1"/>
          <p:nvPr/>
        </p:nvSpPr>
        <p:spPr>
          <a:xfrm>
            <a:off x="822960" y="2743200"/>
            <a:ext cx="2971800" cy="86868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Lebensgroße Figuren aus Polyester mit echter Kleidung</a:t>
            </a:r>
            <a:endParaRPr lang="en-US" sz="1600" dirty="0"/>
          </a:p>
        </p:txBody>
      </p:sp>
      <p:sp>
        <p:nvSpPr>
          <p:cNvPr id="8" name="Shape 6"/>
          <p:cNvSpPr/>
          <p:nvPr/>
        </p:nvSpPr>
        <p:spPr>
          <a:xfrm>
            <a:off x="4335628" y="1737360"/>
            <a:ext cx="3520440" cy="2011680"/>
          </a:xfrm>
          <a:prstGeom prst="rect">
            <a:avLst/>
          </a:prstGeom>
          <a:solidFill>
            <a:schemeClr val="tx2"/>
          </a:solidFill>
          <a:ln w="12700">
            <a:solidFill>
              <a:schemeClr val="tx2"/>
            </a:solidFill>
            <a:prstDash val="solid"/>
          </a:ln>
        </p:spPr>
      </p:sp>
      <p:sp>
        <p:nvSpPr>
          <p:cNvPr id="9" name="Text 7"/>
          <p:cNvSpPr txBox="1"/>
          <p:nvPr/>
        </p:nvSpPr>
        <p:spPr>
          <a:xfrm>
            <a:off x="4609948" y="1965960"/>
            <a:ext cx="2971800" cy="411480"/>
          </a:xfrm>
          <a:prstGeom prst="rect">
            <a:avLst/>
          </a:prstGeom>
          <a:noFill/>
          <a:ln/>
        </p:spPr>
        <p:txBody>
          <a:bodyPr wrap="square" lIns="0" tIns="0" rIns="0" bIns="0" rtlCol="0" anchor="t"/>
          <a:lstStyle/>
          <a:p>
            <a:pPr indent="0" marL="0">
              <a:buNone/>
            </a:pPr>
            <a:r>
              <a:rPr lang="en-US" sz="2000" b="1" dirty="0">
                <a:solidFill>
                  <a:schemeClr val="bg1"/>
                </a:solidFill>
                <a:latin typeface="Georgia" pitchFamily="34" charset="0"/>
                <a:ea typeface="Georgia" pitchFamily="34" charset="-122"/>
                <a:cs typeface="Georgia" pitchFamily="34" charset="-120"/>
              </a:rPr>
              <a:t>John De Andrea</a:t>
            </a:r>
            <a:endParaRPr lang="en-US" sz="2000" dirty="0"/>
          </a:p>
        </p:txBody>
      </p:sp>
      <p:sp>
        <p:nvSpPr>
          <p:cNvPr id="10" name="Text 8"/>
          <p:cNvSpPr txBox="1"/>
          <p:nvPr/>
        </p:nvSpPr>
        <p:spPr>
          <a:xfrm>
            <a:off x="4609948" y="2395728"/>
            <a:ext cx="2971800" cy="274320"/>
          </a:xfrm>
          <a:prstGeom prst="rect">
            <a:avLst/>
          </a:prstGeom>
          <a:noFill/>
          <a:ln/>
        </p:spPr>
        <p:txBody>
          <a:bodyPr wrap="square" lIns="0" tIns="0" rIns="0" bIns="0" rtlCol="0" anchor="t"/>
          <a:lstStyle/>
          <a:p>
            <a:pPr indent="0" marL="0">
              <a:buNone/>
            </a:pPr>
            <a:r>
              <a:rPr lang="en-US" sz="1300" b="1" dirty="0">
                <a:solidFill>
                  <a:schemeClr val="accent2"/>
                </a:solidFill>
                <a:latin typeface="Arial" pitchFamily="34" charset="0"/>
                <a:ea typeface="Arial" pitchFamily="34" charset="-122"/>
                <a:cs typeface="Arial" pitchFamily="34" charset="-120"/>
              </a:rPr>
              <a:t>* 1941 · USA</a:t>
            </a:r>
            <a:endParaRPr lang="en-US" sz="1300" dirty="0"/>
          </a:p>
        </p:txBody>
      </p:sp>
      <p:sp>
        <p:nvSpPr>
          <p:cNvPr id="11" name="Text 9"/>
          <p:cNvSpPr txBox="1"/>
          <p:nvPr/>
        </p:nvSpPr>
        <p:spPr>
          <a:xfrm>
            <a:off x="4609948" y="2743200"/>
            <a:ext cx="2971800" cy="86868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Lebensechte Akt-Figuren aus bemaltem Kunststoff</a:t>
            </a:r>
            <a:endParaRPr lang="en-US" sz="1600" dirty="0"/>
          </a:p>
        </p:txBody>
      </p:sp>
      <p:sp>
        <p:nvSpPr>
          <p:cNvPr id="12" name="Shape 10"/>
          <p:cNvSpPr/>
          <p:nvPr/>
        </p:nvSpPr>
        <p:spPr>
          <a:xfrm>
            <a:off x="8122615" y="1737360"/>
            <a:ext cx="3520440" cy="2011680"/>
          </a:xfrm>
          <a:prstGeom prst="rect">
            <a:avLst/>
          </a:prstGeom>
          <a:solidFill>
            <a:schemeClr val="tx2"/>
          </a:solidFill>
          <a:ln w="12700">
            <a:solidFill>
              <a:schemeClr val="tx2"/>
            </a:solidFill>
            <a:prstDash val="solid"/>
          </a:ln>
        </p:spPr>
      </p:sp>
      <p:sp>
        <p:nvSpPr>
          <p:cNvPr id="13" name="Text 11"/>
          <p:cNvSpPr txBox="1"/>
          <p:nvPr/>
        </p:nvSpPr>
        <p:spPr>
          <a:xfrm>
            <a:off x="8396935" y="1965960"/>
            <a:ext cx="2971800" cy="411480"/>
          </a:xfrm>
          <a:prstGeom prst="rect">
            <a:avLst/>
          </a:prstGeom>
          <a:noFill/>
          <a:ln/>
        </p:spPr>
        <p:txBody>
          <a:bodyPr wrap="square" lIns="0" tIns="0" rIns="0" bIns="0" rtlCol="0" anchor="t"/>
          <a:lstStyle/>
          <a:p>
            <a:pPr indent="0" marL="0">
              <a:buNone/>
            </a:pPr>
            <a:r>
              <a:rPr lang="en-US" sz="2000" b="1" dirty="0">
                <a:solidFill>
                  <a:schemeClr val="bg1"/>
                </a:solidFill>
                <a:latin typeface="Georgia" pitchFamily="34" charset="0"/>
                <a:ea typeface="Georgia" pitchFamily="34" charset="-122"/>
                <a:cs typeface="Georgia" pitchFamily="34" charset="-120"/>
              </a:rPr>
              <a:t>Ron Mueck</a:t>
            </a:r>
            <a:endParaRPr lang="en-US" sz="2000" dirty="0"/>
          </a:p>
        </p:txBody>
      </p:sp>
      <p:sp>
        <p:nvSpPr>
          <p:cNvPr id="14" name="Text 12"/>
          <p:cNvSpPr txBox="1"/>
          <p:nvPr/>
        </p:nvSpPr>
        <p:spPr>
          <a:xfrm>
            <a:off x="8396935" y="2395728"/>
            <a:ext cx="2971800" cy="274320"/>
          </a:xfrm>
          <a:prstGeom prst="rect">
            <a:avLst/>
          </a:prstGeom>
          <a:noFill/>
          <a:ln/>
        </p:spPr>
        <p:txBody>
          <a:bodyPr wrap="square" lIns="0" tIns="0" rIns="0" bIns="0" rtlCol="0" anchor="t"/>
          <a:lstStyle/>
          <a:p>
            <a:pPr indent="0" marL="0">
              <a:buNone/>
            </a:pPr>
            <a:r>
              <a:rPr lang="en-US" sz="1300" b="1" dirty="0">
                <a:solidFill>
                  <a:schemeClr val="accent2"/>
                </a:solidFill>
                <a:latin typeface="Arial" pitchFamily="34" charset="0"/>
                <a:ea typeface="Arial" pitchFamily="34" charset="-122"/>
                <a:cs typeface="Arial" pitchFamily="34" charset="-120"/>
              </a:rPr>
              <a:t>* 1958 · Australien, lebt in London</a:t>
            </a:r>
            <a:endParaRPr lang="en-US" sz="1300" dirty="0"/>
          </a:p>
        </p:txBody>
      </p:sp>
      <p:sp>
        <p:nvSpPr>
          <p:cNvPr id="15" name="Text 13"/>
          <p:cNvSpPr txBox="1"/>
          <p:nvPr/>
        </p:nvSpPr>
        <p:spPr>
          <a:xfrm>
            <a:off x="8396935" y="2743200"/>
            <a:ext cx="2971800" cy="86868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Silikon-Skulpturen mit verschobenem Maßstab</a:t>
            </a:r>
            <a:endParaRPr lang="en-US" sz="1600" dirty="0"/>
          </a:p>
        </p:txBody>
      </p:sp>
      <p:sp>
        <p:nvSpPr>
          <p:cNvPr id="16" name="Shape 14"/>
          <p:cNvSpPr/>
          <p:nvPr/>
        </p:nvSpPr>
        <p:spPr>
          <a:xfrm>
            <a:off x="548640" y="4023360"/>
            <a:ext cx="3520440" cy="2011680"/>
          </a:xfrm>
          <a:prstGeom prst="rect">
            <a:avLst/>
          </a:prstGeom>
          <a:solidFill>
            <a:schemeClr val="tx2"/>
          </a:solidFill>
          <a:ln w="12700">
            <a:solidFill>
              <a:schemeClr val="tx2"/>
            </a:solidFill>
            <a:prstDash val="solid"/>
          </a:ln>
        </p:spPr>
      </p:sp>
      <p:sp>
        <p:nvSpPr>
          <p:cNvPr id="17" name="Text 15"/>
          <p:cNvSpPr txBox="1"/>
          <p:nvPr/>
        </p:nvSpPr>
        <p:spPr>
          <a:xfrm>
            <a:off x="822960" y="4251960"/>
            <a:ext cx="2971800" cy="411480"/>
          </a:xfrm>
          <a:prstGeom prst="rect">
            <a:avLst/>
          </a:prstGeom>
          <a:noFill/>
          <a:ln/>
        </p:spPr>
        <p:txBody>
          <a:bodyPr wrap="square" lIns="0" tIns="0" rIns="0" bIns="0" rtlCol="0" anchor="t"/>
          <a:lstStyle/>
          <a:p>
            <a:pPr indent="0" marL="0">
              <a:buNone/>
            </a:pPr>
            <a:r>
              <a:rPr lang="en-US" sz="2000" b="1" dirty="0">
                <a:solidFill>
                  <a:schemeClr val="bg1"/>
                </a:solidFill>
                <a:latin typeface="Georgia" pitchFamily="34" charset="0"/>
                <a:ea typeface="Georgia" pitchFamily="34" charset="-122"/>
                <a:cs typeface="Georgia" pitchFamily="34" charset="-120"/>
              </a:rPr>
              <a:t>Gottfried Helnwein</a:t>
            </a:r>
            <a:endParaRPr lang="en-US" sz="2000" dirty="0"/>
          </a:p>
        </p:txBody>
      </p:sp>
      <p:sp>
        <p:nvSpPr>
          <p:cNvPr id="18" name="Text 16"/>
          <p:cNvSpPr txBox="1"/>
          <p:nvPr/>
        </p:nvSpPr>
        <p:spPr>
          <a:xfrm>
            <a:off x="822960" y="4681728"/>
            <a:ext cx="2971800" cy="274320"/>
          </a:xfrm>
          <a:prstGeom prst="rect">
            <a:avLst/>
          </a:prstGeom>
          <a:noFill/>
          <a:ln/>
        </p:spPr>
        <p:txBody>
          <a:bodyPr wrap="square" lIns="0" tIns="0" rIns="0" bIns="0" rtlCol="0" anchor="t"/>
          <a:lstStyle/>
          <a:p>
            <a:pPr indent="0" marL="0">
              <a:buNone/>
            </a:pPr>
            <a:r>
              <a:rPr lang="en-US" sz="1300" b="1" dirty="0">
                <a:solidFill>
                  <a:schemeClr val="accent2"/>
                </a:solidFill>
                <a:latin typeface="Arial" pitchFamily="34" charset="0"/>
                <a:ea typeface="Arial" pitchFamily="34" charset="-122"/>
                <a:cs typeface="Arial" pitchFamily="34" charset="-120"/>
              </a:rPr>
              <a:t>* 1948 · Österreich/Irland</a:t>
            </a:r>
            <a:endParaRPr lang="en-US" sz="1300" dirty="0"/>
          </a:p>
        </p:txBody>
      </p:sp>
      <p:sp>
        <p:nvSpPr>
          <p:cNvPr id="19" name="Text 17"/>
          <p:cNvSpPr txBox="1"/>
          <p:nvPr/>
        </p:nvSpPr>
        <p:spPr>
          <a:xfrm>
            <a:off x="822960" y="5029200"/>
            <a:ext cx="2971800" cy="86868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Kinderbilder über Gewalt und Verletzlichkeit</a:t>
            </a:r>
            <a:endParaRPr lang="en-US" sz="1600" dirty="0"/>
          </a:p>
        </p:txBody>
      </p:sp>
      <p:sp>
        <p:nvSpPr>
          <p:cNvPr id="20" name="Shape 18"/>
          <p:cNvSpPr/>
          <p:nvPr/>
        </p:nvSpPr>
        <p:spPr>
          <a:xfrm>
            <a:off x="4335628" y="4023360"/>
            <a:ext cx="3520440" cy="2011680"/>
          </a:xfrm>
          <a:prstGeom prst="rect">
            <a:avLst/>
          </a:prstGeom>
          <a:solidFill>
            <a:schemeClr val="tx2"/>
          </a:solidFill>
          <a:ln w="12700">
            <a:solidFill>
              <a:schemeClr val="tx2"/>
            </a:solidFill>
            <a:prstDash val="solid"/>
          </a:ln>
        </p:spPr>
      </p:sp>
      <p:sp>
        <p:nvSpPr>
          <p:cNvPr id="21" name="Text 19"/>
          <p:cNvSpPr txBox="1"/>
          <p:nvPr/>
        </p:nvSpPr>
        <p:spPr>
          <a:xfrm>
            <a:off x="4609948" y="4251960"/>
            <a:ext cx="2971800" cy="411480"/>
          </a:xfrm>
          <a:prstGeom prst="rect">
            <a:avLst/>
          </a:prstGeom>
          <a:noFill/>
          <a:ln/>
        </p:spPr>
        <p:txBody>
          <a:bodyPr wrap="square" lIns="0" tIns="0" rIns="0" bIns="0" rtlCol="0" anchor="t"/>
          <a:lstStyle/>
          <a:p>
            <a:pPr indent="0" marL="0">
              <a:buNone/>
            </a:pPr>
            <a:r>
              <a:rPr lang="en-US" sz="2000" b="1" dirty="0">
                <a:solidFill>
                  <a:schemeClr val="bg1"/>
                </a:solidFill>
                <a:latin typeface="Georgia" pitchFamily="34" charset="0"/>
                <a:ea typeface="Georgia" pitchFamily="34" charset="-122"/>
                <a:cs typeface="Georgia" pitchFamily="34" charset="-120"/>
              </a:rPr>
              <a:t>Roberto Bernardi</a:t>
            </a:r>
            <a:endParaRPr lang="en-US" sz="2000" dirty="0"/>
          </a:p>
        </p:txBody>
      </p:sp>
      <p:sp>
        <p:nvSpPr>
          <p:cNvPr id="22" name="Text 20"/>
          <p:cNvSpPr txBox="1"/>
          <p:nvPr/>
        </p:nvSpPr>
        <p:spPr>
          <a:xfrm>
            <a:off x="4609948" y="4681728"/>
            <a:ext cx="2971800" cy="274320"/>
          </a:xfrm>
          <a:prstGeom prst="rect">
            <a:avLst/>
          </a:prstGeom>
          <a:noFill/>
          <a:ln/>
        </p:spPr>
        <p:txBody>
          <a:bodyPr wrap="square" lIns="0" tIns="0" rIns="0" bIns="0" rtlCol="0" anchor="t"/>
          <a:lstStyle/>
          <a:p>
            <a:pPr indent="0" marL="0">
              <a:buNone/>
            </a:pPr>
            <a:r>
              <a:rPr lang="en-US" sz="1300" b="1" dirty="0">
                <a:solidFill>
                  <a:schemeClr val="accent2"/>
                </a:solidFill>
                <a:latin typeface="Arial" pitchFamily="34" charset="0"/>
                <a:ea typeface="Arial" pitchFamily="34" charset="-122"/>
                <a:cs typeface="Arial" pitchFamily="34" charset="-120"/>
              </a:rPr>
              <a:t>* 1974 · Italien</a:t>
            </a:r>
            <a:endParaRPr lang="en-US" sz="1300" dirty="0"/>
          </a:p>
        </p:txBody>
      </p:sp>
      <p:sp>
        <p:nvSpPr>
          <p:cNvPr id="23" name="Text 21"/>
          <p:cNvSpPr txBox="1"/>
          <p:nvPr/>
        </p:nvSpPr>
        <p:spPr>
          <a:xfrm>
            <a:off x="4609948" y="5029200"/>
            <a:ext cx="2971800" cy="86868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Glas, Süßigkeiten und Spiegelungen – schärfer als ein Foto</a:t>
            </a:r>
            <a:endParaRPr lang="en-US" sz="1600" dirty="0"/>
          </a:p>
        </p:txBody>
      </p:sp>
      <p:sp>
        <p:nvSpPr>
          <p:cNvPr id="24" name="Shape 22"/>
          <p:cNvSpPr/>
          <p:nvPr/>
        </p:nvSpPr>
        <p:spPr>
          <a:xfrm>
            <a:off x="8122615" y="4023360"/>
            <a:ext cx="3520440" cy="2011680"/>
          </a:xfrm>
          <a:prstGeom prst="rect">
            <a:avLst/>
          </a:prstGeom>
          <a:solidFill>
            <a:schemeClr val="tx2"/>
          </a:solidFill>
          <a:ln w="12700">
            <a:solidFill>
              <a:schemeClr val="tx2"/>
            </a:solidFill>
            <a:prstDash val="solid"/>
          </a:ln>
        </p:spPr>
      </p:sp>
      <p:sp>
        <p:nvSpPr>
          <p:cNvPr id="25" name="Text 23"/>
          <p:cNvSpPr txBox="1"/>
          <p:nvPr/>
        </p:nvSpPr>
        <p:spPr>
          <a:xfrm>
            <a:off x="8396935" y="4251960"/>
            <a:ext cx="2971800" cy="411480"/>
          </a:xfrm>
          <a:prstGeom prst="rect">
            <a:avLst/>
          </a:prstGeom>
          <a:noFill/>
          <a:ln/>
        </p:spPr>
        <p:txBody>
          <a:bodyPr wrap="square" lIns="0" tIns="0" rIns="0" bIns="0" rtlCol="0" anchor="t"/>
          <a:lstStyle/>
          <a:p>
            <a:pPr indent="0" marL="0">
              <a:buNone/>
            </a:pPr>
            <a:r>
              <a:rPr lang="en-US" sz="2000" b="1" dirty="0">
                <a:solidFill>
                  <a:schemeClr val="bg1"/>
                </a:solidFill>
                <a:latin typeface="Georgia" pitchFamily="34" charset="0"/>
                <a:ea typeface="Georgia" pitchFamily="34" charset="-122"/>
                <a:cs typeface="Georgia" pitchFamily="34" charset="-120"/>
              </a:rPr>
              <a:t>Robin Eley</a:t>
            </a:r>
            <a:endParaRPr lang="en-US" sz="2000" dirty="0"/>
          </a:p>
        </p:txBody>
      </p:sp>
      <p:sp>
        <p:nvSpPr>
          <p:cNvPr id="26" name="Text 24"/>
          <p:cNvSpPr txBox="1"/>
          <p:nvPr/>
        </p:nvSpPr>
        <p:spPr>
          <a:xfrm>
            <a:off x="8396935" y="4681728"/>
            <a:ext cx="2971800" cy="274320"/>
          </a:xfrm>
          <a:prstGeom prst="rect">
            <a:avLst/>
          </a:prstGeom>
          <a:noFill/>
          <a:ln/>
        </p:spPr>
        <p:txBody>
          <a:bodyPr wrap="square" lIns="0" tIns="0" rIns="0" bIns="0" rtlCol="0" anchor="t"/>
          <a:lstStyle/>
          <a:p>
            <a:pPr indent="0" marL="0">
              <a:buNone/>
            </a:pPr>
            <a:r>
              <a:rPr lang="en-US" sz="1300" b="1" dirty="0">
                <a:solidFill>
                  <a:schemeClr val="accent2"/>
                </a:solidFill>
                <a:latin typeface="Arial" pitchFamily="34" charset="0"/>
                <a:ea typeface="Arial" pitchFamily="34" charset="-122"/>
                <a:cs typeface="Arial" pitchFamily="34" charset="-120"/>
              </a:rPr>
              <a:t>* 1978 · Großbritannien/Australien</a:t>
            </a:r>
            <a:endParaRPr lang="en-US" sz="1300" dirty="0"/>
          </a:p>
        </p:txBody>
      </p:sp>
      <p:sp>
        <p:nvSpPr>
          <p:cNvPr id="27" name="Text 25"/>
          <p:cNvSpPr txBox="1"/>
          <p:nvPr/>
        </p:nvSpPr>
        <p:spPr>
          <a:xfrm>
            <a:off x="8396935" y="5029200"/>
            <a:ext cx="2971800" cy="86868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Menschen in Plastikfolie – die Folie ist nur gemalt</a:t>
            </a:r>
            <a:endParaRPr lang="en-US" sz="16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lIns="0" tIns="0" rIns="0" bIns="0" rtlCol="0" anchor="ctr"/>
          <a:lstStyle/>
          <a:p>
            <a:pPr algn="l" indent="0" marL="0">
              <a:buNone/>
            </a:pPr>
            <a:r>
              <a:rPr lang="en-US" sz="1200" b="1" spc="300" kern="0" dirty="0">
                <a:solidFill>
                  <a:schemeClr val="accent1"/>
                </a:solidFill>
                <a:latin typeface="Arial" pitchFamily="34" charset="0"/>
                <a:ea typeface="Arial" pitchFamily="34" charset="-122"/>
                <a:cs typeface="Arial" pitchFamily="34" charset="-120"/>
              </a:rPr>
              <a:t>05 · WERKBEISPIELE</a:t>
            </a:r>
            <a:endParaRPr lang="en-US" sz="1200" dirty="0"/>
          </a:p>
        </p:txBody>
      </p:sp>
      <p:sp>
        <p:nvSpPr>
          <p:cNvPr id="3" name="Text 0"/>
          <p:cNvSpPr/>
          <p:nvPr>
            <p:ph idx="101" type="title" hasCustomPrompt="1"/>
          </p:nvPr>
        </p:nvSpPr>
        <p:spPr>
          <a:xfrm>
            <a:off x="548640" y="694944"/>
            <a:ext cx="11094415" cy="749808"/>
          </a:xfrm>
          <a:prstGeom prst="rect">
            <a:avLst/>
          </a:prstGeom>
          <a:noFill/>
          <a:ln/>
        </p:spPr>
        <p:txBody>
          <a:bodyPr wrap="square" lIns="0" tIns="0" rIns="0" bIns="0" rtlCol="0" anchor="t"/>
          <a:lstStyle/>
          <a:p>
            <a:pPr algn="l" indent="0" marL="0">
              <a:buNone/>
            </a:pPr>
            <a:r>
              <a:rPr lang="en-US" sz="3200" b="1" dirty="0">
                <a:solidFill>
                  <a:schemeClr val="bg1"/>
                </a:solidFill>
                <a:latin typeface="Georgia" pitchFamily="34" charset="0"/>
                <a:ea typeface="Georgia" pitchFamily="34" charset="-122"/>
                <a:cs typeface="Georgia" pitchFamily="34" charset="-120"/>
              </a:rPr>
              <a:t>Pioniere: Die Vorlage wird zum Bild</a:t>
            </a:r>
            <a:endParaRPr lang="en-US" sz="3200" dirty="0"/>
          </a:p>
        </p:txBody>
      </p:sp>
      <p:sp>
        <p:nvSpPr>
          <p:cNvPr id="4" name="Bildplatzhalter morley_amsterdam"/>
          <p:cNvSpPr/>
          <p:nvPr/>
        </p:nvSpPr>
        <p:spPr>
          <a:xfrm>
            <a:off x="640080" y="1783080"/>
            <a:ext cx="4414723" cy="3246120"/>
          </a:xfrm>
          <a:prstGeom prst="rect">
            <a:avLst/>
          </a:prstGeom>
          <a:solidFill>
            <a:schemeClr val="tx2"/>
          </a:solidFill>
          <a:ln w="12700">
            <a:solidFill>
              <a:schemeClr val="accent3"/>
            </a:solidFill>
            <a:prstDash val="dash"/>
          </a:ln>
        </p:spPr>
      </p:sp>
      <p:pic>
        <p:nvPicPr>
          <p:cNvPr id="5" name="Image 0" descr="Platzhalter-Symbol">    </p:cNvPr>
          <p:cNvPicPr>
            <a:picLocks noChangeAspect="1"/>
          </p:cNvPicPr>
          <p:nvPr/>
        </p:nvPicPr>
        <p:blipFill>
          <a:blip r:embed="rId1"/>
          <a:stretch>
            <a:fillRect/>
          </a:stretch>
        </p:blipFill>
        <p:spPr>
          <a:xfrm>
            <a:off x="2595982" y="2857500"/>
            <a:ext cx="502920" cy="502920"/>
          </a:xfrm>
          <a:prstGeom prst="rect">
            <a:avLst/>
          </a:prstGeom>
        </p:spPr>
      </p:pic>
      <p:sp>
        <p:nvSpPr>
          <p:cNvPr id="6" name="Text 3"/>
          <p:cNvSpPr txBox="1"/>
          <p:nvPr/>
        </p:nvSpPr>
        <p:spPr>
          <a:xfrm>
            <a:off x="777240" y="3424428"/>
            <a:ext cx="4140403" cy="731520"/>
          </a:xfrm>
          <a:prstGeom prst="rect">
            <a:avLst/>
          </a:prstGeom>
          <a:noFill/>
          <a:ln/>
        </p:spPr>
        <p:txBody>
          <a:bodyPr wrap="square" lIns="0" tIns="0" rIns="0" bIns="0" rtlCol="0" anchor="t">
            <a:normAutofit/>
          </a:bodyPr>
          <a:lstStyle/>
          <a:p>
            <a:pPr algn="ctr" indent="0" marL="0">
              <a:buNone/>
            </a:pPr>
            <a:r>
              <a:rPr lang="en-US" sz="1100" b="1" dirty="0">
                <a:solidFill>
                  <a:schemeClr val="accent5"/>
                </a:solidFill>
                <a:latin typeface="Arial" pitchFamily="34" charset="0"/>
                <a:ea typeface="Arial" pitchFamily="34" charset="-122"/>
                <a:cs typeface="Arial" pitchFamily="34" charset="-120"/>
              </a:rPr>
              <a:t>Abbildung einfügen</a:t>
            </a:r>
            <a:endParaRPr lang="en-US" sz="1100" dirty="0"/>
          </a:p>
          <a:p>
            <a:pPr algn="ctr" indent="0" marL="0">
              <a:buNone/>
            </a:pPr>
            <a:r>
              <a:rPr lang="en-US" sz="1100" dirty="0">
                <a:solidFill>
                  <a:schemeClr val="accent5"/>
                </a:solidFill>
                <a:latin typeface="Arial" pitchFamily="34" charset="0"/>
                <a:ea typeface="Arial" pitchFamily="34" charset="-122"/>
                <a:cs typeface="Arial" pitchFamily="34" charset="-120"/>
              </a:rPr>
              <a:t>Malcolm Morley: SS Amsterdam in Front of Rotterdam</a:t>
            </a:r>
            <a:endParaRPr lang="en-US" sz="1100" dirty="0"/>
          </a:p>
        </p:txBody>
      </p:sp>
      <p:sp>
        <p:nvSpPr>
          <p:cNvPr id="7" name="Shape 4"/>
          <p:cNvSpPr/>
          <p:nvPr/>
        </p:nvSpPr>
        <p:spPr>
          <a:xfrm>
            <a:off x="548640" y="1691640"/>
            <a:ext cx="237744" cy="0"/>
          </a:xfrm>
          <a:prstGeom prst="line">
            <a:avLst/>
          </a:prstGeom>
          <a:noFill/>
          <a:ln w="25400">
            <a:solidFill>
              <a:schemeClr val="accent1"/>
            </a:solidFill>
            <a:prstDash val="solid"/>
          </a:ln>
        </p:spPr>
      </p:sp>
      <p:sp>
        <p:nvSpPr>
          <p:cNvPr id="8" name="Shape 5"/>
          <p:cNvSpPr/>
          <p:nvPr/>
        </p:nvSpPr>
        <p:spPr>
          <a:xfrm>
            <a:off x="548640" y="1691640"/>
            <a:ext cx="0" cy="237744"/>
          </a:xfrm>
          <a:prstGeom prst="line">
            <a:avLst/>
          </a:prstGeom>
          <a:noFill/>
          <a:ln w="25400">
            <a:solidFill>
              <a:schemeClr val="accent1"/>
            </a:solidFill>
            <a:prstDash val="solid"/>
          </a:ln>
        </p:spPr>
      </p:sp>
      <p:sp>
        <p:nvSpPr>
          <p:cNvPr id="9" name="Shape 6"/>
          <p:cNvSpPr/>
          <p:nvPr/>
        </p:nvSpPr>
        <p:spPr>
          <a:xfrm>
            <a:off x="4908499" y="1691640"/>
            <a:ext cx="237744" cy="0"/>
          </a:xfrm>
          <a:prstGeom prst="line">
            <a:avLst/>
          </a:prstGeom>
          <a:noFill/>
          <a:ln w="25400">
            <a:solidFill>
              <a:schemeClr val="accent1"/>
            </a:solidFill>
            <a:prstDash val="solid"/>
          </a:ln>
        </p:spPr>
      </p:sp>
      <p:sp>
        <p:nvSpPr>
          <p:cNvPr id="10" name="Shape 7"/>
          <p:cNvSpPr/>
          <p:nvPr/>
        </p:nvSpPr>
        <p:spPr>
          <a:xfrm>
            <a:off x="5146243" y="1691640"/>
            <a:ext cx="0" cy="237744"/>
          </a:xfrm>
          <a:prstGeom prst="line">
            <a:avLst/>
          </a:prstGeom>
          <a:noFill/>
          <a:ln w="25400">
            <a:solidFill>
              <a:schemeClr val="accent1"/>
            </a:solidFill>
            <a:prstDash val="solid"/>
          </a:ln>
        </p:spPr>
      </p:sp>
      <p:sp>
        <p:nvSpPr>
          <p:cNvPr id="11" name="Shape 8"/>
          <p:cNvSpPr/>
          <p:nvPr/>
        </p:nvSpPr>
        <p:spPr>
          <a:xfrm>
            <a:off x="548640" y="5120640"/>
            <a:ext cx="237744" cy="0"/>
          </a:xfrm>
          <a:prstGeom prst="line">
            <a:avLst/>
          </a:prstGeom>
          <a:noFill/>
          <a:ln w="25400">
            <a:solidFill>
              <a:schemeClr val="accent1"/>
            </a:solidFill>
            <a:prstDash val="solid"/>
          </a:ln>
        </p:spPr>
      </p:sp>
      <p:sp>
        <p:nvSpPr>
          <p:cNvPr id="12" name="Shape 9"/>
          <p:cNvSpPr/>
          <p:nvPr/>
        </p:nvSpPr>
        <p:spPr>
          <a:xfrm>
            <a:off x="548640" y="4882896"/>
            <a:ext cx="0" cy="237744"/>
          </a:xfrm>
          <a:prstGeom prst="line">
            <a:avLst/>
          </a:prstGeom>
          <a:noFill/>
          <a:ln w="25400">
            <a:solidFill>
              <a:schemeClr val="accent1"/>
            </a:solidFill>
            <a:prstDash val="solid"/>
          </a:ln>
        </p:spPr>
      </p:sp>
      <p:sp>
        <p:nvSpPr>
          <p:cNvPr id="13" name="Shape 10"/>
          <p:cNvSpPr/>
          <p:nvPr/>
        </p:nvSpPr>
        <p:spPr>
          <a:xfrm>
            <a:off x="4908499" y="5120640"/>
            <a:ext cx="237744" cy="0"/>
          </a:xfrm>
          <a:prstGeom prst="line">
            <a:avLst/>
          </a:prstGeom>
          <a:noFill/>
          <a:ln w="25400">
            <a:solidFill>
              <a:schemeClr val="accent1"/>
            </a:solidFill>
            <a:prstDash val="solid"/>
          </a:ln>
        </p:spPr>
      </p:sp>
      <p:sp>
        <p:nvSpPr>
          <p:cNvPr id="14" name="Shape 11"/>
          <p:cNvSpPr/>
          <p:nvPr/>
        </p:nvSpPr>
        <p:spPr>
          <a:xfrm>
            <a:off x="5146243" y="4882896"/>
            <a:ext cx="0" cy="237744"/>
          </a:xfrm>
          <a:prstGeom prst="line">
            <a:avLst/>
          </a:prstGeom>
          <a:noFill/>
          <a:ln w="25400">
            <a:solidFill>
              <a:schemeClr val="accent1"/>
            </a:solidFill>
            <a:prstDash val="solid"/>
          </a:ln>
        </p:spPr>
      </p:sp>
      <p:sp>
        <p:nvSpPr>
          <p:cNvPr id="15" name="Text 12"/>
          <p:cNvSpPr txBox="1"/>
          <p:nvPr/>
        </p:nvSpPr>
        <p:spPr>
          <a:xfrm>
            <a:off x="640080" y="5257800"/>
            <a:ext cx="5135728" cy="777240"/>
          </a:xfrm>
          <a:prstGeom prst="rect">
            <a:avLst/>
          </a:prstGeom>
          <a:noFill/>
          <a:ln/>
        </p:spPr>
        <p:txBody>
          <a:bodyPr wrap="square" lIns="0" tIns="0" rIns="0" bIns="0" rtlCol="0" anchor="t"/>
          <a:lstStyle/>
          <a:p>
            <a:pPr indent="0" marL="0">
              <a:spcAft>
                <a:spcPts val="200"/>
              </a:spcAft>
              <a:buNone/>
            </a:pPr>
            <a:r>
              <a:rPr lang="en-US" sz="1300" b="1" dirty="0">
                <a:solidFill>
                  <a:schemeClr val="bg1"/>
                </a:solidFill>
                <a:latin typeface="Arial" pitchFamily="34" charset="0"/>
                <a:ea typeface="Arial" pitchFamily="34" charset="-122"/>
                <a:cs typeface="Arial" pitchFamily="34" charset="-120"/>
              </a:rPr>
              <a:t>Malcolm Morley, </a:t>
            </a:r>
            <a:pPr indent="0" marL="0">
              <a:spcAft>
                <a:spcPts val="200"/>
              </a:spcAft>
              <a:buNone/>
            </a:pPr>
            <a:r>
              <a:rPr lang="en-US" sz="1300" b="1" i="1" dirty="0">
                <a:solidFill>
                  <a:schemeClr val="bg1"/>
                </a:solidFill>
                <a:latin typeface="Arial" pitchFamily="34" charset="0"/>
                <a:ea typeface="Arial" pitchFamily="34" charset="-122"/>
                <a:cs typeface="Arial" pitchFamily="34" charset="-120"/>
              </a:rPr>
              <a:t>SS Amsterdam in Front of Rotterdam</a:t>
            </a:r>
            <a:pPr indent="0" marL="0">
              <a:spcAft>
                <a:spcPts val="200"/>
              </a:spcAft>
              <a:buNone/>
            </a:pPr>
            <a:r>
              <a:rPr lang="en-US" sz="1300" b="1" dirty="0">
                <a:solidFill>
                  <a:schemeClr val="bg1"/>
                </a:solidFill>
                <a:latin typeface="Arial" pitchFamily="34" charset="0"/>
                <a:ea typeface="Arial" pitchFamily="34" charset="-122"/>
                <a:cs typeface="Arial" pitchFamily="34" charset="-120"/>
              </a:rPr>
              <a:t> (Die „SS Amsterdam“ vor Rotterdam), 1966</a:t>
            </a:r>
            <a:endParaRPr lang="en-US" sz="1300" dirty="0"/>
          </a:p>
          <a:p>
            <a:pPr indent="0" marL="0">
              <a:spcAft>
                <a:spcPts val="200"/>
              </a:spcAft>
              <a:buNone/>
            </a:pPr>
            <a:r>
              <a:rPr lang="en-US" sz="1100" dirty="0">
                <a:solidFill>
                  <a:schemeClr val="bg2"/>
                </a:solidFill>
                <a:latin typeface="Arial" pitchFamily="34" charset="0"/>
                <a:ea typeface="Arial" pitchFamily="34" charset="-122"/>
                <a:cs typeface="Arial" pitchFamily="34" charset="-120"/>
              </a:rPr>
              <a:t>Acryl auf Leinwand, ca. 158 × 214 cm · Privatsammlung</a:t>
            </a:r>
            <a:endParaRPr lang="en-US" sz="1300" dirty="0"/>
          </a:p>
          <a:p>
            <a:pPr indent="0" marL="0">
              <a:spcAft>
                <a:spcPts val="200"/>
              </a:spcAft>
              <a:buNone/>
            </a:pPr>
            <a:r>
              <a:rPr lang="en-US" sz="1300" dirty="0">
                <a:solidFill>
                  <a:schemeClr val="accent1"/>
                </a:solidFill>
                <a:latin typeface="Arial" pitchFamily="34" charset="0"/>
                <a:ea typeface="Arial" pitchFamily="34" charset="-122"/>
                <a:cs typeface="Arial" pitchFamily="34" charset="-120"/>
              </a:rPr>
              <a:t>→ Werbebild als Vorlage – per Raster Feld für Feld übertragen</a:t>
            </a:r>
            <a:endParaRPr lang="en-US" sz="1300" dirty="0"/>
          </a:p>
        </p:txBody>
      </p:sp>
      <p:sp>
        <p:nvSpPr>
          <p:cNvPr id="16" name="Bildplatzhalter gertsch_medici"/>
          <p:cNvSpPr/>
          <p:nvPr/>
        </p:nvSpPr>
        <p:spPr>
          <a:xfrm>
            <a:off x="6415888" y="1783080"/>
            <a:ext cx="4869180" cy="3246120"/>
          </a:xfrm>
          <a:prstGeom prst="rect">
            <a:avLst/>
          </a:prstGeom>
          <a:solidFill>
            <a:schemeClr val="tx2"/>
          </a:solidFill>
          <a:ln w="12700">
            <a:solidFill>
              <a:schemeClr val="accent3"/>
            </a:solidFill>
            <a:prstDash val="dash"/>
          </a:ln>
        </p:spPr>
      </p:sp>
      <p:pic>
        <p:nvPicPr>
          <p:cNvPr id="17" name="Image 1" descr="Platzhalter-Symbol">    </p:cNvPr>
          <p:cNvPicPr>
            <a:picLocks noChangeAspect="1"/>
          </p:cNvPicPr>
          <p:nvPr/>
        </p:nvPicPr>
        <p:blipFill>
          <a:blip r:embed="rId2"/>
          <a:stretch>
            <a:fillRect/>
          </a:stretch>
        </p:blipFill>
        <p:spPr>
          <a:xfrm>
            <a:off x="8599018" y="2857500"/>
            <a:ext cx="502920" cy="502920"/>
          </a:xfrm>
          <a:prstGeom prst="rect">
            <a:avLst/>
          </a:prstGeom>
        </p:spPr>
      </p:pic>
      <p:sp>
        <p:nvSpPr>
          <p:cNvPr id="18" name="Text 14"/>
          <p:cNvSpPr txBox="1"/>
          <p:nvPr/>
        </p:nvSpPr>
        <p:spPr>
          <a:xfrm>
            <a:off x="6553048" y="3424428"/>
            <a:ext cx="4594860" cy="731520"/>
          </a:xfrm>
          <a:prstGeom prst="rect">
            <a:avLst/>
          </a:prstGeom>
          <a:noFill/>
          <a:ln/>
        </p:spPr>
        <p:txBody>
          <a:bodyPr wrap="square" lIns="0" tIns="0" rIns="0" bIns="0" rtlCol="0" anchor="t">
            <a:normAutofit/>
          </a:bodyPr>
          <a:lstStyle/>
          <a:p>
            <a:pPr algn="ctr" indent="0" marL="0">
              <a:buNone/>
            </a:pPr>
            <a:r>
              <a:rPr lang="en-US" sz="1100" b="1" dirty="0">
                <a:solidFill>
                  <a:schemeClr val="accent5"/>
                </a:solidFill>
                <a:latin typeface="Arial" pitchFamily="34" charset="0"/>
                <a:ea typeface="Arial" pitchFamily="34" charset="-122"/>
                <a:cs typeface="Arial" pitchFamily="34" charset="-120"/>
              </a:rPr>
              <a:t>Abbildung einfügen</a:t>
            </a:r>
            <a:endParaRPr lang="en-US" sz="1100" dirty="0"/>
          </a:p>
          <a:p>
            <a:pPr algn="ctr" indent="0" marL="0">
              <a:buNone/>
            </a:pPr>
            <a:r>
              <a:rPr lang="en-US" sz="1100" dirty="0">
                <a:solidFill>
                  <a:schemeClr val="accent5"/>
                </a:solidFill>
                <a:latin typeface="Arial" pitchFamily="34" charset="0"/>
                <a:ea typeface="Arial" pitchFamily="34" charset="-122"/>
                <a:cs typeface="Arial" pitchFamily="34" charset="-120"/>
              </a:rPr>
              <a:t>Franz Gertsch: Medici</a:t>
            </a:r>
            <a:endParaRPr lang="en-US" sz="1100" dirty="0"/>
          </a:p>
        </p:txBody>
      </p:sp>
      <p:sp>
        <p:nvSpPr>
          <p:cNvPr id="19" name="Shape 15"/>
          <p:cNvSpPr/>
          <p:nvPr/>
        </p:nvSpPr>
        <p:spPr>
          <a:xfrm>
            <a:off x="6324448" y="1691640"/>
            <a:ext cx="237744" cy="0"/>
          </a:xfrm>
          <a:prstGeom prst="line">
            <a:avLst/>
          </a:prstGeom>
          <a:noFill/>
          <a:ln w="25400">
            <a:solidFill>
              <a:schemeClr val="accent1"/>
            </a:solidFill>
            <a:prstDash val="solid"/>
          </a:ln>
        </p:spPr>
      </p:sp>
      <p:sp>
        <p:nvSpPr>
          <p:cNvPr id="20" name="Shape 16"/>
          <p:cNvSpPr/>
          <p:nvPr/>
        </p:nvSpPr>
        <p:spPr>
          <a:xfrm>
            <a:off x="6324448" y="1691640"/>
            <a:ext cx="0" cy="237744"/>
          </a:xfrm>
          <a:prstGeom prst="line">
            <a:avLst/>
          </a:prstGeom>
          <a:noFill/>
          <a:ln w="25400">
            <a:solidFill>
              <a:schemeClr val="accent1"/>
            </a:solidFill>
            <a:prstDash val="solid"/>
          </a:ln>
        </p:spPr>
      </p:sp>
      <p:sp>
        <p:nvSpPr>
          <p:cNvPr id="21" name="Shape 17"/>
          <p:cNvSpPr/>
          <p:nvPr/>
        </p:nvSpPr>
        <p:spPr>
          <a:xfrm>
            <a:off x="11138764" y="1691640"/>
            <a:ext cx="237744" cy="0"/>
          </a:xfrm>
          <a:prstGeom prst="line">
            <a:avLst/>
          </a:prstGeom>
          <a:noFill/>
          <a:ln w="25400">
            <a:solidFill>
              <a:schemeClr val="accent1"/>
            </a:solidFill>
            <a:prstDash val="solid"/>
          </a:ln>
        </p:spPr>
      </p:sp>
      <p:sp>
        <p:nvSpPr>
          <p:cNvPr id="22" name="Shape 18"/>
          <p:cNvSpPr/>
          <p:nvPr/>
        </p:nvSpPr>
        <p:spPr>
          <a:xfrm>
            <a:off x="11376508" y="1691640"/>
            <a:ext cx="0" cy="237744"/>
          </a:xfrm>
          <a:prstGeom prst="line">
            <a:avLst/>
          </a:prstGeom>
          <a:noFill/>
          <a:ln w="25400">
            <a:solidFill>
              <a:schemeClr val="accent1"/>
            </a:solidFill>
            <a:prstDash val="solid"/>
          </a:ln>
        </p:spPr>
      </p:sp>
      <p:sp>
        <p:nvSpPr>
          <p:cNvPr id="23" name="Shape 19"/>
          <p:cNvSpPr/>
          <p:nvPr/>
        </p:nvSpPr>
        <p:spPr>
          <a:xfrm>
            <a:off x="6324448" y="5120640"/>
            <a:ext cx="237744" cy="0"/>
          </a:xfrm>
          <a:prstGeom prst="line">
            <a:avLst/>
          </a:prstGeom>
          <a:noFill/>
          <a:ln w="25400">
            <a:solidFill>
              <a:schemeClr val="accent1"/>
            </a:solidFill>
            <a:prstDash val="solid"/>
          </a:ln>
        </p:spPr>
      </p:sp>
      <p:sp>
        <p:nvSpPr>
          <p:cNvPr id="24" name="Shape 20"/>
          <p:cNvSpPr/>
          <p:nvPr/>
        </p:nvSpPr>
        <p:spPr>
          <a:xfrm>
            <a:off x="6324448" y="4882896"/>
            <a:ext cx="0" cy="237744"/>
          </a:xfrm>
          <a:prstGeom prst="line">
            <a:avLst/>
          </a:prstGeom>
          <a:noFill/>
          <a:ln w="25400">
            <a:solidFill>
              <a:schemeClr val="accent1"/>
            </a:solidFill>
            <a:prstDash val="solid"/>
          </a:ln>
        </p:spPr>
      </p:sp>
      <p:sp>
        <p:nvSpPr>
          <p:cNvPr id="25" name="Shape 21"/>
          <p:cNvSpPr/>
          <p:nvPr/>
        </p:nvSpPr>
        <p:spPr>
          <a:xfrm>
            <a:off x="11138764" y="5120640"/>
            <a:ext cx="237744" cy="0"/>
          </a:xfrm>
          <a:prstGeom prst="line">
            <a:avLst/>
          </a:prstGeom>
          <a:noFill/>
          <a:ln w="25400">
            <a:solidFill>
              <a:schemeClr val="accent1"/>
            </a:solidFill>
            <a:prstDash val="solid"/>
          </a:ln>
        </p:spPr>
      </p:sp>
      <p:sp>
        <p:nvSpPr>
          <p:cNvPr id="26" name="Shape 22"/>
          <p:cNvSpPr/>
          <p:nvPr/>
        </p:nvSpPr>
        <p:spPr>
          <a:xfrm>
            <a:off x="11376508" y="4882896"/>
            <a:ext cx="0" cy="237744"/>
          </a:xfrm>
          <a:prstGeom prst="line">
            <a:avLst/>
          </a:prstGeom>
          <a:noFill/>
          <a:ln w="25400">
            <a:solidFill>
              <a:schemeClr val="accent1"/>
            </a:solidFill>
            <a:prstDash val="solid"/>
          </a:ln>
        </p:spPr>
      </p:sp>
      <p:sp>
        <p:nvSpPr>
          <p:cNvPr id="27" name="Text 23"/>
          <p:cNvSpPr txBox="1"/>
          <p:nvPr/>
        </p:nvSpPr>
        <p:spPr>
          <a:xfrm>
            <a:off x="6415888" y="5257800"/>
            <a:ext cx="5135728" cy="777240"/>
          </a:xfrm>
          <a:prstGeom prst="rect">
            <a:avLst/>
          </a:prstGeom>
          <a:noFill/>
          <a:ln/>
        </p:spPr>
        <p:txBody>
          <a:bodyPr wrap="square" lIns="0" tIns="0" rIns="0" bIns="0" rtlCol="0" anchor="t"/>
          <a:lstStyle/>
          <a:p>
            <a:pPr indent="0" marL="0">
              <a:spcAft>
                <a:spcPts val="200"/>
              </a:spcAft>
              <a:buNone/>
            </a:pPr>
            <a:r>
              <a:rPr lang="en-US" sz="1300" b="1" dirty="0">
                <a:solidFill>
                  <a:schemeClr val="bg1"/>
                </a:solidFill>
                <a:latin typeface="Arial" pitchFamily="34" charset="0"/>
                <a:ea typeface="Arial" pitchFamily="34" charset="-122"/>
                <a:cs typeface="Arial" pitchFamily="34" charset="-120"/>
              </a:rPr>
              <a:t>Franz Gertsch, </a:t>
            </a:r>
            <a:pPr indent="0" marL="0">
              <a:spcAft>
                <a:spcPts val="200"/>
              </a:spcAft>
              <a:buNone/>
            </a:pPr>
            <a:r>
              <a:rPr lang="en-US" sz="1300" b="1" i="1" dirty="0">
                <a:solidFill>
                  <a:schemeClr val="bg1"/>
                </a:solidFill>
                <a:latin typeface="Arial" pitchFamily="34" charset="0"/>
                <a:ea typeface="Arial" pitchFamily="34" charset="-122"/>
                <a:cs typeface="Arial" pitchFamily="34" charset="-120"/>
              </a:rPr>
              <a:t>Medici</a:t>
            </a:r>
            <a:pPr indent="0" marL="0">
              <a:spcAft>
                <a:spcPts val="200"/>
              </a:spcAft>
              <a:buNone/>
            </a:pPr>
            <a:r>
              <a:rPr lang="en-US" sz="1300" b="1" dirty="0">
                <a:solidFill>
                  <a:schemeClr val="bg1"/>
                </a:solidFill>
                <a:latin typeface="Arial" pitchFamily="34" charset="0"/>
                <a:ea typeface="Arial" pitchFamily="34" charset="-122"/>
                <a:cs typeface="Arial" pitchFamily="34" charset="-120"/>
              </a:rPr>
              <a:t>, 1971/72</a:t>
            </a:r>
            <a:endParaRPr lang="en-US" sz="1300" dirty="0"/>
          </a:p>
          <a:p>
            <a:pPr indent="0" marL="0">
              <a:spcAft>
                <a:spcPts val="200"/>
              </a:spcAft>
              <a:buNone/>
            </a:pPr>
            <a:r>
              <a:rPr lang="en-US" sz="1100" dirty="0">
                <a:solidFill>
                  <a:schemeClr val="bg2"/>
                </a:solidFill>
                <a:latin typeface="Arial" pitchFamily="34" charset="0"/>
                <a:ea typeface="Arial" pitchFamily="34" charset="-122"/>
                <a:cs typeface="Arial" pitchFamily="34" charset="-120"/>
              </a:rPr>
              <a:t>Dispersion auf ungrundiertem Halbleinen, 400 × 600 cm · Ludwig Forum für Internationale Kunst, Aachen</a:t>
            </a:r>
            <a:endParaRPr lang="en-US" sz="1300" dirty="0"/>
          </a:p>
          <a:p>
            <a:pPr indent="0" marL="0">
              <a:spcAft>
                <a:spcPts val="200"/>
              </a:spcAft>
              <a:buNone/>
            </a:pPr>
            <a:r>
              <a:rPr lang="en-US" sz="1300" dirty="0">
                <a:solidFill>
                  <a:schemeClr val="accent1"/>
                </a:solidFill>
                <a:latin typeface="Arial" pitchFamily="34" charset="0"/>
                <a:ea typeface="Arial" pitchFamily="34" charset="-122"/>
                <a:cs typeface="Arial" pitchFamily="34" charset="-120"/>
              </a:rPr>
              <a:t>→ 4 × 6 m nach einem Schnappschuss – Durchbruch auf der documenta 5</a:t>
            </a:r>
            <a:endParaRPr lang="en-US" sz="13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lIns="0" tIns="0" rIns="0" bIns="0" rtlCol="0" anchor="ctr"/>
          <a:lstStyle/>
          <a:p>
            <a:pPr algn="l" indent="0" marL="0">
              <a:buNone/>
            </a:pPr>
            <a:r>
              <a:rPr lang="en-US" sz="1200" b="1" spc="300" kern="0" dirty="0">
                <a:solidFill>
                  <a:schemeClr val="accent1"/>
                </a:solidFill>
                <a:latin typeface="Arial" pitchFamily="34" charset="0"/>
                <a:ea typeface="Arial" pitchFamily="34" charset="-122"/>
                <a:cs typeface="Arial" pitchFamily="34" charset="-120"/>
              </a:rPr>
              <a:t>05 · WERKBEISPIELE</a:t>
            </a:r>
            <a:endParaRPr lang="en-US" sz="1200" dirty="0"/>
          </a:p>
        </p:txBody>
      </p:sp>
      <p:sp>
        <p:nvSpPr>
          <p:cNvPr id="3" name="Text 0"/>
          <p:cNvSpPr/>
          <p:nvPr>
            <p:ph idx="101" type="title" hasCustomPrompt="1"/>
          </p:nvPr>
        </p:nvSpPr>
        <p:spPr>
          <a:xfrm>
            <a:off x="548640" y="694944"/>
            <a:ext cx="11094415" cy="749808"/>
          </a:xfrm>
          <a:prstGeom prst="rect">
            <a:avLst/>
          </a:prstGeom>
          <a:noFill/>
          <a:ln/>
        </p:spPr>
        <p:txBody>
          <a:bodyPr wrap="square" lIns="0" tIns="0" rIns="0" bIns="0" rtlCol="0" anchor="t"/>
          <a:lstStyle/>
          <a:p>
            <a:pPr algn="l" indent="0" marL="0">
              <a:buNone/>
            </a:pPr>
            <a:r>
              <a:rPr lang="en-US" sz="3200" b="1" dirty="0">
                <a:solidFill>
                  <a:schemeClr val="bg1"/>
                </a:solidFill>
                <a:latin typeface="Georgia" pitchFamily="34" charset="0"/>
                <a:ea typeface="Georgia" pitchFamily="34" charset="-122"/>
                <a:cs typeface="Georgia" pitchFamily="34" charset="-120"/>
              </a:rPr>
              <a:t>Amerikanischer Alltag: Auto und Schaufenster</a:t>
            </a:r>
            <a:endParaRPr lang="en-US" sz="3200" dirty="0"/>
          </a:p>
        </p:txBody>
      </p:sp>
      <p:sp>
        <p:nvSpPr>
          <p:cNvPr id="4" name="Bildplatzhalter bechtle_pontiac"/>
          <p:cNvSpPr/>
          <p:nvPr/>
        </p:nvSpPr>
        <p:spPr>
          <a:xfrm>
            <a:off x="640080" y="1783080"/>
            <a:ext cx="4577029" cy="3246120"/>
          </a:xfrm>
          <a:prstGeom prst="rect">
            <a:avLst/>
          </a:prstGeom>
          <a:solidFill>
            <a:schemeClr val="tx2"/>
          </a:solidFill>
          <a:ln w="12700">
            <a:solidFill>
              <a:schemeClr val="accent3"/>
            </a:solidFill>
            <a:prstDash val="dash"/>
          </a:ln>
        </p:spPr>
      </p:sp>
      <p:pic>
        <p:nvPicPr>
          <p:cNvPr id="5" name="Image 0" descr="Platzhalter-Symbol">    </p:cNvPr>
          <p:cNvPicPr>
            <a:picLocks noChangeAspect="1"/>
          </p:cNvPicPr>
          <p:nvPr/>
        </p:nvPicPr>
        <p:blipFill>
          <a:blip r:embed="rId1"/>
          <a:stretch>
            <a:fillRect/>
          </a:stretch>
        </p:blipFill>
        <p:spPr>
          <a:xfrm>
            <a:off x="2677135" y="2857500"/>
            <a:ext cx="502920" cy="502920"/>
          </a:xfrm>
          <a:prstGeom prst="rect">
            <a:avLst/>
          </a:prstGeom>
        </p:spPr>
      </p:pic>
      <p:sp>
        <p:nvSpPr>
          <p:cNvPr id="6" name="Text 3"/>
          <p:cNvSpPr txBox="1"/>
          <p:nvPr/>
        </p:nvSpPr>
        <p:spPr>
          <a:xfrm>
            <a:off x="777240" y="3424428"/>
            <a:ext cx="4302709" cy="731520"/>
          </a:xfrm>
          <a:prstGeom prst="rect">
            <a:avLst/>
          </a:prstGeom>
          <a:noFill/>
          <a:ln/>
        </p:spPr>
        <p:txBody>
          <a:bodyPr wrap="square" lIns="0" tIns="0" rIns="0" bIns="0" rtlCol="0" anchor="t">
            <a:normAutofit/>
          </a:bodyPr>
          <a:lstStyle/>
          <a:p>
            <a:pPr algn="ctr" indent="0" marL="0">
              <a:buNone/>
            </a:pPr>
            <a:r>
              <a:rPr lang="en-US" sz="1100" b="1" dirty="0">
                <a:solidFill>
                  <a:schemeClr val="accent5"/>
                </a:solidFill>
                <a:latin typeface="Arial" pitchFamily="34" charset="0"/>
                <a:ea typeface="Arial" pitchFamily="34" charset="-122"/>
                <a:cs typeface="Arial" pitchFamily="34" charset="-120"/>
              </a:rPr>
              <a:t>Abbildung einfügen</a:t>
            </a:r>
            <a:endParaRPr lang="en-US" sz="1100" dirty="0"/>
          </a:p>
          <a:p>
            <a:pPr algn="ctr" indent="0" marL="0">
              <a:buNone/>
            </a:pPr>
            <a:r>
              <a:rPr lang="en-US" sz="1100" dirty="0">
                <a:solidFill>
                  <a:schemeClr val="accent5"/>
                </a:solidFill>
                <a:latin typeface="Arial" pitchFamily="34" charset="0"/>
                <a:ea typeface="Arial" pitchFamily="34" charset="-122"/>
                <a:cs typeface="Arial" pitchFamily="34" charset="-120"/>
              </a:rPr>
              <a:t>Robert Bechtle: ’61 Pontiac</a:t>
            </a:r>
            <a:endParaRPr lang="en-US" sz="1100" dirty="0"/>
          </a:p>
        </p:txBody>
      </p:sp>
      <p:sp>
        <p:nvSpPr>
          <p:cNvPr id="7" name="Shape 4"/>
          <p:cNvSpPr/>
          <p:nvPr/>
        </p:nvSpPr>
        <p:spPr>
          <a:xfrm>
            <a:off x="548640" y="1691640"/>
            <a:ext cx="237744" cy="0"/>
          </a:xfrm>
          <a:prstGeom prst="line">
            <a:avLst/>
          </a:prstGeom>
          <a:noFill/>
          <a:ln w="25400">
            <a:solidFill>
              <a:schemeClr val="accent1"/>
            </a:solidFill>
            <a:prstDash val="solid"/>
          </a:ln>
        </p:spPr>
      </p:sp>
      <p:sp>
        <p:nvSpPr>
          <p:cNvPr id="8" name="Shape 5"/>
          <p:cNvSpPr/>
          <p:nvPr/>
        </p:nvSpPr>
        <p:spPr>
          <a:xfrm>
            <a:off x="548640" y="1691640"/>
            <a:ext cx="0" cy="237744"/>
          </a:xfrm>
          <a:prstGeom prst="line">
            <a:avLst/>
          </a:prstGeom>
          <a:noFill/>
          <a:ln w="25400">
            <a:solidFill>
              <a:schemeClr val="accent1"/>
            </a:solidFill>
            <a:prstDash val="solid"/>
          </a:ln>
        </p:spPr>
      </p:sp>
      <p:sp>
        <p:nvSpPr>
          <p:cNvPr id="9" name="Shape 6"/>
          <p:cNvSpPr/>
          <p:nvPr/>
        </p:nvSpPr>
        <p:spPr>
          <a:xfrm>
            <a:off x="5070805" y="1691640"/>
            <a:ext cx="237744" cy="0"/>
          </a:xfrm>
          <a:prstGeom prst="line">
            <a:avLst/>
          </a:prstGeom>
          <a:noFill/>
          <a:ln w="25400">
            <a:solidFill>
              <a:schemeClr val="accent1"/>
            </a:solidFill>
            <a:prstDash val="solid"/>
          </a:ln>
        </p:spPr>
      </p:sp>
      <p:sp>
        <p:nvSpPr>
          <p:cNvPr id="10" name="Shape 7"/>
          <p:cNvSpPr/>
          <p:nvPr/>
        </p:nvSpPr>
        <p:spPr>
          <a:xfrm>
            <a:off x="5308549" y="1691640"/>
            <a:ext cx="0" cy="237744"/>
          </a:xfrm>
          <a:prstGeom prst="line">
            <a:avLst/>
          </a:prstGeom>
          <a:noFill/>
          <a:ln w="25400">
            <a:solidFill>
              <a:schemeClr val="accent1"/>
            </a:solidFill>
            <a:prstDash val="solid"/>
          </a:ln>
        </p:spPr>
      </p:sp>
      <p:sp>
        <p:nvSpPr>
          <p:cNvPr id="11" name="Shape 8"/>
          <p:cNvSpPr/>
          <p:nvPr/>
        </p:nvSpPr>
        <p:spPr>
          <a:xfrm>
            <a:off x="548640" y="5120640"/>
            <a:ext cx="237744" cy="0"/>
          </a:xfrm>
          <a:prstGeom prst="line">
            <a:avLst/>
          </a:prstGeom>
          <a:noFill/>
          <a:ln w="25400">
            <a:solidFill>
              <a:schemeClr val="accent1"/>
            </a:solidFill>
            <a:prstDash val="solid"/>
          </a:ln>
        </p:spPr>
      </p:sp>
      <p:sp>
        <p:nvSpPr>
          <p:cNvPr id="12" name="Shape 9"/>
          <p:cNvSpPr/>
          <p:nvPr/>
        </p:nvSpPr>
        <p:spPr>
          <a:xfrm>
            <a:off x="548640" y="4882896"/>
            <a:ext cx="0" cy="237744"/>
          </a:xfrm>
          <a:prstGeom prst="line">
            <a:avLst/>
          </a:prstGeom>
          <a:noFill/>
          <a:ln w="25400">
            <a:solidFill>
              <a:schemeClr val="accent1"/>
            </a:solidFill>
            <a:prstDash val="solid"/>
          </a:ln>
        </p:spPr>
      </p:sp>
      <p:sp>
        <p:nvSpPr>
          <p:cNvPr id="13" name="Shape 10"/>
          <p:cNvSpPr/>
          <p:nvPr/>
        </p:nvSpPr>
        <p:spPr>
          <a:xfrm>
            <a:off x="5070805" y="5120640"/>
            <a:ext cx="237744" cy="0"/>
          </a:xfrm>
          <a:prstGeom prst="line">
            <a:avLst/>
          </a:prstGeom>
          <a:noFill/>
          <a:ln w="25400">
            <a:solidFill>
              <a:schemeClr val="accent1"/>
            </a:solidFill>
            <a:prstDash val="solid"/>
          </a:ln>
        </p:spPr>
      </p:sp>
      <p:sp>
        <p:nvSpPr>
          <p:cNvPr id="14" name="Shape 11"/>
          <p:cNvSpPr/>
          <p:nvPr/>
        </p:nvSpPr>
        <p:spPr>
          <a:xfrm>
            <a:off x="5308549" y="4882896"/>
            <a:ext cx="0" cy="237744"/>
          </a:xfrm>
          <a:prstGeom prst="line">
            <a:avLst/>
          </a:prstGeom>
          <a:noFill/>
          <a:ln w="25400">
            <a:solidFill>
              <a:schemeClr val="accent1"/>
            </a:solidFill>
            <a:prstDash val="solid"/>
          </a:ln>
        </p:spPr>
      </p:sp>
      <p:sp>
        <p:nvSpPr>
          <p:cNvPr id="15" name="Text 12"/>
          <p:cNvSpPr txBox="1"/>
          <p:nvPr/>
        </p:nvSpPr>
        <p:spPr>
          <a:xfrm>
            <a:off x="640080" y="5257800"/>
            <a:ext cx="5135728" cy="777240"/>
          </a:xfrm>
          <a:prstGeom prst="rect">
            <a:avLst/>
          </a:prstGeom>
          <a:noFill/>
          <a:ln/>
        </p:spPr>
        <p:txBody>
          <a:bodyPr wrap="square" lIns="0" tIns="0" rIns="0" bIns="0" rtlCol="0" anchor="t"/>
          <a:lstStyle/>
          <a:p>
            <a:pPr indent="0" marL="0">
              <a:spcAft>
                <a:spcPts val="200"/>
              </a:spcAft>
              <a:buNone/>
            </a:pPr>
            <a:r>
              <a:rPr lang="en-US" sz="1300" b="1" dirty="0">
                <a:solidFill>
                  <a:schemeClr val="bg1"/>
                </a:solidFill>
                <a:latin typeface="Arial" pitchFamily="34" charset="0"/>
                <a:ea typeface="Arial" pitchFamily="34" charset="-122"/>
                <a:cs typeface="Arial" pitchFamily="34" charset="-120"/>
              </a:rPr>
              <a:t>Robert Bechtle, </a:t>
            </a:r>
            <a:pPr indent="0" marL="0">
              <a:spcAft>
                <a:spcPts val="200"/>
              </a:spcAft>
              <a:buNone/>
            </a:pPr>
            <a:r>
              <a:rPr lang="en-US" sz="1300" b="1" i="1" dirty="0">
                <a:solidFill>
                  <a:schemeClr val="bg1"/>
                </a:solidFill>
                <a:latin typeface="Arial" pitchFamily="34" charset="0"/>
                <a:ea typeface="Arial" pitchFamily="34" charset="-122"/>
                <a:cs typeface="Arial" pitchFamily="34" charset="-120"/>
              </a:rPr>
              <a:t>’61 Pontiac</a:t>
            </a:r>
            <a:pPr indent="0" marL="0">
              <a:spcAft>
                <a:spcPts val="200"/>
              </a:spcAft>
              <a:buNone/>
            </a:pPr>
            <a:r>
              <a:rPr lang="en-US" sz="1300" b="1" dirty="0">
                <a:solidFill>
                  <a:schemeClr val="bg1"/>
                </a:solidFill>
                <a:latin typeface="Arial" pitchFamily="34" charset="0"/>
                <a:ea typeface="Arial" pitchFamily="34" charset="-122"/>
                <a:cs typeface="Arial" pitchFamily="34" charset="-120"/>
              </a:rPr>
              <a:t>, 1968–69</a:t>
            </a:r>
            <a:endParaRPr lang="en-US" sz="1300" dirty="0"/>
          </a:p>
          <a:p>
            <a:pPr indent="0" marL="0">
              <a:spcAft>
                <a:spcPts val="200"/>
              </a:spcAft>
              <a:buNone/>
            </a:pPr>
            <a:r>
              <a:rPr lang="en-US" sz="1100" dirty="0">
                <a:solidFill>
                  <a:schemeClr val="bg2"/>
                </a:solidFill>
                <a:latin typeface="Arial" pitchFamily="34" charset="0"/>
                <a:ea typeface="Arial" pitchFamily="34" charset="-122"/>
                <a:cs typeface="Arial" pitchFamily="34" charset="-120"/>
              </a:rPr>
              <a:t>Öl auf Leinwand, 151,8 × 214 cm · Whitney Museum of American Art, New York</a:t>
            </a:r>
            <a:endParaRPr lang="en-US" sz="1300" dirty="0"/>
          </a:p>
          <a:p>
            <a:pPr indent="0" marL="0">
              <a:spcAft>
                <a:spcPts val="200"/>
              </a:spcAft>
              <a:buNone/>
            </a:pPr>
            <a:r>
              <a:rPr lang="en-US" sz="1300" dirty="0">
                <a:solidFill>
                  <a:schemeClr val="accent1"/>
                </a:solidFill>
                <a:latin typeface="Arial" pitchFamily="34" charset="0"/>
                <a:ea typeface="Arial" pitchFamily="34" charset="-122"/>
                <a:cs typeface="Arial" pitchFamily="34" charset="-120"/>
              </a:rPr>
              <a:t>→ Familienschnappschuss als Vorlage – Chrom und Lack glänzen</a:t>
            </a:r>
            <a:endParaRPr lang="en-US" sz="1300" dirty="0"/>
          </a:p>
        </p:txBody>
      </p:sp>
      <p:sp>
        <p:nvSpPr>
          <p:cNvPr id="16" name="Bildplatzhalter eddy_shoes"/>
          <p:cNvSpPr/>
          <p:nvPr/>
        </p:nvSpPr>
        <p:spPr>
          <a:xfrm>
            <a:off x="6415888" y="1783080"/>
            <a:ext cx="3538271" cy="3246120"/>
          </a:xfrm>
          <a:prstGeom prst="rect">
            <a:avLst/>
          </a:prstGeom>
          <a:solidFill>
            <a:schemeClr val="tx2"/>
          </a:solidFill>
          <a:ln w="12700">
            <a:solidFill>
              <a:schemeClr val="accent3"/>
            </a:solidFill>
            <a:prstDash val="dash"/>
          </a:ln>
        </p:spPr>
      </p:sp>
      <p:pic>
        <p:nvPicPr>
          <p:cNvPr id="17" name="Image 1" descr="Platzhalter-Symbol">    </p:cNvPr>
          <p:cNvPicPr>
            <a:picLocks noChangeAspect="1"/>
          </p:cNvPicPr>
          <p:nvPr/>
        </p:nvPicPr>
        <p:blipFill>
          <a:blip r:embed="rId2"/>
          <a:stretch>
            <a:fillRect/>
          </a:stretch>
        </p:blipFill>
        <p:spPr>
          <a:xfrm>
            <a:off x="7933563" y="2857500"/>
            <a:ext cx="502920" cy="502920"/>
          </a:xfrm>
          <a:prstGeom prst="rect">
            <a:avLst/>
          </a:prstGeom>
        </p:spPr>
      </p:pic>
      <p:sp>
        <p:nvSpPr>
          <p:cNvPr id="18" name="Text 14"/>
          <p:cNvSpPr txBox="1"/>
          <p:nvPr/>
        </p:nvSpPr>
        <p:spPr>
          <a:xfrm>
            <a:off x="6553048" y="3424428"/>
            <a:ext cx="3263951" cy="731520"/>
          </a:xfrm>
          <a:prstGeom prst="rect">
            <a:avLst/>
          </a:prstGeom>
          <a:noFill/>
          <a:ln/>
        </p:spPr>
        <p:txBody>
          <a:bodyPr wrap="square" lIns="0" tIns="0" rIns="0" bIns="0" rtlCol="0" anchor="t">
            <a:normAutofit/>
          </a:bodyPr>
          <a:lstStyle/>
          <a:p>
            <a:pPr algn="ctr" indent="0" marL="0">
              <a:buNone/>
            </a:pPr>
            <a:r>
              <a:rPr lang="en-US" sz="1100" b="1" dirty="0">
                <a:solidFill>
                  <a:schemeClr val="accent5"/>
                </a:solidFill>
                <a:latin typeface="Arial" pitchFamily="34" charset="0"/>
                <a:ea typeface="Arial" pitchFamily="34" charset="-122"/>
                <a:cs typeface="Arial" pitchFamily="34" charset="-120"/>
              </a:rPr>
              <a:t>Abbildung einfügen</a:t>
            </a:r>
            <a:endParaRPr lang="en-US" sz="1100" dirty="0"/>
          </a:p>
          <a:p>
            <a:pPr algn="ctr" indent="0" marL="0">
              <a:buNone/>
            </a:pPr>
            <a:r>
              <a:rPr lang="en-US" sz="1100" dirty="0">
                <a:solidFill>
                  <a:schemeClr val="accent5"/>
                </a:solidFill>
                <a:latin typeface="Arial" pitchFamily="34" charset="0"/>
                <a:ea typeface="Arial" pitchFamily="34" charset="-122"/>
                <a:cs typeface="Arial" pitchFamily="34" charset="-120"/>
              </a:rPr>
              <a:t>Don Eddy: New Shoes for H</a:t>
            </a:r>
            <a:endParaRPr lang="en-US" sz="1100" dirty="0"/>
          </a:p>
        </p:txBody>
      </p:sp>
      <p:sp>
        <p:nvSpPr>
          <p:cNvPr id="19" name="Shape 15"/>
          <p:cNvSpPr/>
          <p:nvPr/>
        </p:nvSpPr>
        <p:spPr>
          <a:xfrm>
            <a:off x="6324448" y="1691640"/>
            <a:ext cx="237744" cy="0"/>
          </a:xfrm>
          <a:prstGeom prst="line">
            <a:avLst/>
          </a:prstGeom>
          <a:noFill/>
          <a:ln w="25400">
            <a:solidFill>
              <a:schemeClr val="accent1"/>
            </a:solidFill>
            <a:prstDash val="solid"/>
          </a:ln>
        </p:spPr>
      </p:sp>
      <p:sp>
        <p:nvSpPr>
          <p:cNvPr id="20" name="Shape 16"/>
          <p:cNvSpPr/>
          <p:nvPr/>
        </p:nvSpPr>
        <p:spPr>
          <a:xfrm>
            <a:off x="6324448" y="1691640"/>
            <a:ext cx="0" cy="237744"/>
          </a:xfrm>
          <a:prstGeom prst="line">
            <a:avLst/>
          </a:prstGeom>
          <a:noFill/>
          <a:ln w="25400">
            <a:solidFill>
              <a:schemeClr val="accent1"/>
            </a:solidFill>
            <a:prstDash val="solid"/>
          </a:ln>
        </p:spPr>
      </p:sp>
      <p:sp>
        <p:nvSpPr>
          <p:cNvPr id="21" name="Shape 17"/>
          <p:cNvSpPr/>
          <p:nvPr/>
        </p:nvSpPr>
        <p:spPr>
          <a:xfrm>
            <a:off x="9807854" y="1691640"/>
            <a:ext cx="237744" cy="0"/>
          </a:xfrm>
          <a:prstGeom prst="line">
            <a:avLst/>
          </a:prstGeom>
          <a:noFill/>
          <a:ln w="25400">
            <a:solidFill>
              <a:schemeClr val="accent1"/>
            </a:solidFill>
            <a:prstDash val="solid"/>
          </a:ln>
        </p:spPr>
      </p:sp>
      <p:sp>
        <p:nvSpPr>
          <p:cNvPr id="22" name="Shape 18"/>
          <p:cNvSpPr/>
          <p:nvPr/>
        </p:nvSpPr>
        <p:spPr>
          <a:xfrm>
            <a:off x="10045598" y="1691640"/>
            <a:ext cx="0" cy="237744"/>
          </a:xfrm>
          <a:prstGeom prst="line">
            <a:avLst/>
          </a:prstGeom>
          <a:noFill/>
          <a:ln w="25400">
            <a:solidFill>
              <a:schemeClr val="accent1"/>
            </a:solidFill>
            <a:prstDash val="solid"/>
          </a:ln>
        </p:spPr>
      </p:sp>
      <p:sp>
        <p:nvSpPr>
          <p:cNvPr id="23" name="Shape 19"/>
          <p:cNvSpPr/>
          <p:nvPr/>
        </p:nvSpPr>
        <p:spPr>
          <a:xfrm>
            <a:off x="6324448" y="5120640"/>
            <a:ext cx="237744" cy="0"/>
          </a:xfrm>
          <a:prstGeom prst="line">
            <a:avLst/>
          </a:prstGeom>
          <a:noFill/>
          <a:ln w="25400">
            <a:solidFill>
              <a:schemeClr val="accent1"/>
            </a:solidFill>
            <a:prstDash val="solid"/>
          </a:ln>
        </p:spPr>
      </p:sp>
      <p:sp>
        <p:nvSpPr>
          <p:cNvPr id="24" name="Shape 20"/>
          <p:cNvSpPr/>
          <p:nvPr/>
        </p:nvSpPr>
        <p:spPr>
          <a:xfrm>
            <a:off x="6324448" y="4882896"/>
            <a:ext cx="0" cy="237744"/>
          </a:xfrm>
          <a:prstGeom prst="line">
            <a:avLst/>
          </a:prstGeom>
          <a:noFill/>
          <a:ln w="25400">
            <a:solidFill>
              <a:schemeClr val="accent1"/>
            </a:solidFill>
            <a:prstDash val="solid"/>
          </a:ln>
        </p:spPr>
      </p:sp>
      <p:sp>
        <p:nvSpPr>
          <p:cNvPr id="25" name="Shape 21"/>
          <p:cNvSpPr/>
          <p:nvPr/>
        </p:nvSpPr>
        <p:spPr>
          <a:xfrm>
            <a:off x="9807854" y="5120640"/>
            <a:ext cx="237744" cy="0"/>
          </a:xfrm>
          <a:prstGeom prst="line">
            <a:avLst/>
          </a:prstGeom>
          <a:noFill/>
          <a:ln w="25400">
            <a:solidFill>
              <a:schemeClr val="accent1"/>
            </a:solidFill>
            <a:prstDash val="solid"/>
          </a:ln>
        </p:spPr>
      </p:sp>
      <p:sp>
        <p:nvSpPr>
          <p:cNvPr id="26" name="Shape 22"/>
          <p:cNvSpPr/>
          <p:nvPr/>
        </p:nvSpPr>
        <p:spPr>
          <a:xfrm>
            <a:off x="10045598" y="4882896"/>
            <a:ext cx="0" cy="237744"/>
          </a:xfrm>
          <a:prstGeom prst="line">
            <a:avLst/>
          </a:prstGeom>
          <a:noFill/>
          <a:ln w="25400">
            <a:solidFill>
              <a:schemeClr val="accent1"/>
            </a:solidFill>
            <a:prstDash val="solid"/>
          </a:ln>
        </p:spPr>
      </p:sp>
      <p:sp>
        <p:nvSpPr>
          <p:cNvPr id="27" name="Text 23"/>
          <p:cNvSpPr txBox="1"/>
          <p:nvPr/>
        </p:nvSpPr>
        <p:spPr>
          <a:xfrm>
            <a:off x="6415888" y="5257800"/>
            <a:ext cx="5135728" cy="777240"/>
          </a:xfrm>
          <a:prstGeom prst="rect">
            <a:avLst/>
          </a:prstGeom>
          <a:noFill/>
          <a:ln/>
        </p:spPr>
        <p:txBody>
          <a:bodyPr wrap="square" lIns="0" tIns="0" rIns="0" bIns="0" rtlCol="0" anchor="t"/>
          <a:lstStyle/>
          <a:p>
            <a:pPr indent="0" marL="0">
              <a:spcAft>
                <a:spcPts val="200"/>
              </a:spcAft>
              <a:buNone/>
            </a:pPr>
            <a:r>
              <a:rPr lang="en-US" sz="1300" b="1" dirty="0">
                <a:solidFill>
                  <a:schemeClr val="bg1"/>
                </a:solidFill>
                <a:latin typeface="Arial" pitchFamily="34" charset="0"/>
                <a:ea typeface="Arial" pitchFamily="34" charset="-122"/>
                <a:cs typeface="Arial" pitchFamily="34" charset="-120"/>
              </a:rPr>
              <a:t>Don Eddy, </a:t>
            </a:r>
            <a:pPr indent="0" marL="0">
              <a:spcAft>
                <a:spcPts val="200"/>
              </a:spcAft>
              <a:buNone/>
            </a:pPr>
            <a:r>
              <a:rPr lang="en-US" sz="1300" b="1" i="1" dirty="0">
                <a:solidFill>
                  <a:schemeClr val="bg1"/>
                </a:solidFill>
                <a:latin typeface="Arial" pitchFamily="34" charset="0"/>
                <a:ea typeface="Arial" pitchFamily="34" charset="-122"/>
                <a:cs typeface="Arial" pitchFamily="34" charset="-120"/>
              </a:rPr>
              <a:t>New Shoes for H</a:t>
            </a:r>
            <a:pPr indent="0" marL="0">
              <a:spcAft>
                <a:spcPts val="200"/>
              </a:spcAft>
              <a:buNone/>
            </a:pPr>
            <a:r>
              <a:rPr lang="en-US" sz="1300" b="1" dirty="0">
                <a:solidFill>
                  <a:schemeClr val="bg1"/>
                </a:solidFill>
                <a:latin typeface="Arial" pitchFamily="34" charset="0"/>
                <a:ea typeface="Arial" pitchFamily="34" charset="-122"/>
                <a:cs typeface="Arial" pitchFamily="34" charset="-120"/>
              </a:rPr>
              <a:t> (Neue Schuhe für H), 1973–74</a:t>
            </a:r>
            <a:endParaRPr lang="en-US" sz="1300" dirty="0"/>
          </a:p>
          <a:p>
            <a:pPr indent="0" marL="0">
              <a:spcAft>
                <a:spcPts val="200"/>
              </a:spcAft>
              <a:buNone/>
            </a:pPr>
            <a:r>
              <a:rPr lang="en-US" sz="1100" dirty="0">
                <a:solidFill>
                  <a:schemeClr val="bg2"/>
                </a:solidFill>
                <a:latin typeface="Arial" pitchFamily="34" charset="0"/>
                <a:ea typeface="Arial" pitchFamily="34" charset="-122"/>
                <a:cs typeface="Arial" pitchFamily="34" charset="-120"/>
              </a:rPr>
              <a:t>Acryl auf Leinwand, 111,7 × 121,9 cm · Cleveland Museum of Art</a:t>
            </a:r>
            <a:endParaRPr lang="en-US" sz="1300" dirty="0"/>
          </a:p>
          <a:p>
            <a:pPr indent="0" marL="0">
              <a:spcAft>
                <a:spcPts val="200"/>
              </a:spcAft>
              <a:buNone/>
            </a:pPr>
            <a:r>
              <a:rPr lang="en-US" sz="1300" dirty="0">
                <a:solidFill>
                  <a:schemeClr val="accent1"/>
                </a:solidFill>
                <a:latin typeface="Arial" pitchFamily="34" charset="0"/>
                <a:ea typeface="Arial" pitchFamily="34" charset="-122"/>
                <a:cs typeface="Arial" pitchFamily="34" charset="-120"/>
              </a:rPr>
              <a:t>→ Schaufenster: Spiegelung und Durchblick überlagern sich</a:t>
            </a:r>
            <a:endParaRPr lang="en-US" sz="13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lIns="0" tIns="0" rIns="0" bIns="0" rtlCol="0" anchor="ctr"/>
          <a:lstStyle/>
          <a:p>
            <a:pPr algn="l" indent="0" marL="0">
              <a:buNone/>
            </a:pPr>
            <a:r>
              <a:rPr lang="en-US" sz="1200" b="1" spc="300" kern="0" dirty="0">
                <a:solidFill>
                  <a:schemeClr val="accent1"/>
                </a:solidFill>
                <a:latin typeface="Arial" pitchFamily="34" charset="0"/>
                <a:ea typeface="Arial" pitchFamily="34" charset="-122"/>
                <a:cs typeface="Arial" pitchFamily="34" charset="-120"/>
              </a:rPr>
              <a:t>05 · WERKBEISPIELE</a:t>
            </a:r>
            <a:endParaRPr lang="en-US" sz="1200" dirty="0"/>
          </a:p>
        </p:txBody>
      </p:sp>
      <p:sp>
        <p:nvSpPr>
          <p:cNvPr id="3" name="Text 0"/>
          <p:cNvSpPr/>
          <p:nvPr>
            <p:ph idx="101" type="title" hasCustomPrompt="1"/>
          </p:nvPr>
        </p:nvSpPr>
        <p:spPr>
          <a:xfrm>
            <a:off x="548640" y="694944"/>
            <a:ext cx="11094415" cy="749808"/>
          </a:xfrm>
          <a:prstGeom prst="rect">
            <a:avLst/>
          </a:prstGeom>
          <a:noFill/>
          <a:ln/>
        </p:spPr>
        <p:txBody>
          <a:bodyPr wrap="square" lIns="0" tIns="0" rIns="0" bIns="0" rtlCol="0" anchor="t"/>
          <a:lstStyle/>
          <a:p>
            <a:pPr algn="l" indent="0" marL="0">
              <a:buNone/>
            </a:pPr>
            <a:r>
              <a:rPr lang="en-US" sz="3200" b="1" dirty="0">
                <a:solidFill>
                  <a:schemeClr val="bg1"/>
                </a:solidFill>
                <a:latin typeface="Georgia" pitchFamily="34" charset="0"/>
                <a:ea typeface="Georgia" pitchFamily="34" charset="-122"/>
                <a:cs typeface="Georgia" pitchFamily="34" charset="-120"/>
              </a:rPr>
              <a:t>Konsum und Vergänglichkeit</a:t>
            </a:r>
            <a:endParaRPr lang="en-US" sz="3200" dirty="0"/>
          </a:p>
        </p:txBody>
      </p:sp>
      <p:sp>
        <p:nvSpPr>
          <p:cNvPr id="4" name="Bildplatzhalter flack_marilyn"/>
          <p:cNvSpPr/>
          <p:nvPr/>
        </p:nvSpPr>
        <p:spPr>
          <a:xfrm>
            <a:off x="640080" y="1783080"/>
            <a:ext cx="3246120" cy="3246120"/>
          </a:xfrm>
          <a:prstGeom prst="rect">
            <a:avLst/>
          </a:prstGeom>
          <a:solidFill>
            <a:schemeClr val="tx2"/>
          </a:solidFill>
          <a:ln w="12700">
            <a:solidFill>
              <a:schemeClr val="accent3"/>
            </a:solidFill>
            <a:prstDash val="dash"/>
          </a:ln>
        </p:spPr>
      </p:sp>
      <p:pic>
        <p:nvPicPr>
          <p:cNvPr id="5" name="Image 0" descr="Platzhalter-Symbol">    </p:cNvPr>
          <p:cNvPicPr>
            <a:picLocks noChangeAspect="1"/>
          </p:cNvPicPr>
          <p:nvPr/>
        </p:nvPicPr>
        <p:blipFill>
          <a:blip r:embed="rId1"/>
          <a:stretch>
            <a:fillRect/>
          </a:stretch>
        </p:blipFill>
        <p:spPr>
          <a:xfrm>
            <a:off x="2011680" y="2857500"/>
            <a:ext cx="502920" cy="502920"/>
          </a:xfrm>
          <a:prstGeom prst="rect">
            <a:avLst/>
          </a:prstGeom>
        </p:spPr>
      </p:pic>
      <p:sp>
        <p:nvSpPr>
          <p:cNvPr id="6" name="Text 3"/>
          <p:cNvSpPr txBox="1"/>
          <p:nvPr/>
        </p:nvSpPr>
        <p:spPr>
          <a:xfrm>
            <a:off x="777240" y="3424428"/>
            <a:ext cx="2971800" cy="731520"/>
          </a:xfrm>
          <a:prstGeom prst="rect">
            <a:avLst/>
          </a:prstGeom>
          <a:noFill/>
          <a:ln/>
        </p:spPr>
        <p:txBody>
          <a:bodyPr wrap="square" lIns="0" tIns="0" rIns="0" bIns="0" rtlCol="0" anchor="t">
            <a:normAutofit/>
          </a:bodyPr>
          <a:lstStyle/>
          <a:p>
            <a:pPr algn="ctr" indent="0" marL="0">
              <a:buNone/>
            </a:pPr>
            <a:r>
              <a:rPr lang="en-US" sz="1100" b="1" dirty="0">
                <a:solidFill>
                  <a:schemeClr val="accent5"/>
                </a:solidFill>
                <a:latin typeface="Arial" pitchFamily="34" charset="0"/>
                <a:ea typeface="Arial" pitchFamily="34" charset="-122"/>
                <a:cs typeface="Arial" pitchFamily="34" charset="-120"/>
              </a:rPr>
              <a:t>Abbildung einfügen</a:t>
            </a:r>
            <a:endParaRPr lang="en-US" sz="1100" dirty="0"/>
          </a:p>
          <a:p>
            <a:pPr algn="ctr" indent="0" marL="0">
              <a:buNone/>
            </a:pPr>
            <a:r>
              <a:rPr lang="en-US" sz="1100" dirty="0">
                <a:solidFill>
                  <a:schemeClr val="accent5"/>
                </a:solidFill>
                <a:latin typeface="Arial" pitchFamily="34" charset="0"/>
                <a:ea typeface="Arial" pitchFamily="34" charset="-122"/>
                <a:cs typeface="Arial" pitchFamily="34" charset="-120"/>
              </a:rPr>
              <a:t>Audrey Flack: Marilyn (Vanitas)</a:t>
            </a:r>
            <a:endParaRPr lang="en-US" sz="1100" dirty="0"/>
          </a:p>
        </p:txBody>
      </p:sp>
      <p:sp>
        <p:nvSpPr>
          <p:cNvPr id="7" name="Shape 4"/>
          <p:cNvSpPr/>
          <p:nvPr/>
        </p:nvSpPr>
        <p:spPr>
          <a:xfrm>
            <a:off x="548640" y="1691640"/>
            <a:ext cx="237744" cy="0"/>
          </a:xfrm>
          <a:prstGeom prst="line">
            <a:avLst/>
          </a:prstGeom>
          <a:noFill/>
          <a:ln w="25400">
            <a:solidFill>
              <a:schemeClr val="accent1"/>
            </a:solidFill>
            <a:prstDash val="solid"/>
          </a:ln>
        </p:spPr>
      </p:sp>
      <p:sp>
        <p:nvSpPr>
          <p:cNvPr id="8" name="Shape 5"/>
          <p:cNvSpPr/>
          <p:nvPr/>
        </p:nvSpPr>
        <p:spPr>
          <a:xfrm>
            <a:off x="548640" y="1691640"/>
            <a:ext cx="0" cy="237744"/>
          </a:xfrm>
          <a:prstGeom prst="line">
            <a:avLst/>
          </a:prstGeom>
          <a:noFill/>
          <a:ln w="25400">
            <a:solidFill>
              <a:schemeClr val="accent1"/>
            </a:solidFill>
            <a:prstDash val="solid"/>
          </a:ln>
        </p:spPr>
      </p:sp>
      <p:sp>
        <p:nvSpPr>
          <p:cNvPr id="9" name="Shape 6"/>
          <p:cNvSpPr/>
          <p:nvPr/>
        </p:nvSpPr>
        <p:spPr>
          <a:xfrm>
            <a:off x="3739896" y="1691640"/>
            <a:ext cx="237744" cy="0"/>
          </a:xfrm>
          <a:prstGeom prst="line">
            <a:avLst/>
          </a:prstGeom>
          <a:noFill/>
          <a:ln w="25400">
            <a:solidFill>
              <a:schemeClr val="accent1"/>
            </a:solidFill>
            <a:prstDash val="solid"/>
          </a:ln>
        </p:spPr>
      </p:sp>
      <p:sp>
        <p:nvSpPr>
          <p:cNvPr id="10" name="Shape 7"/>
          <p:cNvSpPr/>
          <p:nvPr/>
        </p:nvSpPr>
        <p:spPr>
          <a:xfrm>
            <a:off x="3977640" y="1691640"/>
            <a:ext cx="0" cy="237744"/>
          </a:xfrm>
          <a:prstGeom prst="line">
            <a:avLst/>
          </a:prstGeom>
          <a:noFill/>
          <a:ln w="25400">
            <a:solidFill>
              <a:schemeClr val="accent1"/>
            </a:solidFill>
            <a:prstDash val="solid"/>
          </a:ln>
        </p:spPr>
      </p:sp>
      <p:sp>
        <p:nvSpPr>
          <p:cNvPr id="11" name="Shape 8"/>
          <p:cNvSpPr/>
          <p:nvPr/>
        </p:nvSpPr>
        <p:spPr>
          <a:xfrm>
            <a:off x="548640" y="5120640"/>
            <a:ext cx="237744" cy="0"/>
          </a:xfrm>
          <a:prstGeom prst="line">
            <a:avLst/>
          </a:prstGeom>
          <a:noFill/>
          <a:ln w="25400">
            <a:solidFill>
              <a:schemeClr val="accent1"/>
            </a:solidFill>
            <a:prstDash val="solid"/>
          </a:ln>
        </p:spPr>
      </p:sp>
      <p:sp>
        <p:nvSpPr>
          <p:cNvPr id="12" name="Shape 9"/>
          <p:cNvSpPr/>
          <p:nvPr/>
        </p:nvSpPr>
        <p:spPr>
          <a:xfrm>
            <a:off x="548640" y="4882896"/>
            <a:ext cx="0" cy="237744"/>
          </a:xfrm>
          <a:prstGeom prst="line">
            <a:avLst/>
          </a:prstGeom>
          <a:noFill/>
          <a:ln w="25400">
            <a:solidFill>
              <a:schemeClr val="accent1"/>
            </a:solidFill>
            <a:prstDash val="solid"/>
          </a:ln>
        </p:spPr>
      </p:sp>
      <p:sp>
        <p:nvSpPr>
          <p:cNvPr id="13" name="Shape 10"/>
          <p:cNvSpPr/>
          <p:nvPr/>
        </p:nvSpPr>
        <p:spPr>
          <a:xfrm>
            <a:off x="3739896" y="5120640"/>
            <a:ext cx="237744" cy="0"/>
          </a:xfrm>
          <a:prstGeom prst="line">
            <a:avLst/>
          </a:prstGeom>
          <a:noFill/>
          <a:ln w="25400">
            <a:solidFill>
              <a:schemeClr val="accent1"/>
            </a:solidFill>
            <a:prstDash val="solid"/>
          </a:ln>
        </p:spPr>
      </p:sp>
      <p:sp>
        <p:nvSpPr>
          <p:cNvPr id="14" name="Shape 11"/>
          <p:cNvSpPr/>
          <p:nvPr/>
        </p:nvSpPr>
        <p:spPr>
          <a:xfrm>
            <a:off x="3977640" y="4882896"/>
            <a:ext cx="0" cy="237744"/>
          </a:xfrm>
          <a:prstGeom prst="line">
            <a:avLst/>
          </a:prstGeom>
          <a:noFill/>
          <a:ln w="25400">
            <a:solidFill>
              <a:schemeClr val="accent1"/>
            </a:solidFill>
            <a:prstDash val="solid"/>
          </a:ln>
        </p:spPr>
      </p:sp>
      <p:sp>
        <p:nvSpPr>
          <p:cNvPr id="15" name="Text 12"/>
          <p:cNvSpPr txBox="1"/>
          <p:nvPr/>
        </p:nvSpPr>
        <p:spPr>
          <a:xfrm>
            <a:off x="640080" y="5257800"/>
            <a:ext cx="5135728" cy="777240"/>
          </a:xfrm>
          <a:prstGeom prst="rect">
            <a:avLst/>
          </a:prstGeom>
          <a:noFill/>
          <a:ln/>
        </p:spPr>
        <p:txBody>
          <a:bodyPr wrap="square" lIns="0" tIns="0" rIns="0" bIns="0" rtlCol="0" anchor="t"/>
          <a:lstStyle/>
          <a:p>
            <a:pPr indent="0" marL="0">
              <a:spcAft>
                <a:spcPts val="200"/>
              </a:spcAft>
              <a:buNone/>
            </a:pPr>
            <a:r>
              <a:rPr lang="en-US" sz="1300" b="1" dirty="0">
                <a:solidFill>
                  <a:schemeClr val="bg1"/>
                </a:solidFill>
                <a:latin typeface="Arial" pitchFamily="34" charset="0"/>
                <a:ea typeface="Arial" pitchFamily="34" charset="-122"/>
                <a:cs typeface="Arial" pitchFamily="34" charset="-120"/>
              </a:rPr>
              <a:t>Audrey Flack, </a:t>
            </a:r>
            <a:pPr indent="0" marL="0">
              <a:spcAft>
                <a:spcPts val="200"/>
              </a:spcAft>
              <a:buNone/>
            </a:pPr>
            <a:r>
              <a:rPr lang="en-US" sz="1300" b="1" i="1" dirty="0">
                <a:solidFill>
                  <a:schemeClr val="bg1"/>
                </a:solidFill>
                <a:latin typeface="Arial" pitchFamily="34" charset="0"/>
                <a:ea typeface="Arial" pitchFamily="34" charset="-122"/>
                <a:cs typeface="Arial" pitchFamily="34" charset="-120"/>
              </a:rPr>
              <a:t>Marilyn (Vanitas)</a:t>
            </a:r>
            <a:pPr indent="0" marL="0">
              <a:spcAft>
                <a:spcPts val="200"/>
              </a:spcAft>
              <a:buNone/>
            </a:pPr>
            <a:r>
              <a:rPr lang="en-US" sz="1300" b="1" dirty="0">
                <a:solidFill>
                  <a:schemeClr val="bg1"/>
                </a:solidFill>
                <a:latin typeface="Arial" pitchFamily="34" charset="0"/>
                <a:ea typeface="Arial" pitchFamily="34" charset="-122"/>
                <a:cs typeface="Arial" pitchFamily="34" charset="-120"/>
              </a:rPr>
              <a:t>, 1977</a:t>
            </a:r>
            <a:endParaRPr lang="en-US" sz="1300" dirty="0"/>
          </a:p>
          <a:p>
            <a:pPr indent="0" marL="0">
              <a:spcAft>
                <a:spcPts val="200"/>
              </a:spcAft>
              <a:buNone/>
            </a:pPr>
            <a:r>
              <a:rPr lang="en-US" sz="1100" dirty="0">
                <a:solidFill>
                  <a:schemeClr val="bg2"/>
                </a:solidFill>
                <a:latin typeface="Arial" pitchFamily="34" charset="0"/>
                <a:ea typeface="Arial" pitchFamily="34" charset="-122"/>
                <a:cs typeface="Arial" pitchFamily="34" charset="-120"/>
              </a:rPr>
              <a:t>Öl über Acryl auf Leinwand, 243,8 × 243,8 cm · University of Arizona Museum of Art, Tucson</a:t>
            </a:r>
            <a:endParaRPr lang="en-US" sz="1300" dirty="0"/>
          </a:p>
          <a:p>
            <a:pPr indent="0" marL="0">
              <a:spcAft>
                <a:spcPts val="200"/>
              </a:spcAft>
              <a:buNone/>
            </a:pPr>
            <a:r>
              <a:rPr lang="en-US" sz="1300" dirty="0">
                <a:solidFill>
                  <a:schemeClr val="accent1"/>
                </a:solidFill>
                <a:latin typeface="Arial" pitchFamily="34" charset="0"/>
                <a:ea typeface="Arial" pitchFamily="34" charset="-122"/>
                <a:cs typeface="Arial" pitchFamily="34" charset="-120"/>
              </a:rPr>
              <a:t>→ Vanitas-Stillleben – Dia direkt auf die Leinwand projiziert</a:t>
            </a:r>
            <a:endParaRPr lang="en-US" sz="1300" dirty="0"/>
          </a:p>
        </p:txBody>
      </p:sp>
      <p:sp>
        <p:nvSpPr>
          <p:cNvPr id="16" name="Bildplatzhalter bell_gumball"/>
          <p:cNvSpPr/>
          <p:nvPr/>
        </p:nvSpPr>
        <p:spPr>
          <a:xfrm>
            <a:off x="6415888" y="1783080"/>
            <a:ext cx="3246120" cy="3246120"/>
          </a:xfrm>
          <a:prstGeom prst="rect">
            <a:avLst/>
          </a:prstGeom>
          <a:solidFill>
            <a:schemeClr val="tx2"/>
          </a:solidFill>
          <a:ln w="12700">
            <a:solidFill>
              <a:schemeClr val="accent3"/>
            </a:solidFill>
            <a:prstDash val="dash"/>
          </a:ln>
        </p:spPr>
      </p:sp>
      <p:pic>
        <p:nvPicPr>
          <p:cNvPr id="17" name="Image 1" descr="Platzhalter-Symbol">    </p:cNvPr>
          <p:cNvPicPr>
            <a:picLocks noChangeAspect="1"/>
          </p:cNvPicPr>
          <p:nvPr/>
        </p:nvPicPr>
        <p:blipFill>
          <a:blip r:embed="rId2"/>
          <a:stretch>
            <a:fillRect/>
          </a:stretch>
        </p:blipFill>
        <p:spPr>
          <a:xfrm>
            <a:off x="7787488" y="2857500"/>
            <a:ext cx="502920" cy="502920"/>
          </a:xfrm>
          <a:prstGeom prst="rect">
            <a:avLst/>
          </a:prstGeom>
        </p:spPr>
      </p:pic>
      <p:sp>
        <p:nvSpPr>
          <p:cNvPr id="18" name="Text 14"/>
          <p:cNvSpPr txBox="1"/>
          <p:nvPr/>
        </p:nvSpPr>
        <p:spPr>
          <a:xfrm>
            <a:off x="6553048" y="3424428"/>
            <a:ext cx="2971800" cy="731520"/>
          </a:xfrm>
          <a:prstGeom prst="rect">
            <a:avLst/>
          </a:prstGeom>
          <a:noFill/>
          <a:ln/>
        </p:spPr>
        <p:txBody>
          <a:bodyPr wrap="square" lIns="0" tIns="0" rIns="0" bIns="0" rtlCol="0" anchor="t">
            <a:normAutofit/>
          </a:bodyPr>
          <a:lstStyle/>
          <a:p>
            <a:pPr algn="ctr" indent="0" marL="0">
              <a:buNone/>
            </a:pPr>
            <a:r>
              <a:rPr lang="en-US" sz="1100" b="1" dirty="0">
                <a:solidFill>
                  <a:schemeClr val="accent5"/>
                </a:solidFill>
                <a:latin typeface="Arial" pitchFamily="34" charset="0"/>
                <a:ea typeface="Arial" pitchFamily="34" charset="-122"/>
                <a:cs typeface="Arial" pitchFamily="34" charset="-120"/>
              </a:rPr>
              <a:t>Abbildung einfügen</a:t>
            </a:r>
            <a:endParaRPr lang="en-US" sz="1100" dirty="0"/>
          </a:p>
          <a:p>
            <a:pPr algn="ctr" indent="0" marL="0">
              <a:buNone/>
            </a:pPr>
            <a:r>
              <a:rPr lang="en-US" sz="1100" dirty="0">
                <a:solidFill>
                  <a:schemeClr val="accent5"/>
                </a:solidFill>
                <a:latin typeface="Arial" pitchFamily="34" charset="0"/>
                <a:ea typeface="Arial" pitchFamily="34" charset="-122"/>
                <a:cs typeface="Arial" pitchFamily="34" charset="-120"/>
              </a:rPr>
              <a:t>Charles Bell: Gum Ball No. 10: „Sugar Daddy“</a:t>
            </a:r>
            <a:endParaRPr lang="en-US" sz="1100" dirty="0"/>
          </a:p>
        </p:txBody>
      </p:sp>
      <p:sp>
        <p:nvSpPr>
          <p:cNvPr id="19" name="Shape 15"/>
          <p:cNvSpPr/>
          <p:nvPr/>
        </p:nvSpPr>
        <p:spPr>
          <a:xfrm>
            <a:off x="6324448" y="1691640"/>
            <a:ext cx="237744" cy="0"/>
          </a:xfrm>
          <a:prstGeom prst="line">
            <a:avLst/>
          </a:prstGeom>
          <a:noFill/>
          <a:ln w="25400">
            <a:solidFill>
              <a:schemeClr val="accent1"/>
            </a:solidFill>
            <a:prstDash val="solid"/>
          </a:ln>
        </p:spPr>
      </p:sp>
      <p:sp>
        <p:nvSpPr>
          <p:cNvPr id="20" name="Shape 16"/>
          <p:cNvSpPr/>
          <p:nvPr/>
        </p:nvSpPr>
        <p:spPr>
          <a:xfrm>
            <a:off x="6324448" y="1691640"/>
            <a:ext cx="0" cy="237744"/>
          </a:xfrm>
          <a:prstGeom prst="line">
            <a:avLst/>
          </a:prstGeom>
          <a:noFill/>
          <a:ln w="25400">
            <a:solidFill>
              <a:schemeClr val="accent1"/>
            </a:solidFill>
            <a:prstDash val="solid"/>
          </a:ln>
        </p:spPr>
      </p:sp>
      <p:sp>
        <p:nvSpPr>
          <p:cNvPr id="21" name="Shape 17"/>
          <p:cNvSpPr/>
          <p:nvPr/>
        </p:nvSpPr>
        <p:spPr>
          <a:xfrm>
            <a:off x="9515704" y="1691640"/>
            <a:ext cx="237744" cy="0"/>
          </a:xfrm>
          <a:prstGeom prst="line">
            <a:avLst/>
          </a:prstGeom>
          <a:noFill/>
          <a:ln w="25400">
            <a:solidFill>
              <a:schemeClr val="accent1"/>
            </a:solidFill>
            <a:prstDash val="solid"/>
          </a:ln>
        </p:spPr>
      </p:sp>
      <p:sp>
        <p:nvSpPr>
          <p:cNvPr id="22" name="Shape 18"/>
          <p:cNvSpPr/>
          <p:nvPr/>
        </p:nvSpPr>
        <p:spPr>
          <a:xfrm>
            <a:off x="9753448" y="1691640"/>
            <a:ext cx="0" cy="237744"/>
          </a:xfrm>
          <a:prstGeom prst="line">
            <a:avLst/>
          </a:prstGeom>
          <a:noFill/>
          <a:ln w="25400">
            <a:solidFill>
              <a:schemeClr val="accent1"/>
            </a:solidFill>
            <a:prstDash val="solid"/>
          </a:ln>
        </p:spPr>
      </p:sp>
      <p:sp>
        <p:nvSpPr>
          <p:cNvPr id="23" name="Shape 19"/>
          <p:cNvSpPr/>
          <p:nvPr/>
        </p:nvSpPr>
        <p:spPr>
          <a:xfrm>
            <a:off x="6324448" y="5120640"/>
            <a:ext cx="237744" cy="0"/>
          </a:xfrm>
          <a:prstGeom prst="line">
            <a:avLst/>
          </a:prstGeom>
          <a:noFill/>
          <a:ln w="25400">
            <a:solidFill>
              <a:schemeClr val="accent1"/>
            </a:solidFill>
            <a:prstDash val="solid"/>
          </a:ln>
        </p:spPr>
      </p:sp>
      <p:sp>
        <p:nvSpPr>
          <p:cNvPr id="24" name="Shape 20"/>
          <p:cNvSpPr/>
          <p:nvPr/>
        </p:nvSpPr>
        <p:spPr>
          <a:xfrm>
            <a:off x="6324448" y="4882896"/>
            <a:ext cx="0" cy="237744"/>
          </a:xfrm>
          <a:prstGeom prst="line">
            <a:avLst/>
          </a:prstGeom>
          <a:noFill/>
          <a:ln w="25400">
            <a:solidFill>
              <a:schemeClr val="accent1"/>
            </a:solidFill>
            <a:prstDash val="solid"/>
          </a:ln>
        </p:spPr>
      </p:sp>
      <p:sp>
        <p:nvSpPr>
          <p:cNvPr id="25" name="Shape 21"/>
          <p:cNvSpPr/>
          <p:nvPr/>
        </p:nvSpPr>
        <p:spPr>
          <a:xfrm>
            <a:off x="9515704" y="5120640"/>
            <a:ext cx="237744" cy="0"/>
          </a:xfrm>
          <a:prstGeom prst="line">
            <a:avLst/>
          </a:prstGeom>
          <a:noFill/>
          <a:ln w="25400">
            <a:solidFill>
              <a:schemeClr val="accent1"/>
            </a:solidFill>
            <a:prstDash val="solid"/>
          </a:ln>
        </p:spPr>
      </p:sp>
      <p:sp>
        <p:nvSpPr>
          <p:cNvPr id="26" name="Shape 22"/>
          <p:cNvSpPr/>
          <p:nvPr/>
        </p:nvSpPr>
        <p:spPr>
          <a:xfrm>
            <a:off x="9753448" y="4882896"/>
            <a:ext cx="0" cy="237744"/>
          </a:xfrm>
          <a:prstGeom prst="line">
            <a:avLst/>
          </a:prstGeom>
          <a:noFill/>
          <a:ln w="25400">
            <a:solidFill>
              <a:schemeClr val="accent1"/>
            </a:solidFill>
            <a:prstDash val="solid"/>
          </a:ln>
        </p:spPr>
      </p:sp>
      <p:sp>
        <p:nvSpPr>
          <p:cNvPr id="27" name="Text 23"/>
          <p:cNvSpPr txBox="1"/>
          <p:nvPr/>
        </p:nvSpPr>
        <p:spPr>
          <a:xfrm>
            <a:off x="6415888" y="5257800"/>
            <a:ext cx="5135728" cy="777240"/>
          </a:xfrm>
          <a:prstGeom prst="rect">
            <a:avLst/>
          </a:prstGeom>
          <a:noFill/>
          <a:ln/>
        </p:spPr>
        <p:txBody>
          <a:bodyPr wrap="square" lIns="0" tIns="0" rIns="0" bIns="0" rtlCol="0" anchor="t"/>
          <a:lstStyle/>
          <a:p>
            <a:pPr indent="0" marL="0">
              <a:spcAft>
                <a:spcPts val="200"/>
              </a:spcAft>
              <a:buNone/>
            </a:pPr>
            <a:r>
              <a:rPr lang="en-US" sz="1300" b="1" dirty="0">
                <a:solidFill>
                  <a:schemeClr val="bg1"/>
                </a:solidFill>
                <a:latin typeface="Arial" pitchFamily="34" charset="0"/>
                <a:ea typeface="Arial" pitchFamily="34" charset="-122"/>
                <a:cs typeface="Arial" pitchFamily="34" charset="-120"/>
              </a:rPr>
              <a:t>Charles Bell, </a:t>
            </a:r>
            <a:pPr indent="0" marL="0">
              <a:spcAft>
                <a:spcPts val="200"/>
              </a:spcAft>
              <a:buNone/>
            </a:pPr>
            <a:r>
              <a:rPr lang="en-US" sz="1300" b="1" i="1" dirty="0">
                <a:solidFill>
                  <a:schemeClr val="bg1"/>
                </a:solidFill>
                <a:latin typeface="Arial" pitchFamily="34" charset="0"/>
                <a:ea typeface="Arial" pitchFamily="34" charset="-122"/>
                <a:cs typeface="Arial" pitchFamily="34" charset="-120"/>
              </a:rPr>
              <a:t>Gum Ball No. 10: „Sugar Daddy“</a:t>
            </a:r>
            <a:pPr indent="0" marL="0">
              <a:spcAft>
                <a:spcPts val="200"/>
              </a:spcAft>
              <a:buNone/>
            </a:pPr>
            <a:r>
              <a:rPr lang="en-US" sz="1300" b="1" dirty="0">
                <a:solidFill>
                  <a:schemeClr val="bg1"/>
                </a:solidFill>
                <a:latin typeface="Arial" pitchFamily="34" charset="0"/>
                <a:ea typeface="Arial" pitchFamily="34" charset="-122"/>
                <a:cs typeface="Arial" pitchFamily="34" charset="-120"/>
              </a:rPr>
              <a:t> (Kaugummiautomat Nr. 10), 1975</a:t>
            </a:r>
            <a:endParaRPr lang="en-US" sz="1300" dirty="0"/>
          </a:p>
          <a:p>
            <a:pPr indent="0" marL="0">
              <a:spcAft>
                <a:spcPts val="200"/>
              </a:spcAft>
              <a:buNone/>
            </a:pPr>
            <a:r>
              <a:rPr lang="en-US" sz="1100" dirty="0">
                <a:solidFill>
                  <a:schemeClr val="bg2"/>
                </a:solidFill>
                <a:latin typeface="Arial" pitchFamily="34" charset="0"/>
                <a:ea typeface="Arial" pitchFamily="34" charset="-122"/>
                <a:cs typeface="Arial" pitchFamily="34" charset="-120"/>
              </a:rPr>
              <a:t>Öl auf Leinwand, 167,6 × 167,6 cm · Solomon R. Guggenheim Museum, New York</a:t>
            </a:r>
            <a:endParaRPr lang="en-US" sz="1300" dirty="0"/>
          </a:p>
          <a:p>
            <a:pPr indent="0" marL="0">
              <a:spcAft>
                <a:spcPts val="200"/>
              </a:spcAft>
              <a:buNone/>
            </a:pPr>
            <a:r>
              <a:rPr lang="en-US" sz="1300" dirty="0">
                <a:solidFill>
                  <a:schemeClr val="accent1"/>
                </a:solidFill>
                <a:latin typeface="Arial" pitchFamily="34" charset="0"/>
                <a:ea typeface="Arial" pitchFamily="34" charset="-122"/>
                <a:cs typeface="Arial" pitchFamily="34" charset="-120"/>
              </a:rPr>
              <a:t>→ Kaugummiautomat auf 1,68 m vergrößert – Licht in Glas</a:t>
            </a:r>
            <a:endParaRPr lang="en-US" sz="13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lIns="0" tIns="0" rIns="0" bIns="0" rtlCol="0" anchor="ctr"/>
          <a:lstStyle/>
          <a:p>
            <a:pPr algn="l" indent="0" marL="0">
              <a:buNone/>
            </a:pPr>
            <a:r>
              <a:rPr lang="en-US" sz="1200" b="1" spc="300" kern="0" dirty="0">
                <a:solidFill>
                  <a:schemeClr val="accent1"/>
                </a:solidFill>
                <a:latin typeface="Arial" pitchFamily="34" charset="0"/>
                <a:ea typeface="Arial" pitchFamily="34" charset="-122"/>
                <a:cs typeface="Arial" pitchFamily="34" charset="-120"/>
              </a:rPr>
              <a:t>05 · WERKBEISPIELE</a:t>
            </a:r>
            <a:endParaRPr lang="en-US" sz="1200" dirty="0"/>
          </a:p>
        </p:txBody>
      </p:sp>
      <p:sp>
        <p:nvSpPr>
          <p:cNvPr id="3" name="Text 0"/>
          <p:cNvSpPr/>
          <p:nvPr>
            <p:ph idx="101" type="title" hasCustomPrompt="1"/>
          </p:nvPr>
        </p:nvSpPr>
        <p:spPr>
          <a:xfrm>
            <a:off x="548640" y="694944"/>
            <a:ext cx="11094415" cy="749808"/>
          </a:xfrm>
          <a:prstGeom prst="rect">
            <a:avLst/>
          </a:prstGeom>
          <a:noFill/>
          <a:ln/>
        </p:spPr>
        <p:txBody>
          <a:bodyPr wrap="square" lIns="0" tIns="0" rIns="0" bIns="0" rtlCol="0" anchor="t"/>
          <a:lstStyle/>
          <a:p>
            <a:pPr algn="l" indent="0" marL="0">
              <a:buNone/>
            </a:pPr>
            <a:r>
              <a:rPr lang="en-US" sz="3200" b="1" dirty="0">
                <a:solidFill>
                  <a:schemeClr val="bg1"/>
                </a:solidFill>
                <a:latin typeface="Georgia" pitchFamily="34" charset="0"/>
                <a:ea typeface="Georgia" pitchFamily="34" charset="-122"/>
                <a:cs typeface="Georgia" pitchFamily="34" charset="-120"/>
              </a:rPr>
              <a:t>Hyperrealismus: Der Mensch als Skulptur</a:t>
            </a:r>
            <a:endParaRPr lang="en-US" sz="3200" dirty="0"/>
          </a:p>
        </p:txBody>
      </p:sp>
      <p:sp>
        <p:nvSpPr>
          <p:cNvPr id="4" name="Bildplatzhalter hanson_supermarket"/>
          <p:cNvSpPr/>
          <p:nvPr/>
        </p:nvSpPr>
        <p:spPr>
          <a:xfrm>
            <a:off x="640080" y="1783080"/>
            <a:ext cx="2596896" cy="3246120"/>
          </a:xfrm>
          <a:prstGeom prst="rect">
            <a:avLst/>
          </a:prstGeom>
          <a:solidFill>
            <a:schemeClr val="tx2"/>
          </a:solidFill>
          <a:ln w="12700">
            <a:solidFill>
              <a:schemeClr val="accent3"/>
            </a:solidFill>
            <a:prstDash val="dash"/>
          </a:ln>
        </p:spPr>
      </p:sp>
      <p:pic>
        <p:nvPicPr>
          <p:cNvPr id="5" name="Image 0" descr="Platzhalter-Symbol">    </p:cNvPr>
          <p:cNvPicPr>
            <a:picLocks noChangeAspect="1"/>
          </p:cNvPicPr>
          <p:nvPr/>
        </p:nvPicPr>
        <p:blipFill>
          <a:blip r:embed="rId1"/>
          <a:stretch>
            <a:fillRect/>
          </a:stretch>
        </p:blipFill>
        <p:spPr>
          <a:xfrm>
            <a:off x="1687068" y="2857500"/>
            <a:ext cx="502920" cy="502920"/>
          </a:xfrm>
          <a:prstGeom prst="rect">
            <a:avLst/>
          </a:prstGeom>
        </p:spPr>
      </p:pic>
      <p:sp>
        <p:nvSpPr>
          <p:cNvPr id="6" name="Text 3"/>
          <p:cNvSpPr txBox="1"/>
          <p:nvPr/>
        </p:nvSpPr>
        <p:spPr>
          <a:xfrm>
            <a:off x="777240" y="3424428"/>
            <a:ext cx="2322576" cy="731520"/>
          </a:xfrm>
          <a:prstGeom prst="rect">
            <a:avLst/>
          </a:prstGeom>
          <a:noFill/>
          <a:ln/>
        </p:spPr>
        <p:txBody>
          <a:bodyPr wrap="square" lIns="0" tIns="0" rIns="0" bIns="0" rtlCol="0" anchor="t">
            <a:normAutofit/>
          </a:bodyPr>
          <a:lstStyle/>
          <a:p>
            <a:pPr algn="ctr" indent="0" marL="0">
              <a:buNone/>
            </a:pPr>
            <a:r>
              <a:rPr lang="en-US" sz="1100" b="1" dirty="0">
                <a:solidFill>
                  <a:schemeClr val="accent5"/>
                </a:solidFill>
                <a:latin typeface="Arial" pitchFamily="34" charset="0"/>
                <a:ea typeface="Arial" pitchFamily="34" charset="-122"/>
                <a:cs typeface="Arial" pitchFamily="34" charset="-120"/>
              </a:rPr>
              <a:t>Abbildung einfügen</a:t>
            </a:r>
            <a:endParaRPr lang="en-US" sz="1100" dirty="0"/>
          </a:p>
          <a:p>
            <a:pPr algn="ctr" indent="0" marL="0">
              <a:buNone/>
            </a:pPr>
            <a:r>
              <a:rPr lang="en-US" sz="1100" dirty="0">
                <a:solidFill>
                  <a:schemeClr val="accent5"/>
                </a:solidFill>
                <a:latin typeface="Arial" pitchFamily="34" charset="0"/>
                <a:ea typeface="Arial" pitchFamily="34" charset="-122"/>
                <a:cs typeface="Arial" pitchFamily="34" charset="-120"/>
              </a:rPr>
              <a:t>Duane Hanson: Supermarket Lady</a:t>
            </a:r>
            <a:endParaRPr lang="en-US" sz="1100" dirty="0"/>
          </a:p>
        </p:txBody>
      </p:sp>
      <p:sp>
        <p:nvSpPr>
          <p:cNvPr id="7" name="Shape 4"/>
          <p:cNvSpPr/>
          <p:nvPr/>
        </p:nvSpPr>
        <p:spPr>
          <a:xfrm>
            <a:off x="548640" y="1691640"/>
            <a:ext cx="237744" cy="0"/>
          </a:xfrm>
          <a:prstGeom prst="line">
            <a:avLst/>
          </a:prstGeom>
          <a:noFill/>
          <a:ln w="25400">
            <a:solidFill>
              <a:schemeClr val="accent1"/>
            </a:solidFill>
            <a:prstDash val="solid"/>
          </a:ln>
        </p:spPr>
      </p:sp>
      <p:sp>
        <p:nvSpPr>
          <p:cNvPr id="8" name="Shape 5"/>
          <p:cNvSpPr/>
          <p:nvPr/>
        </p:nvSpPr>
        <p:spPr>
          <a:xfrm>
            <a:off x="548640" y="1691640"/>
            <a:ext cx="0" cy="237744"/>
          </a:xfrm>
          <a:prstGeom prst="line">
            <a:avLst/>
          </a:prstGeom>
          <a:noFill/>
          <a:ln w="25400">
            <a:solidFill>
              <a:schemeClr val="accent1"/>
            </a:solidFill>
            <a:prstDash val="solid"/>
          </a:ln>
        </p:spPr>
      </p:sp>
      <p:sp>
        <p:nvSpPr>
          <p:cNvPr id="9" name="Shape 6"/>
          <p:cNvSpPr/>
          <p:nvPr/>
        </p:nvSpPr>
        <p:spPr>
          <a:xfrm>
            <a:off x="3090672" y="1691640"/>
            <a:ext cx="237744" cy="0"/>
          </a:xfrm>
          <a:prstGeom prst="line">
            <a:avLst/>
          </a:prstGeom>
          <a:noFill/>
          <a:ln w="25400">
            <a:solidFill>
              <a:schemeClr val="accent1"/>
            </a:solidFill>
            <a:prstDash val="solid"/>
          </a:ln>
        </p:spPr>
      </p:sp>
      <p:sp>
        <p:nvSpPr>
          <p:cNvPr id="10" name="Shape 7"/>
          <p:cNvSpPr/>
          <p:nvPr/>
        </p:nvSpPr>
        <p:spPr>
          <a:xfrm>
            <a:off x="3328416" y="1691640"/>
            <a:ext cx="0" cy="237744"/>
          </a:xfrm>
          <a:prstGeom prst="line">
            <a:avLst/>
          </a:prstGeom>
          <a:noFill/>
          <a:ln w="25400">
            <a:solidFill>
              <a:schemeClr val="accent1"/>
            </a:solidFill>
            <a:prstDash val="solid"/>
          </a:ln>
        </p:spPr>
      </p:sp>
      <p:sp>
        <p:nvSpPr>
          <p:cNvPr id="11" name="Shape 8"/>
          <p:cNvSpPr/>
          <p:nvPr/>
        </p:nvSpPr>
        <p:spPr>
          <a:xfrm>
            <a:off x="548640" y="5120640"/>
            <a:ext cx="237744" cy="0"/>
          </a:xfrm>
          <a:prstGeom prst="line">
            <a:avLst/>
          </a:prstGeom>
          <a:noFill/>
          <a:ln w="25400">
            <a:solidFill>
              <a:schemeClr val="accent1"/>
            </a:solidFill>
            <a:prstDash val="solid"/>
          </a:ln>
        </p:spPr>
      </p:sp>
      <p:sp>
        <p:nvSpPr>
          <p:cNvPr id="12" name="Shape 9"/>
          <p:cNvSpPr/>
          <p:nvPr/>
        </p:nvSpPr>
        <p:spPr>
          <a:xfrm>
            <a:off x="548640" y="4882896"/>
            <a:ext cx="0" cy="237744"/>
          </a:xfrm>
          <a:prstGeom prst="line">
            <a:avLst/>
          </a:prstGeom>
          <a:noFill/>
          <a:ln w="25400">
            <a:solidFill>
              <a:schemeClr val="accent1"/>
            </a:solidFill>
            <a:prstDash val="solid"/>
          </a:ln>
        </p:spPr>
      </p:sp>
      <p:sp>
        <p:nvSpPr>
          <p:cNvPr id="13" name="Shape 10"/>
          <p:cNvSpPr/>
          <p:nvPr/>
        </p:nvSpPr>
        <p:spPr>
          <a:xfrm>
            <a:off x="3090672" y="5120640"/>
            <a:ext cx="237744" cy="0"/>
          </a:xfrm>
          <a:prstGeom prst="line">
            <a:avLst/>
          </a:prstGeom>
          <a:noFill/>
          <a:ln w="25400">
            <a:solidFill>
              <a:schemeClr val="accent1"/>
            </a:solidFill>
            <a:prstDash val="solid"/>
          </a:ln>
        </p:spPr>
      </p:sp>
      <p:sp>
        <p:nvSpPr>
          <p:cNvPr id="14" name="Shape 11"/>
          <p:cNvSpPr/>
          <p:nvPr/>
        </p:nvSpPr>
        <p:spPr>
          <a:xfrm>
            <a:off x="3328416" y="4882896"/>
            <a:ext cx="0" cy="237744"/>
          </a:xfrm>
          <a:prstGeom prst="line">
            <a:avLst/>
          </a:prstGeom>
          <a:noFill/>
          <a:ln w="25400">
            <a:solidFill>
              <a:schemeClr val="accent1"/>
            </a:solidFill>
            <a:prstDash val="solid"/>
          </a:ln>
        </p:spPr>
      </p:sp>
      <p:sp>
        <p:nvSpPr>
          <p:cNvPr id="15" name="Text 12"/>
          <p:cNvSpPr txBox="1"/>
          <p:nvPr/>
        </p:nvSpPr>
        <p:spPr>
          <a:xfrm>
            <a:off x="640080" y="5257800"/>
            <a:ext cx="5135728" cy="777240"/>
          </a:xfrm>
          <a:prstGeom prst="rect">
            <a:avLst/>
          </a:prstGeom>
          <a:noFill/>
          <a:ln/>
        </p:spPr>
        <p:txBody>
          <a:bodyPr wrap="square" lIns="0" tIns="0" rIns="0" bIns="0" rtlCol="0" anchor="t"/>
          <a:lstStyle/>
          <a:p>
            <a:pPr indent="0" marL="0">
              <a:spcAft>
                <a:spcPts val="200"/>
              </a:spcAft>
              <a:buNone/>
            </a:pPr>
            <a:r>
              <a:rPr lang="en-US" sz="1300" b="1" dirty="0">
                <a:solidFill>
                  <a:schemeClr val="bg1"/>
                </a:solidFill>
                <a:latin typeface="Arial" pitchFamily="34" charset="0"/>
                <a:ea typeface="Arial" pitchFamily="34" charset="-122"/>
                <a:cs typeface="Arial" pitchFamily="34" charset="-120"/>
              </a:rPr>
              <a:t>Duane Hanson, </a:t>
            </a:r>
            <a:pPr indent="0" marL="0">
              <a:spcAft>
                <a:spcPts val="200"/>
              </a:spcAft>
              <a:buNone/>
            </a:pPr>
            <a:r>
              <a:rPr lang="en-US" sz="1300" b="1" i="1" dirty="0">
                <a:solidFill>
                  <a:schemeClr val="bg1"/>
                </a:solidFill>
                <a:latin typeface="Arial" pitchFamily="34" charset="0"/>
                <a:ea typeface="Arial" pitchFamily="34" charset="-122"/>
                <a:cs typeface="Arial" pitchFamily="34" charset="-120"/>
              </a:rPr>
              <a:t>Supermarket Lady</a:t>
            </a:r>
            <a:pPr indent="0" marL="0">
              <a:spcAft>
                <a:spcPts val="200"/>
              </a:spcAft>
              <a:buNone/>
            </a:pPr>
            <a:r>
              <a:rPr lang="en-US" sz="1300" b="1" dirty="0">
                <a:solidFill>
                  <a:schemeClr val="bg1"/>
                </a:solidFill>
                <a:latin typeface="Arial" pitchFamily="34" charset="0"/>
                <a:ea typeface="Arial" pitchFamily="34" charset="-122"/>
                <a:cs typeface="Arial" pitchFamily="34" charset="-120"/>
              </a:rPr>
              <a:t> (Supermarkt-Kundin), 1969/70</a:t>
            </a:r>
            <a:endParaRPr lang="en-US" sz="1300" dirty="0"/>
          </a:p>
          <a:p>
            <a:pPr indent="0" marL="0">
              <a:spcAft>
                <a:spcPts val="200"/>
              </a:spcAft>
              <a:buNone/>
            </a:pPr>
            <a:r>
              <a:rPr lang="en-US" sz="1100" dirty="0">
                <a:solidFill>
                  <a:schemeClr val="bg2"/>
                </a:solidFill>
                <a:latin typeface="Arial" pitchFamily="34" charset="0"/>
                <a:ea typeface="Arial" pitchFamily="34" charset="-122"/>
                <a:cs typeface="Arial" pitchFamily="34" charset="-120"/>
              </a:rPr>
              <a:t>Polyesterharz und Glasfaser, bemalt; echte Kleidung und Waren, lebensgroß · Ludwig Forum für Internationale Kunst, Aachen</a:t>
            </a:r>
            <a:endParaRPr lang="en-US" sz="1300" dirty="0"/>
          </a:p>
          <a:p>
            <a:pPr indent="0" marL="0">
              <a:spcAft>
                <a:spcPts val="200"/>
              </a:spcAft>
              <a:buNone/>
            </a:pPr>
            <a:r>
              <a:rPr lang="en-US" sz="1300" dirty="0">
                <a:solidFill>
                  <a:schemeClr val="accent1"/>
                </a:solidFill>
                <a:latin typeface="Arial" pitchFamily="34" charset="0"/>
                <a:ea typeface="Arial" pitchFamily="34" charset="-122"/>
                <a:cs typeface="Arial" pitchFamily="34" charset="-120"/>
              </a:rPr>
              <a:t>→ Abguss vom lebenden Modell – echte Kleidung, echte Waren</a:t>
            </a:r>
            <a:endParaRPr lang="en-US" sz="1300" dirty="0"/>
          </a:p>
        </p:txBody>
      </p:sp>
      <p:sp>
        <p:nvSpPr>
          <p:cNvPr id="16" name="Bildplatzhalter mueck_mask"/>
          <p:cNvSpPr/>
          <p:nvPr/>
        </p:nvSpPr>
        <p:spPr>
          <a:xfrm>
            <a:off x="6415888" y="1783080"/>
            <a:ext cx="4966564" cy="3246120"/>
          </a:xfrm>
          <a:prstGeom prst="rect">
            <a:avLst/>
          </a:prstGeom>
          <a:solidFill>
            <a:schemeClr val="tx2"/>
          </a:solidFill>
          <a:ln w="12700">
            <a:solidFill>
              <a:schemeClr val="accent3"/>
            </a:solidFill>
            <a:prstDash val="dash"/>
          </a:ln>
        </p:spPr>
      </p:sp>
      <p:pic>
        <p:nvPicPr>
          <p:cNvPr id="17" name="Image 1" descr="Platzhalter-Symbol">    </p:cNvPr>
          <p:cNvPicPr>
            <a:picLocks noChangeAspect="1"/>
          </p:cNvPicPr>
          <p:nvPr/>
        </p:nvPicPr>
        <p:blipFill>
          <a:blip r:embed="rId2"/>
          <a:stretch>
            <a:fillRect/>
          </a:stretch>
        </p:blipFill>
        <p:spPr>
          <a:xfrm>
            <a:off x="8647709" y="2857500"/>
            <a:ext cx="502920" cy="502920"/>
          </a:xfrm>
          <a:prstGeom prst="rect">
            <a:avLst/>
          </a:prstGeom>
        </p:spPr>
      </p:pic>
      <p:sp>
        <p:nvSpPr>
          <p:cNvPr id="18" name="Text 14"/>
          <p:cNvSpPr txBox="1"/>
          <p:nvPr/>
        </p:nvSpPr>
        <p:spPr>
          <a:xfrm>
            <a:off x="6553048" y="3424428"/>
            <a:ext cx="4692244" cy="731520"/>
          </a:xfrm>
          <a:prstGeom prst="rect">
            <a:avLst/>
          </a:prstGeom>
          <a:noFill/>
          <a:ln/>
        </p:spPr>
        <p:txBody>
          <a:bodyPr wrap="square" lIns="0" tIns="0" rIns="0" bIns="0" rtlCol="0" anchor="t">
            <a:normAutofit/>
          </a:bodyPr>
          <a:lstStyle/>
          <a:p>
            <a:pPr algn="ctr" indent="0" marL="0">
              <a:buNone/>
            </a:pPr>
            <a:r>
              <a:rPr lang="en-US" sz="1100" b="1" dirty="0">
                <a:solidFill>
                  <a:schemeClr val="accent5"/>
                </a:solidFill>
                <a:latin typeface="Arial" pitchFamily="34" charset="0"/>
                <a:ea typeface="Arial" pitchFamily="34" charset="-122"/>
                <a:cs typeface="Arial" pitchFamily="34" charset="-120"/>
              </a:rPr>
              <a:t>Abbildung einfügen</a:t>
            </a:r>
            <a:endParaRPr lang="en-US" sz="1100" dirty="0"/>
          </a:p>
          <a:p>
            <a:pPr algn="ctr" indent="0" marL="0">
              <a:buNone/>
            </a:pPr>
            <a:r>
              <a:rPr lang="en-US" sz="1100" dirty="0">
                <a:solidFill>
                  <a:schemeClr val="accent5"/>
                </a:solidFill>
                <a:latin typeface="Arial" pitchFamily="34" charset="0"/>
                <a:ea typeface="Arial" pitchFamily="34" charset="-122"/>
                <a:cs typeface="Arial" pitchFamily="34" charset="-120"/>
              </a:rPr>
              <a:t>Ron Mueck: Mask II</a:t>
            </a:r>
            <a:endParaRPr lang="en-US" sz="1100" dirty="0"/>
          </a:p>
        </p:txBody>
      </p:sp>
      <p:sp>
        <p:nvSpPr>
          <p:cNvPr id="19" name="Shape 15"/>
          <p:cNvSpPr/>
          <p:nvPr/>
        </p:nvSpPr>
        <p:spPr>
          <a:xfrm>
            <a:off x="6324448" y="1691640"/>
            <a:ext cx="237744" cy="0"/>
          </a:xfrm>
          <a:prstGeom prst="line">
            <a:avLst/>
          </a:prstGeom>
          <a:noFill/>
          <a:ln w="25400">
            <a:solidFill>
              <a:schemeClr val="accent1"/>
            </a:solidFill>
            <a:prstDash val="solid"/>
          </a:ln>
        </p:spPr>
      </p:sp>
      <p:sp>
        <p:nvSpPr>
          <p:cNvPr id="20" name="Shape 16"/>
          <p:cNvSpPr/>
          <p:nvPr/>
        </p:nvSpPr>
        <p:spPr>
          <a:xfrm>
            <a:off x="6324448" y="1691640"/>
            <a:ext cx="0" cy="237744"/>
          </a:xfrm>
          <a:prstGeom prst="line">
            <a:avLst/>
          </a:prstGeom>
          <a:noFill/>
          <a:ln w="25400">
            <a:solidFill>
              <a:schemeClr val="accent1"/>
            </a:solidFill>
            <a:prstDash val="solid"/>
          </a:ln>
        </p:spPr>
      </p:sp>
      <p:sp>
        <p:nvSpPr>
          <p:cNvPr id="21" name="Shape 17"/>
          <p:cNvSpPr/>
          <p:nvPr/>
        </p:nvSpPr>
        <p:spPr>
          <a:xfrm>
            <a:off x="11236147" y="1691640"/>
            <a:ext cx="237744" cy="0"/>
          </a:xfrm>
          <a:prstGeom prst="line">
            <a:avLst/>
          </a:prstGeom>
          <a:noFill/>
          <a:ln w="25400">
            <a:solidFill>
              <a:schemeClr val="accent1"/>
            </a:solidFill>
            <a:prstDash val="solid"/>
          </a:ln>
        </p:spPr>
      </p:sp>
      <p:sp>
        <p:nvSpPr>
          <p:cNvPr id="22" name="Shape 18"/>
          <p:cNvSpPr/>
          <p:nvPr/>
        </p:nvSpPr>
        <p:spPr>
          <a:xfrm>
            <a:off x="11473891" y="1691640"/>
            <a:ext cx="0" cy="237744"/>
          </a:xfrm>
          <a:prstGeom prst="line">
            <a:avLst/>
          </a:prstGeom>
          <a:noFill/>
          <a:ln w="25400">
            <a:solidFill>
              <a:schemeClr val="accent1"/>
            </a:solidFill>
            <a:prstDash val="solid"/>
          </a:ln>
        </p:spPr>
      </p:sp>
      <p:sp>
        <p:nvSpPr>
          <p:cNvPr id="23" name="Shape 19"/>
          <p:cNvSpPr/>
          <p:nvPr/>
        </p:nvSpPr>
        <p:spPr>
          <a:xfrm>
            <a:off x="6324448" y="5120640"/>
            <a:ext cx="237744" cy="0"/>
          </a:xfrm>
          <a:prstGeom prst="line">
            <a:avLst/>
          </a:prstGeom>
          <a:noFill/>
          <a:ln w="25400">
            <a:solidFill>
              <a:schemeClr val="accent1"/>
            </a:solidFill>
            <a:prstDash val="solid"/>
          </a:ln>
        </p:spPr>
      </p:sp>
      <p:sp>
        <p:nvSpPr>
          <p:cNvPr id="24" name="Shape 20"/>
          <p:cNvSpPr/>
          <p:nvPr/>
        </p:nvSpPr>
        <p:spPr>
          <a:xfrm>
            <a:off x="6324448" y="4882896"/>
            <a:ext cx="0" cy="237744"/>
          </a:xfrm>
          <a:prstGeom prst="line">
            <a:avLst/>
          </a:prstGeom>
          <a:noFill/>
          <a:ln w="25400">
            <a:solidFill>
              <a:schemeClr val="accent1"/>
            </a:solidFill>
            <a:prstDash val="solid"/>
          </a:ln>
        </p:spPr>
      </p:sp>
      <p:sp>
        <p:nvSpPr>
          <p:cNvPr id="25" name="Shape 21"/>
          <p:cNvSpPr/>
          <p:nvPr/>
        </p:nvSpPr>
        <p:spPr>
          <a:xfrm>
            <a:off x="11236147" y="5120640"/>
            <a:ext cx="237744" cy="0"/>
          </a:xfrm>
          <a:prstGeom prst="line">
            <a:avLst/>
          </a:prstGeom>
          <a:noFill/>
          <a:ln w="25400">
            <a:solidFill>
              <a:schemeClr val="accent1"/>
            </a:solidFill>
            <a:prstDash val="solid"/>
          </a:ln>
        </p:spPr>
      </p:sp>
      <p:sp>
        <p:nvSpPr>
          <p:cNvPr id="26" name="Shape 22"/>
          <p:cNvSpPr/>
          <p:nvPr/>
        </p:nvSpPr>
        <p:spPr>
          <a:xfrm>
            <a:off x="11473891" y="4882896"/>
            <a:ext cx="0" cy="237744"/>
          </a:xfrm>
          <a:prstGeom prst="line">
            <a:avLst/>
          </a:prstGeom>
          <a:noFill/>
          <a:ln w="25400">
            <a:solidFill>
              <a:schemeClr val="accent1"/>
            </a:solidFill>
            <a:prstDash val="solid"/>
          </a:ln>
        </p:spPr>
      </p:sp>
      <p:sp>
        <p:nvSpPr>
          <p:cNvPr id="27" name="Text 23"/>
          <p:cNvSpPr txBox="1"/>
          <p:nvPr/>
        </p:nvSpPr>
        <p:spPr>
          <a:xfrm>
            <a:off x="6415888" y="5257800"/>
            <a:ext cx="5135728" cy="777240"/>
          </a:xfrm>
          <a:prstGeom prst="rect">
            <a:avLst/>
          </a:prstGeom>
          <a:noFill/>
          <a:ln/>
        </p:spPr>
        <p:txBody>
          <a:bodyPr wrap="square" lIns="0" tIns="0" rIns="0" bIns="0" rtlCol="0" anchor="t"/>
          <a:lstStyle/>
          <a:p>
            <a:pPr indent="0" marL="0">
              <a:spcAft>
                <a:spcPts val="200"/>
              </a:spcAft>
              <a:buNone/>
            </a:pPr>
            <a:r>
              <a:rPr lang="en-US" sz="1300" b="1" dirty="0">
                <a:solidFill>
                  <a:schemeClr val="bg1"/>
                </a:solidFill>
                <a:latin typeface="Arial" pitchFamily="34" charset="0"/>
                <a:ea typeface="Arial" pitchFamily="34" charset="-122"/>
                <a:cs typeface="Arial" pitchFamily="34" charset="-120"/>
              </a:rPr>
              <a:t>Ron Mueck, </a:t>
            </a:r>
            <a:pPr indent="0" marL="0">
              <a:spcAft>
                <a:spcPts val="200"/>
              </a:spcAft>
              <a:buNone/>
            </a:pPr>
            <a:r>
              <a:rPr lang="en-US" sz="1300" b="1" i="1" dirty="0">
                <a:solidFill>
                  <a:schemeClr val="bg1"/>
                </a:solidFill>
                <a:latin typeface="Arial" pitchFamily="34" charset="0"/>
                <a:ea typeface="Arial" pitchFamily="34" charset="-122"/>
                <a:cs typeface="Arial" pitchFamily="34" charset="-120"/>
              </a:rPr>
              <a:t>Mask II</a:t>
            </a:r>
            <a:pPr indent="0" marL="0">
              <a:spcAft>
                <a:spcPts val="200"/>
              </a:spcAft>
              <a:buNone/>
            </a:pPr>
            <a:r>
              <a:rPr lang="en-US" sz="1300" b="1" dirty="0">
                <a:solidFill>
                  <a:schemeClr val="bg1"/>
                </a:solidFill>
                <a:latin typeface="Arial" pitchFamily="34" charset="0"/>
                <a:ea typeface="Arial" pitchFamily="34" charset="-122"/>
                <a:cs typeface="Arial" pitchFamily="34" charset="-120"/>
              </a:rPr>
              <a:t> (Maske II), 2001–02</a:t>
            </a:r>
            <a:endParaRPr lang="en-US" sz="1300" dirty="0"/>
          </a:p>
          <a:p>
            <a:pPr indent="0" marL="0">
              <a:spcAft>
                <a:spcPts val="200"/>
              </a:spcAft>
              <a:buNone/>
            </a:pPr>
            <a:r>
              <a:rPr lang="en-US" sz="1100" dirty="0">
                <a:solidFill>
                  <a:schemeClr val="bg2"/>
                </a:solidFill>
                <a:latin typeface="Arial" pitchFamily="34" charset="0"/>
                <a:ea typeface="Arial" pitchFamily="34" charset="-122"/>
                <a:cs typeface="Arial" pitchFamily="34" charset="-120"/>
              </a:rPr>
              <a:t>Mischtechnik (u. a. Polyesterharz, Glasfaser, Kunsthaar), 77,2 × 118,1 × 85,1 cm · San Francisco Museum of Modern Art</a:t>
            </a:r>
            <a:endParaRPr lang="en-US" sz="1300" dirty="0"/>
          </a:p>
          <a:p>
            <a:pPr indent="0" marL="0">
              <a:spcAft>
                <a:spcPts val="200"/>
              </a:spcAft>
              <a:buNone/>
            </a:pPr>
            <a:r>
              <a:rPr lang="en-US" sz="1300" dirty="0">
                <a:solidFill>
                  <a:schemeClr val="accent1"/>
                </a:solidFill>
                <a:latin typeface="Arial" pitchFamily="34" charset="0"/>
                <a:ea typeface="Arial" pitchFamily="34" charset="-122"/>
                <a:cs typeface="Arial" pitchFamily="34" charset="-120"/>
              </a:rPr>
              <a:t>→ Kopf in etwa vierfacher Größe – jede Pore sichtbar</a:t>
            </a:r>
            <a:endParaRPr lang="en-US" sz="13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lIns="0" tIns="0" rIns="0" bIns="0" rtlCol="0" anchor="ctr"/>
          <a:lstStyle/>
          <a:p>
            <a:pPr algn="l" indent="0" marL="0">
              <a:buNone/>
            </a:pPr>
            <a:r>
              <a:rPr lang="en-US" sz="1200" b="1" spc="300" kern="0" dirty="0">
                <a:solidFill>
                  <a:schemeClr val="accent1"/>
                </a:solidFill>
                <a:latin typeface="Arial" pitchFamily="34" charset="0"/>
                <a:ea typeface="Arial" pitchFamily="34" charset="-122"/>
                <a:cs typeface="Arial" pitchFamily="34" charset="-120"/>
              </a:rPr>
              <a:t>05 · WERKBEISPIELE</a:t>
            </a:r>
            <a:endParaRPr lang="en-US" sz="1200" dirty="0"/>
          </a:p>
        </p:txBody>
      </p:sp>
      <p:sp>
        <p:nvSpPr>
          <p:cNvPr id="3" name="Text 0"/>
          <p:cNvSpPr/>
          <p:nvPr>
            <p:ph idx="101" type="title" hasCustomPrompt="1"/>
          </p:nvPr>
        </p:nvSpPr>
        <p:spPr>
          <a:xfrm>
            <a:off x="548640" y="694944"/>
            <a:ext cx="11094415" cy="749808"/>
          </a:xfrm>
          <a:prstGeom prst="rect">
            <a:avLst/>
          </a:prstGeom>
          <a:noFill/>
          <a:ln/>
        </p:spPr>
        <p:txBody>
          <a:bodyPr wrap="square" lIns="0" tIns="0" rIns="0" bIns="0" rtlCol="0" anchor="t"/>
          <a:lstStyle/>
          <a:p>
            <a:pPr algn="l" indent="0" marL="0">
              <a:buNone/>
            </a:pPr>
            <a:r>
              <a:rPr lang="en-US" sz="3200" b="1" dirty="0">
                <a:solidFill>
                  <a:schemeClr val="bg1"/>
                </a:solidFill>
                <a:latin typeface="Georgia" pitchFamily="34" charset="0"/>
                <a:ea typeface="Georgia" pitchFamily="34" charset="-122"/>
                <a:cs typeface="Georgia" pitchFamily="34" charset="-120"/>
              </a:rPr>
              <a:t>Hyperrealismus heute: mehr als ein Foto</a:t>
            </a:r>
            <a:endParaRPr lang="en-US" sz="3200" dirty="0"/>
          </a:p>
        </p:txBody>
      </p:sp>
      <p:sp>
        <p:nvSpPr>
          <p:cNvPr id="4" name="Bildplatzhalter helnwein_epiphany"/>
          <p:cNvSpPr/>
          <p:nvPr/>
        </p:nvSpPr>
        <p:spPr>
          <a:xfrm>
            <a:off x="640080" y="1783080"/>
            <a:ext cx="4349801" cy="3246120"/>
          </a:xfrm>
          <a:prstGeom prst="rect">
            <a:avLst/>
          </a:prstGeom>
          <a:solidFill>
            <a:schemeClr val="tx2"/>
          </a:solidFill>
          <a:ln w="12700">
            <a:solidFill>
              <a:schemeClr val="accent3"/>
            </a:solidFill>
            <a:prstDash val="dash"/>
          </a:ln>
        </p:spPr>
      </p:sp>
      <p:pic>
        <p:nvPicPr>
          <p:cNvPr id="5" name="Image 0" descr="Platzhalter-Symbol">    </p:cNvPr>
          <p:cNvPicPr>
            <a:picLocks noChangeAspect="1"/>
          </p:cNvPicPr>
          <p:nvPr/>
        </p:nvPicPr>
        <p:blipFill>
          <a:blip r:embed="rId1"/>
          <a:stretch>
            <a:fillRect/>
          </a:stretch>
        </p:blipFill>
        <p:spPr>
          <a:xfrm>
            <a:off x="2563520" y="2857500"/>
            <a:ext cx="502920" cy="502920"/>
          </a:xfrm>
          <a:prstGeom prst="rect">
            <a:avLst/>
          </a:prstGeom>
        </p:spPr>
      </p:pic>
      <p:sp>
        <p:nvSpPr>
          <p:cNvPr id="6" name="Text 3"/>
          <p:cNvSpPr txBox="1"/>
          <p:nvPr/>
        </p:nvSpPr>
        <p:spPr>
          <a:xfrm>
            <a:off x="777240" y="3424428"/>
            <a:ext cx="4075481" cy="731520"/>
          </a:xfrm>
          <a:prstGeom prst="rect">
            <a:avLst/>
          </a:prstGeom>
          <a:noFill/>
          <a:ln/>
        </p:spPr>
        <p:txBody>
          <a:bodyPr wrap="square" lIns="0" tIns="0" rIns="0" bIns="0" rtlCol="0" anchor="t">
            <a:normAutofit/>
          </a:bodyPr>
          <a:lstStyle/>
          <a:p>
            <a:pPr algn="ctr" indent="0" marL="0">
              <a:buNone/>
            </a:pPr>
            <a:r>
              <a:rPr lang="en-US" sz="1100" b="1" dirty="0">
                <a:solidFill>
                  <a:schemeClr val="accent5"/>
                </a:solidFill>
                <a:latin typeface="Arial" pitchFamily="34" charset="0"/>
                <a:ea typeface="Arial" pitchFamily="34" charset="-122"/>
                <a:cs typeface="Arial" pitchFamily="34" charset="-120"/>
              </a:rPr>
              <a:t>Abbildung einfügen</a:t>
            </a:r>
            <a:endParaRPr lang="en-US" sz="1100" dirty="0"/>
          </a:p>
          <a:p>
            <a:pPr algn="ctr" indent="0" marL="0">
              <a:buNone/>
            </a:pPr>
            <a:r>
              <a:rPr lang="en-US" sz="1100" dirty="0">
                <a:solidFill>
                  <a:schemeClr val="accent5"/>
                </a:solidFill>
                <a:latin typeface="Arial" pitchFamily="34" charset="0"/>
                <a:ea typeface="Arial" pitchFamily="34" charset="-122"/>
                <a:cs typeface="Arial" pitchFamily="34" charset="-120"/>
              </a:rPr>
              <a:t>Gottfried Helnwein: Epiphany II (Adoration of the Shepherds)</a:t>
            </a:r>
            <a:endParaRPr lang="en-US" sz="1100" dirty="0"/>
          </a:p>
        </p:txBody>
      </p:sp>
      <p:sp>
        <p:nvSpPr>
          <p:cNvPr id="7" name="Shape 4"/>
          <p:cNvSpPr/>
          <p:nvPr/>
        </p:nvSpPr>
        <p:spPr>
          <a:xfrm>
            <a:off x="548640" y="1691640"/>
            <a:ext cx="237744" cy="0"/>
          </a:xfrm>
          <a:prstGeom prst="line">
            <a:avLst/>
          </a:prstGeom>
          <a:noFill/>
          <a:ln w="25400">
            <a:solidFill>
              <a:schemeClr val="accent1"/>
            </a:solidFill>
            <a:prstDash val="solid"/>
          </a:ln>
        </p:spPr>
      </p:sp>
      <p:sp>
        <p:nvSpPr>
          <p:cNvPr id="8" name="Shape 5"/>
          <p:cNvSpPr/>
          <p:nvPr/>
        </p:nvSpPr>
        <p:spPr>
          <a:xfrm>
            <a:off x="548640" y="1691640"/>
            <a:ext cx="0" cy="237744"/>
          </a:xfrm>
          <a:prstGeom prst="line">
            <a:avLst/>
          </a:prstGeom>
          <a:noFill/>
          <a:ln w="25400">
            <a:solidFill>
              <a:schemeClr val="accent1"/>
            </a:solidFill>
            <a:prstDash val="solid"/>
          </a:ln>
        </p:spPr>
      </p:sp>
      <p:sp>
        <p:nvSpPr>
          <p:cNvPr id="9" name="Shape 6"/>
          <p:cNvSpPr/>
          <p:nvPr/>
        </p:nvSpPr>
        <p:spPr>
          <a:xfrm>
            <a:off x="4843577" y="1691640"/>
            <a:ext cx="237744" cy="0"/>
          </a:xfrm>
          <a:prstGeom prst="line">
            <a:avLst/>
          </a:prstGeom>
          <a:noFill/>
          <a:ln w="25400">
            <a:solidFill>
              <a:schemeClr val="accent1"/>
            </a:solidFill>
            <a:prstDash val="solid"/>
          </a:ln>
        </p:spPr>
      </p:sp>
      <p:sp>
        <p:nvSpPr>
          <p:cNvPr id="10" name="Shape 7"/>
          <p:cNvSpPr/>
          <p:nvPr/>
        </p:nvSpPr>
        <p:spPr>
          <a:xfrm>
            <a:off x="5081321" y="1691640"/>
            <a:ext cx="0" cy="237744"/>
          </a:xfrm>
          <a:prstGeom prst="line">
            <a:avLst/>
          </a:prstGeom>
          <a:noFill/>
          <a:ln w="25400">
            <a:solidFill>
              <a:schemeClr val="accent1"/>
            </a:solidFill>
            <a:prstDash val="solid"/>
          </a:ln>
        </p:spPr>
      </p:sp>
      <p:sp>
        <p:nvSpPr>
          <p:cNvPr id="11" name="Shape 8"/>
          <p:cNvSpPr/>
          <p:nvPr/>
        </p:nvSpPr>
        <p:spPr>
          <a:xfrm>
            <a:off x="548640" y="5120640"/>
            <a:ext cx="237744" cy="0"/>
          </a:xfrm>
          <a:prstGeom prst="line">
            <a:avLst/>
          </a:prstGeom>
          <a:noFill/>
          <a:ln w="25400">
            <a:solidFill>
              <a:schemeClr val="accent1"/>
            </a:solidFill>
            <a:prstDash val="solid"/>
          </a:ln>
        </p:spPr>
      </p:sp>
      <p:sp>
        <p:nvSpPr>
          <p:cNvPr id="12" name="Shape 9"/>
          <p:cNvSpPr/>
          <p:nvPr/>
        </p:nvSpPr>
        <p:spPr>
          <a:xfrm>
            <a:off x="548640" y="4882896"/>
            <a:ext cx="0" cy="237744"/>
          </a:xfrm>
          <a:prstGeom prst="line">
            <a:avLst/>
          </a:prstGeom>
          <a:noFill/>
          <a:ln w="25400">
            <a:solidFill>
              <a:schemeClr val="accent1"/>
            </a:solidFill>
            <a:prstDash val="solid"/>
          </a:ln>
        </p:spPr>
      </p:sp>
      <p:sp>
        <p:nvSpPr>
          <p:cNvPr id="13" name="Shape 10"/>
          <p:cNvSpPr/>
          <p:nvPr/>
        </p:nvSpPr>
        <p:spPr>
          <a:xfrm>
            <a:off x="4843577" y="5120640"/>
            <a:ext cx="237744" cy="0"/>
          </a:xfrm>
          <a:prstGeom prst="line">
            <a:avLst/>
          </a:prstGeom>
          <a:noFill/>
          <a:ln w="25400">
            <a:solidFill>
              <a:schemeClr val="accent1"/>
            </a:solidFill>
            <a:prstDash val="solid"/>
          </a:ln>
        </p:spPr>
      </p:sp>
      <p:sp>
        <p:nvSpPr>
          <p:cNvPr id="14" name="Shape 11"/>
          <p:cNvSpPr/>
          <p:nvPr/>
        </p:nvSpPr>
        <p:spPr>
          <a:xfrm>
            <a:off x="5081321" y="4882896"/>
            <a:ext cx="0" cy="237744"/>
          </a:xfrm>
          <a:prstGeom prst="line">
            <a:avLst/>
          </a:prstGeom>
          <a:noFill/>
          <a:ln w="25400">
            <a:solidFill>
              <a:schemeClr val="accent1"/>
            </a:solidFill>
            <a:prstDash val="solid"/>
          </a:ln>
        </p:spPr>
      </p:sp>
      <p:sp>
        <p:nvSpPr>
          <p:cNvPr id="15" name="Text 12"/>
          <p:cNvSpPr txBox="1"/>
          <p:nvPr/>
        </p:nvSpPr>
        <p:spPr>
          <a:xfrm>
            <a:off x="640080" y="5257800"/>
            <a:ext cx="5135728" cy="777240"/>
          </a:xfrm>
          <a:prstGeom prst="rect">
            <a:avLst/>
          </a:prstGeom>
          <a:noFill/>
          <a:ln/>
        </p:spPr>
        <p:txBody>
          <a:bodyPr wrap="square" lIns="0" tIns="0" rIns="0" bIns="0" rtlCol="0" anchor="t"/>
          <a:lstStyle/>
          <a:p>
            <a:pPr indent="0" marL="0">
              <a:spcAft>
                <a:spcPts val="200"/>
              </a:spcAft>
              <a:buNone/>
            </a:pPr>
            <a:r>
              <a:rPr lang="en-US" sz="1300" b="1" dirty="0">
                <a:solidFill>
                  <a:schemeClr val="bg1"/>
                </a:solidFill>
                <a:latin typeface="Arial" pitchFamily="34" charset="0"/>
                <a:ea typeface="Arial" pitchFamily="34" charset="-122"/>
                <a:cs typeface="Arial" pitchFamily="34" charset="-120"/>
              </a:rPr>
              <a:t>Gottfried Helnwein, </a:t>
            </a:r>
            <a:pPr indent="0" marL="0">
              <a:spcAft>
                <a:spcPts val="200"/>
              </a:spcAft>
              <a:buNone/>
            </a:pPr>
            <a:r>
              <a:rPr lang="en-US" sz="1300" b="1" i="1" dirty="0">
                <a:solidFill>
                  <a:schemeClr val="bg1"/>
                </a:solidFill>
                <a:latin typeface="Arial" pitchFamily="34" charset="0"/>
                <a:ea typeface="Arial" pitchFamily="34" charset="-122"/>
                <a:cs typeface="Arial" pitchFamily="34" charset="-120"/>
              </a:rPr>
              <a:t>Epiphany II (Adoration of the Shepherds)</a:t>
            </a:r>
            <a:pPr indent="0" marL="0">
              <a:spcAft>
                <a:spcPts val="200"/>
              </a:spcAft>
              <a:buNone/>
            </a:pPr>
            <a:r>
              <a:rPr lang="en-US" sz="1300" b="1" dirty="0">
                <a:solidFill>
                  <a:schemeClr val="bg1"/>
                </a:solidFill>
                <a:latin typeface="Arial" pitchFamily="34" charset="0"/>
                <a:ea typeface="Arial" pitchFamily="34" charset="-122"/>
                <a:cs typeface="Arial" pitchFamily="34" charset="-120"/>
              </a:rPr>
              <a:t> (Epiphanie II (Anbetung der Hirten)), 1998</a:t>
            </a:r>
            <a:endParaRPr lang="en-US" sz="1300" dirty="0"/>
          </a:p>
          <a:p>
            <a:pPr indent="0" marL="0">
              <a:spcAft>
                <a:spcPts val="200"/>
              </a:spcAft>
              <a:buNone/>
            </a:pPr>
            <a:r>
              <a:rPr lang="en-US" sz="1100" dirty="0">
                <a:solidFill>
                  <a:schemeClr val="bg2"/>
                </a:solidFill>
                <a:latin typeface="Arial" pitchFamily="34" charset="0"/>
                <a:ea typeface="Arial" pitchFamily="34" charset="-122"/>
                <a:cs typeface="Arial" pitchFamily="34" charset="-120"/>
              </a:rPr>
              <a:t>Öl und Acryl auf Leinwand, 249,6 × 334 cm · de Young Museum, San Francisco</a:t>
            </a:r>
            <a:endParaRPr lang="en-US" sz="1300" dirty="0"/>
          </a:p>
          <a:p>
            <a:pPr indent="0" marL="0">
              <a:spcAft>
                <a:spcPts val="200"/>
              </a:spcAft>
              <a:buNone/>
            </a:pPr>
            <a:r>
              <a:rPr lang="en-US" sz="1300" dirty="0">
                <a:solidFill>
                  <a:schemeClr val="accent1"/>
                </a:solidFill>
                <a:latin typeface="Arial" pitchFamily="34" charset="0"/>
                <a:ea typeface="Arial" pitchFamily="34" charset="-122"/>
                <a:cs typeface="Arial" pitchFamily="34" charset="-120"/>
              </a:rPr>
              <a:t>→ Christliches Bildthema trifft NS-Bildwelt – Hyperrealismus als Provokation</a:t>
            </a:r>
            <a:endParaRPr lang="en-US" sz="1300" dirty="0"/>
          </a:p>
        </p:txBody>
      </p:sp>
      <p:sp>
        <p:nvSpPr>
          <p:cNvPr id="16" name="Bildplatzhalter thielker_exhale"/>
          <p:cNvSpPr/>
          <p:nvPr/>
        </p:nvSpPr>
        <p:spPr>
          <a:xfrm>
            <a:off x="6415888" y="1783080"/>
            <a:ext cx="4869180" cy="3246120"/>
          </a:xfrm>
          <a:prstGeom prst="rect">
            <a:avLst/>
          </a:prstGeom>
          <a:solidFill>
            <a:schemeClr val="tx2"/>
          </a:solidFill>
          <a:ln w="12700">
            <a:solidFill>
              <a:schemeClr val="accent3"/>
            </a:solidFill>
            <a:prstDash val="dash"/>
          </a:ln>
        </p:spPr>
      </p:sp>
      <p:pic>
        <p:nvPicPr>
          <p:cNvPr id="17" name="Image 1" descr="Platzhalter-Symbol">    </p:cNvPr>
          <p:cNvPicPr>
            <a:picLocks noChangeAspect="1"/>
          </p:cNvPicPr>
          <p:nvPr/>
        </p:nvPicPr>
        <p:blipFill>
          <a:blip r:embed="rId2"/>
          <a:stretch>
            <a:fillRect/>
          </a:stretch>
        </p:blipFill>
        <p:spPr>
          <a:xfrm>
            <a:off x="8599018" y="2857500"/>
            <a:ext cx="502920" cy="502920"/>
          </a:xfrm>
          <a:prstGeom prst="rect">
            <a:avLst/>
          </a:prstGeom>
        </p:spPr>
      </p:pic>
      <p:sp>
        <p:nvSpPr>
          <p:cNvPr id="18" name="Text 14"/>
          <p:cNvSpPr txBox="1"/>
          <p:nvPr/>
        </p:nvSpPr>
        <p:spPr>
          <a:xfrm>
            <a:off x="6553048" y="3424428"/>
            <a:ext cx="4594860" cy="731520"/>
          </a:xfrm>
          <a:prstGeom prst="rect">
            <a:avLst/>
          </a:prstGeom>
          <a:noFill/>
          <a:ln/>
        </p:spPr>
        <p:txBody>
          <a:bodyPr wrap="square" lIns="0" tIns="0" rIns="0" bIns="0" rtlCol="0" anchor="t">
            <a:normAutofit/>
          </a:bodyPr>
          <a:lstStyle/>
          <a:p>
            <a:pPr algn="ctr" indent="0" marL="0">
              <a:buNone/>
            </a:pPr>
            <a:r>
              <a:rPr lang="en-US" sz="1100" b="1" dirty="0">
                <a:solidFill>
                  <a:schemeClr val="accent5"/>
                </a:solidFill>
                <a:latin typeface="Arial" pitchFamily="34" charset="0"/>
                <a:ea typeface="Arial" pitchFamily="34" charset="-122"/>
                <a:cs typeface="Arial" pitchFamily="34" charset="-120"/>
              </a:rPr>
              <a:t>Abbildung einfügen</a:t>
            </a:r>
            <a:endParaRPr lang="en-US" sz="1100" dirty="0"/>
          </a:p>
          <a:p>
            <a:pPr algn="ctr" indent="0" marL="0">
              <a:buNone/>
            </a:pPr>
            <a:r>
              <a:rPr lang="en-US" sz="1100" dirty="0">
                <a:solidFill>
                  <a:schemeClr val="accent5"/>
                </a:solidFill>
                <a:latin typeface="Arial" pitchFamily="34" charset="0"/>
                <a:ea typeface="Arial" pitchFamily="34" charset="-122"/>
                <a:cs typeface="Arial" pitchFamily="34" charset="-120"/>
              </a:rPr>
              <a:t>Gregory Thielker: Exhale</a:t>
            </a:r>
            <a:endParaRPr lang="en-US" sz="1100" dirty="0"/>
          </a:p>
        </p:txBody>
      </p:sp>
      <p:sp>
        <p:nvSpPr>
          <p:cNvPr id="19" name="Shape 15"/>
          <p:cNvSpPr/>
          <p:nvPr/>
        </p:nvSpPr>
        <p:spPr>
          <a:xfrm>
            <a:off x="6324448" y="1691640"/>
            <a:ext cx="237744" cy="0"/>
          </a:xfrm>
          <a:prstGeom prst="line">
            <a:avLst/>
          </a:prstGeom>
          <a:noFill/>
          <a:ln w="25400">
            <a:solidFill>
              <a:schemeClr val="accent1"/>
            </a:solidFill>
            <a:prstDash val="solid"/>
          </a:ln>
        </p:spPr>
      </p:sp>
      <p:sp>
        <p:nvSpPr>
          <p:cNvPr id="20" name="Shape 16"/>
          <p:cNvSpPr/>
          <p:nvPr/>
        </p:nvSpPr>
        <p:spPr>
          <a:xfrm>
            <a:off x="6324448" y="1691640"/>
            <a:ext cx="0" cy="237744"/>
          </a:xfrm>
          <a:prstGeom prst="line">
            <a:avLst/>
          </a:prstGeom>
          <a:noFill/>
          <a:ln w="25400">
            <a:solidFill>
              <a:schemeClr val="accent1"/>
            </a:solidFill>
            <a:prstDash val="solid"/>
          </a:ln>
        </p:spPr>
      </p:sp>
      <p:sp>
        <p:nvSpPr>
          <p:cNvPr id="21" name="Shape 17"/>
          <p:cNvSpPr/>
          <p:nvPr/>
        </p:nvSpPr>
        <p:spPr>
          <a:xfrm>
            <a:off x="11138764" y="1691640"/>
            <a:ext cx="237744" cy="0"/>
          </a:xfrm>
          <a:prstGeom prst="line">
            <a:avLst/>
          </a:prstGeom>
          <a:noFill/>
          <a:ln w="25400">
            <a:solidFill>
              <a:schemeClr val="accent1"/>
            </a:solidFill>
            <a:prstDash val="solid"/>
          </a:ln>
        </p:spPr>
      </p:sp>
      <p:sp>
        <p:nvSpPr>
          <p:cNvPr id="22" name="Shape 18"/>
          <p:cNvSpPr/>
          <p:nvPr/>
        </p:nvSpPr>
        <p:spPr>
          <a:xfrm>
            <a:off x="11376508" y="1691640"/>
            <a:ext cx="0" cy="237744"/>
          </a:xfrm>
          <a:prstGeom prst="line">
            <a:avLst/>
          </a:prstGeom>
          <a:noFill/>
          <a:ln w="25400">
            <a:solidFill>
              <a:schemeClr val="accent1"/>
            </a:solidFill>
            <a:prstDash val="solid"/>
          </a:ln>
        </p:spPr>
      </p:sp>
      <p:sp>
        <p:nvSpPr>
          <p:cNvPr id="23" name="Shape 19"/>
          <p:cNvSpPr/>
          <p:nvPr/>
        </p:nvSpPr>
        <p:spPr>
          <a:xfrm>
            <a:off x="6324448" y="5120640"/>
            <a:ext cx="237744" cy="0"/>
          </a:xfrm>
          <a:prstGeom prst="line">
            <a:avLst/>
          </a:prstGeom>
          <a:noFill/>
          <a:ln w="25400">
            <a:solidFill>
              <a:schemeClr val="accent1"/>
            </a:solidFill>
            <a:prstDash val="solid"/>
          </a:ln>
        </p:spPr>
      </p:sp>
      <p:sp>
        <p:nvSpPr>
          <p:cNvPr id="24" name="Shape 20"/>
          <p:cNvSpPr/>
          <p:nvPr/>
        </p:nvSpPr>
        <p:spPr>
          <a:xfrm>
            <a:off x="6324448" y="4882896"/>
            <a:ext cx="0" cy="237744"/>
          </a:xfrm>
          <a:prstGeom prst="line">
            <a:avLst/>
          </a:prstGeom>
          <a:noFill/>
          <a:ln w="25400">
            <a:solidFill>
              <a:schemeClr val="accent1"/>
            </a:solidFill>
            <a:prstDash val="solid"/>
          </a:ln>
        </p:spPr>
      </p:sp>
      <p:sp>
        <p:nvSpPr>
          <p:cNvPr id="25" name="Shape 21"/>
          <p:cNvSpPr/>
          <p:nvPr/>
        </p:nvSpPr>
        <p:spPr>
          <a:xfrm>
            <a:off x="11138764" y="5120640"/>
            <a:ext cx="237744" cy="0"/>
          </a:xfrm>
          <a:prstGeom prst="line">
            <a:avLst/>
          </a:prstGeom>
          <a:noFill/>
          <a:ln w="25400">
            <a:solidFill>
              <a:schemeClr val="accent1"/>
            </a:solidFill>
            <a:prstDash val="solid"/>
          </a:ln>
        </p:spPr>
      </p:sp>
      <p:sp>
        <p:nvSpPr>
          <p:cNvPr id="26" name="Shape 22"/>
          <p:cNvSpPr/>
          <p:nvPr/>
        </p:nvSpPr>
        <p:spPr>
          <a:xfrm>
            <a:off x="11376508" y="4882896"/>
            <a:ext cx="0" cy="237744"/>
          </a:xfrm>
          <a:prstGeom prst="line">
            <a:avLst/>
          </a:prstGeom>
          <a:noFill/>
          <a:ln w="25400">
            <a:solidFill>
              <a:schemeClr val="accent1"/>
            </a:solidFill>
            <a:prstDash val="solid"/>
          </a:ln>
        </p:spPr>
      </p:sp>
      <p:sp>
        <p:nvSpPr>
          <p:cNvPr id="27" name="Text 23"/>
          <p:cNvSpPr txBox="1"/>
          <p:nvPr/>
        </p:nvSpPr>
        <p:spPr>
          <a:xfrm>
            <a:off x="6415888" y="5257800"/>
            <a:ext cx="5135728" cy="777240"/>
          </a:xfrm>
          <a:prstGeom prst="rect">
            <a:avLst/>
          </a:prstGeom>
          <a:noFill/>
          <a:ln/>
        </p:spPr>
        <p:txBody>
          <a:bodyPr wrap="square" lIns="0" tIns="0" rIns="0" bIns="0" rtlCol="0" anchor="t"/>
          <a:lstStyle/>
          <a:p>
            <a:pPr indent="0" marL="0">
              <a:spcAft>
                <a:spcPts val="200"/>
              </a:spcAft>
              <a:buNone/>
            </a:pPr>
            <a:r>
              <a:rPr lang="en-US" sz="1300" b="1" dirty="0">
                <a:solidFill>
                  <a:schemeClr val="bg1"/>
                </a:solidFill>
                <a:latin typeface="Arial" pitchFamily="34" charset="0"/>
                <a:ea typeface="Arial" pitchFamily="34" charset="-122"/>
                <a:cs typeface="Arial" pitchFamily="34" charset="-120"/>
              </a:rPr>
              <a:t>Gregory Thielker, </a:t>
            </a:r>
            <a:pPr indent="0" marL="0">
              <a:spcAft>
                <a:spcPts val="200"/>
              </a:spcAft>
              <a:buNone/>
            </a:pPr>
            <a:r>
              <a:rPr lang="en-US" sz="1300" b="1" i="1" dirty="0">
                <a:solidFill>
                  <a:schemeClr val="bg1"/>
                </a:solidFill>
                <a:latin typeface="Arial" pitchFamily="34" charset="0"/>
                <a:ea typeface="Arial" pitchFamily="34" charset="-122"/>
                <a:cs typeface="Arial" pitchFamily="34" charset="-120"/>
              </a:rPr>
              <a:t>Exhale</a:t>
            </a:r>
            <a:pPr indent="0" marL="0">
              <a:spcAft>
                <a:spcPts val="200"/>
              </a:spcAft>
              <a:buNone/>
            </a:pPr>
            <a:r>
              <a:rPr lang="en-US" sz="1300" b="1" dirty="0">
                <a:solidFill>
                  <a:schemeClr val="bg1"/>
                </a:solidFill>
                <a:latin typeface="Arial" pitchFamily="34" charset="0"/>
                <a:ea typeface="Arial" pitchFamily="34" charset="-122"/>
                <a:cs typeface="Arial" pitchFamily="34" charset="-120"/>
              </a:rPr>
              <a:t> (Ausatmen), 2023</a:t>
            </a:r>
            <a:endParaRPr lang="en-US" sz="1300" dirty="0"/>
          </a:p>
          <a:p>
            <a:pPr indent="0" marL="0">
              <a:spcAft>
                <a:spcPts val="200"/>
              </a:spcAft>
              <a:buNone/>
            </a:pPr>
            <a:r>
              <a:rPr lang="en-US" sz="1100" dirty="0">
                <a:solidFill>
                  <a:schemeClr val="bg2"/>
                </a:solidFill>
                <a:latin typeface="Arial" pitchFamily="34" charset="0"/>
                <a:ea typeface="Arial" pitchFamily="34" charset="-122"/>
                <a:cs typeface="Arial" pitchFamily="34" charset="-120"/>
              </a:rPr>
              <a:t>Öl auf Leinen, 101,6 × 152,4 cm · Guy Hepner Gallery, New York</a:t>
            </a:r>
            <a:endParaRPr lang="en-US" sz="1300" dirty="0"/>
          </a:p>
          <a:p>
            <a:pPr indent="0" marL="0">
              <a:spcAft>
                <a:spcPts val="200"/>
              </a:spcAft>
              <a:buNone/>
            </a:pPr>
            <a:r>
              <a:rPr lang="en-US" sz="1300" dirty="0">
                <a:solidFill>
                  <a:schemeClr val="accent1"/>
                </a:solidFill>
                <a:latin typeface="Arial" pitchFamily="34" charset="0"/>
                <a:ea typeface="Arial" pitchFamily="34" charset="-122"/>
                <a:cs typeface="Arial" pitchFamily="34" charset="-120"/>
              </a:rPr>
              <a:t>→ Tropfen gestochen scharf, Landschaft unscharf – wie durch eine Linse</a:t>
            </a:r>
            <a:endParaRPr lang="en-US" sz="13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lIns="0" tIns="0" rIns="0" bIns="0" rtlCol="0" anchor="ctr"/>
          <a:lstStyle/>
          <a:p>
            <a:pPr algn="l" indent="0" marL="0">
              <a:buNone/>
            </a:pPr>
            <a:r>
              <a:rPr lang="en-US" sz="1200" b="1" spc="300" kern="0" dirty="0">
                <a:solidFill>
                  <a:schemeClr val="accent1"/>
                </a:solidFill>
                <a:latin typeface="Arial" pitchFamily="34" charset="0"/>
                <a:ea typeface="Arial" pitchFamily="34" charset="-122"/>
                <a:cs typeface="Arial" pitchFamily="34" charset="-120"/>
              </a:rPr>
              <a:t>06 · FAZIT</a:t>
            </a:r>
            <a:endParaRPr lang="en-US" sz="1200" dirty="0"/>
          </a:p>
        </p:txBody>
      </p:sp>
      <p:sp>
        <p:nvSpPr>
          <p:cNvPr id="3" name="Text 0"/>
          <p:cNvSpPr/>
          <p:nvPr>
            <p:ph idx="101" type="title" hasCustomPrompt="1"/>
          </p:nvPr>
        </p:nvSpPr>
        <p:spPr>
          <a:xfrm>
            <a:off x="548640" y="694944"/>
            <a:ext cx="11094415" cy="749808"/>
          </a:xfrm>
          <a:prstGeom prst="rect">
            <a:avLst/>
          </a:prstGeom>
          <a:noFill/>
          <a:ln/>
        </p:spPr>
        <p:txBody>
          <a:bodyPr wrap="square" lIns="0" tIns="0" rIns="0" bIns="0" rtlCol="0" anchor="t"/>
          <a:lstStyle/>
          <a:p>
            <a:pPr algn="l" indent="0" marL="0">
              <a:buNone/>
            </a:pPr>
            <a:r>
              <a:rPr lang="en-US" sz="3200" b="1" dirty="0">
                <a:solidFill>
                  <a:schemeClr val="bg1"/>
                </a:solidFill>
                <a:latin typeface="Georgia" pitchFamily="34" charset="0"/>
                <a:ea typeface="Georgia" pitchFamily="34" charset="-122"/>
                <a:cs typeface="Georgia" pitchFamily="34" charset="-120"/>
              </a:rPr>
              <a:t>Mehr als bloßes Abmalen?</a:t>
            </a:r>
            <a:endParaRPr lang="en-US" sz="3200" dirty="0"/>
          </a:p>
        </p:txBody>
      </p:sp>
      <p:sp>
        <p:nvSpPr>
          <p:cNvPr id="4" name="Shape 2"/>
          <p:cNvSpPr/>
          <p:nvPr/>
        </p:nvSpPr>
        <p:spPr>
          <a:xfrm>
            <a:off x="548640" y="1737360"/>
            <a:ext cx="4572000" cy="4434840"/>
          </a:xfrm>
          <a:prstGeom prst="rect">
            <a:avLst/>
          </a:prstGeom>
          <a:solidFill>
            <a:schemeClr val="tx2"/>
          </a:solidFill>
          <a:ln w="12700">
            <a:solidFill>
              <a:schemeClr val="tx2"/>
            </a:solidFill>
            <a:prstDash val="solid"/>
          </a:ln>
        </p:spPr>
      </p:sp>
      <p:pic>
        <p:nvPicPr>
          <p:cNvPr id="5" name="Image 0" descr="Zitat-Symbol">    </p:cNvPr>
          <p:cNvPicPr>
            <a:picLocks noChangeAspect="1"/>
          </p:cNvPicPr>
          <p:nvPr/>
        </p:nvPicPr>
        <p:blipFill>
          <a:blip r:embed="rId1"/>
          <a:stretch>
            <a:fillRect/>
          </a:stretch>
        </p:blipFill>
        <p:spPr>
          <a:xfrm>
            <a:off x="868680" y="2011680"/>
            <a:ext cx="548640" cy="548640"/>
          </a:xfrm>
          <a:prstGeom prst="rect">
            <a:avLst/>
          </a:prstGeom>
        </p:spPr>
      </p:pic>
      <p:sp>
        <p:nvSpPr>
          <p:cNvPr id="6" name="Text 3"/>
          <p:cNvSpPr txBox="1"/>
          <p:nvPr/>
        </p:nvSpPr>
        <p:spPr>
          <a:xfrm>
            <a:off x="868680" y="2743200"/>
            <a:ext cx="3931920" cy="2377440"/>
          </a:xfrm>
          <a:prstGeom prst="rect">
            <a:avLst/>
          </a:prstGeom>
          <a:noFill/>
          <a:ln/>
        </p:spPr>
        <p:txBody>
          <a:bodyPr wrap="square" lIns="0" tIns="0" rIns="0" bIns="0" rtlCol="0" anchor="t"/>
          <a:lstStyle/>
          <a:p>
            <a:pPr indent="0" marL="0">
              <a:buNone/>
            </a:pPr>
            <a:r>
              <a:rPr lang="en-US" sz="2800" b="1" dirty="0">
                <a:solidFill>
                  <a:schemeClr val="bg1"/>
                </a:solidFill>
                <a:latin typeface="Georgia" pitchFamily="34" charset="0"/>
                <a:ea typeface="Georgia" pitchFamily="34" charset="-122"/>
                <a:cs typeface="Georgia" pitchFamily="34" charset="-120"/>
              </a:rPr>
              <a:t>Ist es Kunst, ein Foto perfekt abzumalen?</a:t>
            </a:r>
            <a:endParaRPr lang="en-US" sz="2800" dirty="0"/>
          </a:p>
        </p:txBody>
      </p:sp>
      <p:sp>
        <p:nvSpPr>
          <p:cNvPr id="7" name="Text 4"/>
          <p:cNvSpPr txBox="1"/>
          <p:nvPr/>
        </p:nvSpPr>
        <p:spPr>
          <a:xfrm>
            <a:off x="868680" y="5212080"/>
            <a:ext cx="3931920" cy="731520"/>
          </a:xfrm>
          <a:prstGeom prst="rect">
            <a:avLst/>
          </a:prstGeom>
          <a:noFill/>
          <a:ln/>
        </p:spPr>
        <p:txBody>
          <a:bodyPr wrap="square" lIns="0" tIns="0" rIns="0" bIns="0" rtlCol="0" anchor="t"/>
          <a:lstStyle/>
          <a:p>
            <a:pPr indent="0" marL="0">
              <a:buNone/>
            </a:pPr>
            <a:r>
              <a:rPr lang="en-US" sz="1400" dirty="0">
                <a:solidFill>
                  <a:schemeClr val="bg2"/>
                </a:solidFill>
                <a:latin typeface="Arial" pitchFamily="34" charset="0"/>
                <a:ea typeface="Arial" pitchFamily="34" charset="-122"/>
                <a:cs typeface="Arial" pitchFamily="34" charset="-120"/>
              </a:rPr>
              <a:t>Frage an euch – was meint ihr?</a:t>
            </a:r>
            <a:endParaRPr lang="en-US" sz="1400" dirty="0"/>
          </a:p>
        </p:txBody>
      </p:sp>
      <p:sp>
        <p:nvSpPr>
          <p:cNvPr id="8" name="Shape 5"/>
          <p:cNvSpPr/>
          <p:nvPr/>
        </p:nvSpPr>
        <p:spPr>
          <a:xfrm>
            <a:off x="5577840" y="1737360"/>
            <a:ext cx="566928" cy="566928"/>
          </a:xfrm>
          <a:prstGeom prst="ellipse">
            <a:avLst/>
          </a:prstGeom>
          <a:solidFill>
            <a:schemeClr val="accent4"/>
          </a:solidFill>
          <a:ln w="15875">
            <a:solidFill>
              <a:schemeClr val="accent1"/>
            </a:solidFill>
            <a:prstDash val="solid"/>
          </a:ln>
        </p:spPr>
      </p:sp>
      <p:pic>
        <p:nvPicPr>
          <p:cNvPr id="9" name="Image 1" descr="Symbol AlertTriangle">    </p:cNvPr>
          <p:cNvPicPr>
            <a:picLocks noChangeAspect="1"/>
          </p:cNvPicPr>
          <p:nvPr/>
        </p:nvPicPr>
        <p:blipFill>
          <a:blip r:embed="rId2"/>
          <a:stretch>
            <a:fillRect/>
          </a:stretch>
        </p:blipFill>
        <p:spPr>
          <a:xfrm>
            <a:off x="5702564" y="1862084"/>
            <a:ext cx="317480" cy="317480"/>
          </a:xfrm>
          <a:prstGeom prst="rect">
            <a:avLst/>
          </a:prstGeom>
        </p:spPr>
      </p:pic>
      <p:sp>
        <p:nvSpPr>
          <p:cNvPr id="10" name="Text 6"/>
          <p:cNvSpPr txBox="1"/>
          <p:nvPr/>
        </p:nvSpPr>
        <p:spPr>
          <a:xfrm>
            <a:off x="6355080" y="1737360"/>
            <a:ext cx="5287975" cy="1371600"/>
          </a:xfrm>
          <a:prstGeom prst="rect">
            <a:avLst/>
          </a:prstGeom>
          <a:noFill/>
          <a:ln/>
        </p:spPr>
        <p:txBody>
          <a:bodyPr wrap="square" lIns="0" tIns="0" rIns="0" bIns="0" rtlCol="0" anchor="t"/>
          <a:lstStyle/>
          <a:p>
            <a:pPr indent="0" marL="0">
              <a:spcAft>
                <a:spcPts val="300"/>
              </a:spcAft>
              <a:buNone/>
            </a:pPr>
            <a:r>
              <a:rPr lang="en-US" sz="1700" b="1" dirty="0">
                <a:solidFill>
                  <a:schemeClr val="bg1"/>
                </a:solidFill>
                <a:latin typeface="Arial" pitchFamily="34" charset="0"/>
                <a:ea typeface="Arial" pitchFamily="34" charset="-122"/>
                <a:cs typeface="Arial" pitchFamily="34" charset="-120"/>
              </a:rPr>
              <a:t>Kritik</a:t>
            </a:r>
            <a:endParaRPr lang="en-US" sz="1700" dirty="0"/>
          </a:p>
          <a:p>
            <a:pPr indent="0" marL="0">
              <a:spcAft>
                <a:spcPts val="300"/>
              </a:spcAft>
              <a:buNone/>
            </a:pPr>
            <a:r>
              <a:rPr lang="en-US" sz="1400" dirty="0">
                <a:solidFill>
                  <a:schemeClr val="bg2"/>
                </a:solidFill>
                <a:latin typeface="Arial" pitchFamily="34" charset="0"/>
                <a:ea typeface="Arial" pitchFamily="34" charset="-122"/>
                <a:cs typeface="Arial" pitchFamily="34" charset="-120"/>
              </a:rPr>
              <a:t>Vorwurf des bloßen Abmalens: technisch perfekt, aber ohne eigene Idee.</a:t>
            </a:r>
            <a:endParaRPr lang="en-US" sz="1700" dirty="0"/>
          </a:p>
        </p:txBody>
      </p:sp>
      <p:sp>
        <p:nvSpPr>
          <p:cNvPr id="11" name="Shape 7"/>
          <p:cNvSpPr/>
          <p:nvPr/>
        </p:nvSpPr>
        <p:spPr>
          <a:xfrm>
            <a:off x="5577840" y="3246120"/>
            <a:ext cx="566928" cy="566928"/>
          </a:xfrm>
          <a:prstGeom prst="ellipse">
            <a:avLst/>
          </a:prstGeom>
          <a:solidFill>
            <a:schemeClr val="accent4"/>
          </a:solidFill>
          <a:ln w="15875">
            <a:solidFill>
              <a:schemeClr val="accent1"/>
            </a:solidFill>
            <a:prstDash val="solid"/>
          </a:ln>
        </p:spPr>
      </p:sp>
      <p:pic>
        <p:nvPicPr>
          <p:cNvPr id="12" name="Image 2" descr="Symbol Eye">    </p:cNvPr>
          <p:cNvPicPr>
            <a:picLocks noChangeAspect="1"/>
          </p:cNvPicPr>
          <p:nvPr/>
        </p:nvPicPr>
        <p:blipFill>
          <a:blip r:embed="rId3"/>
          <a:stretch>
            <a:fillRect/>
          </a:stretch>
        </p:blipFill>
        <p:spPr>
          <a:xfrm>
            <a:off x="5702564" y="3370844"/>
            <a:ext cx="317480" cy="317480"/>
          </a:xfrm>
          <a:prstGeom prst="rect">
            <a:avLst/>
          </a:prstGeom>
        </p:spPr>
      </p:pic>
      <p:sp>
        <p:nvSpPr>
          <p:cNvPr id="13" name="Text 8"/>
          <p:cNvSpPr txBox="1"/>
          <p:nvPr/>
        </p:nvSpPr>
        <p:spPr>
          <a:xfrm>
            <a:off x="6355080" y="3246120"/>
            <a:ext cx="5287975" cy="1371600"/>
          </a:xfrm>
          <a:prstGeom prst="rect">
            <a:avLst/>
          </a:prstGeom>
          <a:noFill/>
          <a:ln/>
        </p:spPr>
        <p:txBody>
          <a:bodyPr wrap="square" lIns="0" tIns="0" rIns="0" bIns="0" rtlCol="0" anchor="t"/>
          <a:lstStyle/>
          <a:p>
            <a:pPr indent="0" marL="0">
              <a:spcAft>
                <a:spcPts val="300"/>
              </a:spcAft>
              <a:buNone/>
            </a:pPr>
            <a:r>
              <a:rPr lang="en-US" sz="1700" b="1" dirty="0">
                <a:solidFill>
                  <a:schemeClr val="bg1"/>
                </a:solidFill>
                <a:latin typeface="Arial" pitchFamily="34" charset="0"/>
                <a:ea typeface="Arial" pitchFamily="34" charset="-122"/>
                <a:cs typeface="Arial" pitchFamily="34" charset="-120"/>
              </a:rPr>
              <a:t>Bedeutung</a:t>
            </a:r>
            <a:endParaRPr lang="en-US" sz="1700" dirty="0"/>
          </a:p>
          <a:p>
            <a:pPr indent="0" marL="0">
              <a:spcAft>
                <a:spcPts val="300"/>
              </a:spcAft>
              <a:buNone/>
            </a:pPr>
            <a:r>
              <a:rPr lang="en-US" sz="1400" dirty="0">
                <a:solidFill>
                  <a:schemeClr val="bg2"/>
                </a:solidFill>
                <a:latin typeface="Arial" pitchFamily="34" charset="0"/>
                <a:ea typeface="Arial" pitchFamily="34" charset="-122"/>
                <a:cs typeface="Arial" pitchFamily="34" charset="-120"/>
              </a:rPr>
              <a:t>Thema ist die Wahrnehmung: Wie sehr vertrauen wir Bildern – und was ist „echt“?</a:t>
            </a:r>
            <a:endParaRPr lang="en-US" sz="1700" dirty="0"/>
          </a:p>
        </p:txBody>
      </p:sp>
      <p:sp>
        <p:nvSpPr>
          <p:cNvPr id="14" name="Shape 9"/>
          <p:cNvSpPr/>
          <p:nvPr/>
        </p:nvSpPr>
        <p:spPr>
          <a:xfrm>
            <a:off x="5577840" y="4754880"/>
            <a:ext cx="566928" cy="566928"/>
          </a:xfrm>
          <a:prstGeom prst="ellipse">
            <a:avLst/>
          </a:prstGeom>
          <a:solidFill>
            <a:schemeClr val="accent4"/>
          </a:solidFill>
          <a:ln w="15875">
            <a:solidFill>
              <a:schemeClr val="accent1"/>
            </a:solidFill>
            <a:prstDash val="solid"/>
          </a:ln>
        </p:spPr>
      </p:sp>
      <p:pic>
        <p:nvPicPr>
          <p:cNvPr id="15" name="Image 3" descr="Symbol DeviceMobile">    </p:cNvPr>
          <p:cNvPicPr>
            <a:picLocks noChangeAspect="1"/>
          </p:cNvPicPr>
          <p:nvPr/>
        </p:nvPicPr>
        <p:blipFill>
          <a:blip r:embed="rId4"/>
          <a:stretch>
            <a:fillRect/>
          </a:stretch>
        </p:blipFill>
        <p:spPr>
          <a:xfrm>
            <a:off x="5702564" y="4879604"/>
            <a:ext cx="317480" cy="317480"/>
          </a:xfrm>
          <a:prstGeom prst="rect">
            <a:avLst/>
          </a:prstGeom>
        </p:spPr>
      </p:pic>
      <p:sp>
        <p:nvSpPr>
          <p:cNvPr id="16" name="Text 10"/>
          <p:cNvSpPr txBox="1"/>
          <p:nvPr/>
        </p:nvSpPr>
        <p:spPr>
          <a:xfrm>
            <a:off x="6355080" y="4754880"/>
            <a:ext cx="5287975" cy="1371600"/>
          </a:xfrm>
          <a:prstGeom prst="rect">
            <a:avLst/>
          </a:prstGeom>
          <a:noFill/>
          <a:ln/>
        </p:spPr>
        <p:txBody>
          <a:bodyPr wrap="square" lIns="0" tIns="0" rIns="0" bIns="0" rtlCol="0" anchor="t"/>
          <a:lstStyle/>
          <a:p>
            <a:pPr indent="0" marL="0">
              <a:spcAft>
                <a:spcPts val="300"/>
              </a:spcAft>
              <a:buNone/>
            </a:pPr>
            <a:r>
              <a:rPr lang="en-US" sz="1700" b="1" dirty="0">
                <a:solidFill>
                  <a:schemeClr val="bg1"/>
                </a:solidFill>
                <a:latin typeface="Arial" pitchFamily="34" charset="0"/>
                <a:ea typeface="Arial" pitchFamily="34" charset="-122"/>
                <a:cs typeface="Arial" pitchFamily="34" charset="-120"/>
              </a:rPr>
              <a:t>Aktualität</a:t>
            </a:r>
            <a:endParaRPr lang="en-US" sz="1700" dirty="0"/>
          </a:p>
          <a:p>
            <a:pPr indent="0" marL="0">
              <a:spcAft>
                <a:spcPts val="300"/>
              </a:spcAft>
              <a:buNone/>
            </a:pPr>
            <a:r>
              <a:rPr lang="en-US" sz="1400" dirty="0">
                <a:solidFill>
                  <a:schemeClr val="bg2"/>
                </a:solidFill>
                <a:latin typeface="Arial" pitchFamily="34" charset="0"/>
                <a:ea typeface="Arial" pitchFamily="34" charset="-122"/>
                <a:cs typeface="Arial" pitchFamily="34" charset="-120"/>
              </a:rPr>
              <a:t>In Zeiten von Smartphone, Filtern und KI-Bildern aktueller denn je.</a:t>
            </a:r>
            <a:endParaRPr lang="en-US" sz="17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lIns="0" tIns="0" rIns="0" bIns="0" rtlCol="0" anchor="ctr"/>
          <a:lstStyle/>
          <a:p>
            <a:pPr algn="l" indent="0" marL="0">
              <a:buNone/>
            </a:pPr>
            <a:r>
              <a:rPr lang="en-US" sz="1200" b="1" spc="300" kern="0" dirty="0">
                <a:solidFill>
                  <a:schemeClr val="accent1"/>
                </a:solidFill>
                <a:latin typeface="Arial" pitchFamily="34" charset="0"/>
                <a:ea typeface="Arial" pitchFamily="34" charset="-122"/>
                <a:cs typeface="Arial" pitchFamily="34" charset="-120"/>
              </a:rPr>
              <a:t>QUELLEN</a:t>
            </a:r>
            <a:endParaRPr lang="en-US" sz="1200" dirty="0"/>
          </a:p>
        </p:txBody>
      </p:sp>
      <p:sp>
        <p:nvSpPr>
          <p:cNvPr id="3" name="Text 0"/>
          <p:cNvSpPr/>
          <p:nvPr>
            <p:ph idx="101" type="title" hasCustomPrompt="1"/>
          </p:nvPr>
        </p:nvSpPr>
        <p:spPr>
          <a:xfrm>
            <a:off x="548640" y="694944"/>
            <a:ext cx="11094415" cy="749808"/>
          </a:xfrm>
          <a:prstGeom prst="rect">
            <a:avLst/>
          </a:prstGeom>
          <a:noFill/>
          <a:ln/>
        </p:spPr>
        <p:txBody>
          <a:bodyPr wrap="square" lIns="0" tIns="0" rIns="0" bIns="0" rtlCol="0" anchor="t"/>
          <a:lstStyle/>
          <a:p>
            <a:pPr algn="l" indent="0" marL="0">
              <a:buNone/>
            </a:pPr>
            <a:r>
              <a:rPr lang="en-US" sz="3200" b="1" dirty="0">
                <a:solidFill>
                  <a:schemeClr val="bg1"/>
                </a:solidFill>
                <a:latin typeface="Georgia" pitchFamily="34" charset="0"/>
                <a:ea typeface="Georgia" pitchFamily="34" charset="-122"/>
                <a:cs typeface="Georgia" pitchFamily="34" charset="-120"/>
              </a:rPr>
              <a:t>Quellen</a:t>
            </a:r>
            <a:endParaRPr lang="en-US" sz="3200" dirty="0"/>
          </a:p>
        </p:txBody>
      </p:sp>
      <p:sp>
        <p:nvSpPr>
          <p:cNvPr id="4" name="Text 2"/>
          <p:cNvSpPr txBox="1"/>
          <p:nvPr/>
        </p:nvSpPr>
        <p:spPr>
          <a:xfrm>
            <a:off x="548640" y="1691640"/>
            <a:ext cx="5410048" cy="365760"/>
          </a:xfrm>
          <a:prstGeom prst="rect">
            <a:avLst/>
          </a:prstGeom>
          <a:noFill/>
          <a:ln/>
        </p:spPr>
        <p:txBody>
          <a:bodyPr wrap="square" lIns="0" tIns="0" rIns="0" bIns="0" rtlCol="0" anchor="ctr"/>
          <a:lstStyle/>
          <a:p>
            <a:pPr indent="0" marL="0">
              <a:buNone/>
            </a:pPr>
            <a:r>
              <a:rPr lang="en-US" sz="1500" b="1" dirty="0">
                <a:solidFill>
                  <a:schemeClr val="accent1"/>
                </a:solidFill>
                <a:latin typeface="Arial" pitchFamily="34" charset="0"/>
                <a:ea typeface="Arial" pitchFamily="34" charset="-122"/>
                <a:cs typeface="Arial" pitchFamily="34" charset="-120"/>
              </a:rPr>
              <a:t>Literatur</a:t>
            </a:r>
            <a:endParaRPr lang="en-US" sz="1500" dirty="0"/>
          </a:p>
        </p:txBody>
      </p:sp>
      <p:sp>
        <p:nvSpPr>
          <p:cNvPr id="5" name="Text 3"/>
          <p:cNvSpPr txBox="1"/>
          <p:nvPr/>
        </p:nvSpPr>
        <p:spPr>
          <a:xfrm>
            <a:off x="548640" y="2148840"/>
            <a:ext cx="5410048" cy="4023360"/>
          </a:xfrm>
          <a:prstGeom prst="rect">
            <a:avLst/>
          </a:prstGeom>
          <a:noFill/>
          <a:ln/>
        </p:spPr>
        <p:txBody>
          <a:bodyPr wrap="square" lIns="0" tIns="0" rIns="0" bIns="0" rtlCol="0" anchor="t"/>
          <a:lstStyle/>
          <a:p>
            <a:pPr indent="0" marL="0">
              <a:spcAft>
                <a:spcPts val="600"/>
              </a:spcAft>
              <a:buNone/>
            </a:pPr>
            <a:r>
              <a:rPr lang="en-US" sz="1100" dirty="0">
                <a:solidFill>
                  <a:schemeClr val="bg1"/>
                </a:solidFill>
                <a:latin typeface="Arial" pitchFamily="34" charset="0"/>
                <a:ea typeface="Arial" pitchFamily="34" charset="-122"/>
                <a:cs typeface="Arial" pitchFamily="34" charset="-120"/>
              </a:rPr>
              <a:t>Battcock, Gregory (Hg.): Super Realism. A Critical Anthology. New York: Dutton 1975.</a:t>
            </a:r>
            <a:endParaRPr lang="en-US" sz="1100" dirty="0"/>
          </a:p>
          <a:p>
            <a:pPr indent="0" marL="0">
              <a:spcAft>
                <a:spcPts val="600"/>
              </a:spcAft>
              <a:buNone/>
            </a:pPr>
            <a:r>
              <a:rPr lang="en-US" sz="1100" dirty="0">
                <a:solidFill>
                  <a:schemeClr val="bg1"/>
                </a:solidFill>
                <a:latin typeface="Arial" pitchFamily="34" charset="0"/>
                <a:ea typeface="Arial" pitchFamily="34" charset="-122"/>
                <a:cs typeface="Arial" pitchFamily="34" charset="-120"/>
              </a:rPr>
              <a:t>Letze, Otto (Hg.): Fotorealismus. 50 Jahre hyperrealistische Malerei. Ostfildern: Hatje Cantz 2012.</a:t>
            </a:r>
            <a:endParaRPr lang="en-US" sz="1100" dirty="0"/>
          </a:p>
          <a:p>
            <a:pPr indent="0" marL="0">
              <a:spcAft>
                <a:spcPts val="600"/>
              </a:spcAft>
              <a:buNone/>
            </a:pPr>
            <a:r>
              <a:rPr lang="en-US" sz="1100" dirty="0">
                <a:solidFill>
                  <a:schemeClr val="bg1"/>
                </a:solidFill>
                <a:latin typeface="Arial" pitchFamily="34" charset="0"/>
                <a:ea typeface="Arial" pitchFamily="34" charset="-122"/>
                <a:cs typeface="Arial" pitchFamily="34" charset="-120"/>
              </a:rPr>
              <a:t>Meisel, Louis K.: Photo-Realism. New York: Abrams 1980.</a:t>
            </a:r>
            <a:endParaRPr lang="en-US" sz="1100" dirty="0"/>
          </a:p>
          <a:p>
            <a:pPr indent="0" marL="0">
              <a:spcAft>
                <a:spcPts val="600"/>
              </a:spcAft>
              <a:buNone/>
            </a:pPr>
            <a:r>
              <a:rPr lang="en-US" sz="1100" dirty="0">
                <a:solidFill>
                  <a:schemeClr val="bg1"/>
                </a:solidFill>
                <a:latin typeface="Arial" pitchFamily="34" charset="0"/>
                <a:ea typeface="Arial" pitchFamily="34" charset="-122"/>
                <a:cs typeface="Arial" pitchFamily="34" charset="-120"/>
              </a:rPr>
              <a:t>mumok Wien (Hg.): Hyper Real. Die Passion des Realen in Malerei und Fotografie. Köln: Walther König 2010.</a:t>
            </a:r>
            <a:endParaRPr lang="en-US" sz="1100" dirty="0"/>
          </a:p>
          <a:p>
            <a:pPr indent="0" marL="0">
              <a:spcAft>
                <a:spcPts val="600"/>
              </a:spcAft>
              <a:buNone/>
            </a:pPr>
            <a:r>
              <a:rPr lang="en-US" sz="1100" dirty="0">
                <a:solidFill>
                  <a:schemeClr val="bg1"/>
                </a:solidFill>
                <a:latin typeface="Arial" pitchFamily="34" charset="0"/>
                <a:ea typeface="Arial" pitchFamily="34" charset="-122"/>
                <a:cs typeface="Arial" pitchFamily="34" charset="-120"/>
              </a:rPr>
              <a:t>Zamani, Daniel (Hg.): Wettstreit mit der Wirklichkeit. 60 Jahre Fotorealismus. München: Hirmer 2026 (Kat. Museum Frieder Burda).</a:t>
            </a:r>
            <a:endParaRPr lang="en-US" sz="1100" dirty="0"/>
          </a:p>
        </p:txBody>
      </p:sp>
      <p:sp>
        <p:nvSpPr>
          <p:cNvPr id="6" name="Text 4"/>
          <p:cNvSpPr txBox="1"/>
          <p:nvPr/>
        </p:nvSpPr>
        <p:spPr>
          <a:xfrm>
            <a:off x="6233008" y="1691640"/>
            <a:ext cx="5410048" cy="365760"/>
          </a:xfrm>
          <a:prstGeom prst="rect">
            <a:avLst/>
          </a:prstGeom>
          <a:noFill/>
          <a:ln/>
        </p:spPr>
        <p:txBody>
          <a:bodyPr wrap="square" lIns="0" tIns="0" rIns="0" bIns="0" rtlCol="0" anchor="ctr"/>
          <a:lstStyle/>
          <a:p>
            <a:pPr indent="0" marL="0">
              <a:buNone/>
            </a:pPr>
            <a:r>
              <a:rPr lang="en-US" sz="1500" b="1" dirty="0">
                <a:solidFill>
                  <a:schemeClr val="accent1"/>
                </a:solidFill>
                <a:latin typeface="Arial" pitchFamily="34" charset="0"/>
                <a:ea typeface="Arial" pitchFamily="34" charset="-122"/>
                <a:cs typeface="Arial" pitchFamily="34" charset="-120"/>
              </a:rPr>
              <a:t>Internet</a:t>
            </a:r>
            <a:endParaRPr lang="en-US" sz="1500" dirty="0"/>
          </a:p>
        </p:txBody>
      </p:sp>
      <p:sp>
        <p:nvSpPr>
          <p:cNvPr id="7" name="Text 5"/>
          <p:cNvSpPr txBox="1"/>
          <p:nvPr/>
        </p:nvSpPr>
        <p:spPr>
          <a:xfrm>
            <a:off x="6233008" y="2148840"/>
            <a:ext cx="5410048" cy="4023360"/>
          </a:xfrm>
          <a:prstGeom prst="rect">
            <a:avLst/>
          </a:prstGeom>
          <a:noFill/>
          <a:ln/>
        </p:spPr>
        <p:txBody>
          <a:bodyPr wrap="square" lIns="0" tIns="0" rIns="0" bIns="0" rtlCol="0" anchor="t"/>
          <a:lstStyle/>
          <a:p>
            <a:pPr indent="0" marL="0">
              <a:spcAft>
                <a:spcPts val="600"/>
              </a:spcAft>
              <a:buNone/>
            </a:pPr>
            <a:r>
              <a:rPr lang="en-US" sz="1100" dirty="0">
                <a:solidFill>
                  <a:schemeClr val="bg1"/>
                </a:solidFill>
                <a:latin typeface="Arial" pitchFamily="34" charset="0"/>
                <a:ea typeface="Arial" pitchFamily="34" charset="-122"/>
                <a:cs typeface="Arial" pitchFamily="34" charset="-120"/>
              </a:rPr>
              <a:t>documenta: Retrospektive documenta 5 (1972). documenta.de/en/retrospective/documenta-5</a:t>
            </a:r>
            <a:endParaRPr lang="en-US" sz="1100" dirty="0"/>
          </a:p>
          <a:p>
            <a:pPr indent="0" marL="0">
              <a:spcAft>
                <a:spcPts val="600"/>
              </a:spcAft>
              <a:buNone/>
            </a:pPr>
            <a:r>
              <a:rPr lang="en-US" sz="1100" dirty="0">
                <a:solidFill>
                  <a:schemeClr val="bg1"/>
                </a:solidFill>
                <a:latin typeface="Arial" pitchFamily="34" charset="0"/>
                <a:ea typeface="Arial" pitchFamily="34" charset="-122"/>
                <a:cs typeface="Arial" pitchFamily="34" charset="-120"/>
              </a:rPr>
              <a:t>Louis K. Meisel Gallery: Curating the Stuart M. Speiser Collection. meiselgallery.com/story/curating-the-stuart-m-speiser-collection</a:t>
            </a:r>
            <a:endParaRPr lang="en-US" sz="1100" dirty="0"/>
          </a:p>
          <a:p>
            <a:pPr indent="0" marL="0">
              <a:spcAft>
                <a:spcPts val="600"/>
              </a:spcAft>
              <a:buNone/>
            </a:pPr>
            <a:r>
              <a:rPr lang="en-US" sz="1100" dirty="0">
                <a:solidFill>
                  <a:schemeClr val="bg1"/>
                </a:solidFill>
                <a:latin typeface="Arial" pitchFamily="34" charset="0"/>
                <a:ea typeface="Arial" pitchFamily="34" charset="-122"/>
                <a:cs typeface="Arial" pitchFamily="34" charset="-120"/>
              </a:rPr>
              <a:t>Museum Frieder Burda: Pressemitteilung „Wettstreit mit der Wirklichkeit“ (2026). museum-frieder-burda.de</a:t>
            </a:r>
            <a:endParaRPr lang="en-US" sz="1100" dirty="0"/>
          </a:p>
          <a:p>
            <a:pPr indent="0" marL="0">
              <a:spcAft>
                <a:spcPts val="600"/>
              </a:spcAft>
              <a:buNone/>
            </a:pPr>
            <a:r>
              <a:rPr lang="en-US" sz="1100" dirty="0">
                <a:solidFill>
                  <a:schemeClr val="bg1"/>
                </a:solidFill>
                <a:latin typeface="Arial" pitchFamily="34" charset="0"/>
                <a:ea typeface="Arial" pitchFamily="34" charset="-122"/>
                <a:cs typeface="Arial" pitchFamily="34" charset="-120"/>
              </a:rPr>
              <a:t>Tate: Art Term „Photorealism“. tate.org.uk/art/art-terms/photorealism</a:t>
            </a:r>
            <a:endParaRPr lang="en-US" sz="1100" dirty="0"/>
          </a:p>
          <a:p>
            <a:pPr indent="0" marL="0">
              <a:spcAft>
                <a:spcPts val="600"/>
              </a:spcAft>
              <a:buNone/>
            </a:pPr>
            <a:r>
              <a:rPr lang="en-US" sz="1100" dirty="0">
                <a:solidFill>
                  <a:schemeClr val="bg1"/>
                </a:solidFill>
                <a:latin typeface="Arial" pitchFamily="34" charset="0"/>
                <a:ea typeface="Arial" pitchFamily="34" charset="-122"/>
                <a:cs typeface="Arial" pitchFamily="34" charset="-120"/>
              </a:rPr>
              <a:t>The Art Story: Photorealism. theartstory.org/movement/photorealism</a:t>
            </a:r>
            <a:endParaRPr lang="en-US" sz="1100" dirty="0"/>
          </a:p>
          <a:p>
            <a:pPr indent="0" marL="0">
              <a:spcAft>
                <a:spcPts val="600"/>
              </a:spcAft>
              <a:buNone/>
            </a:pPr>
            <a:r>
              <a:rPr lang="en-US" sz="1100" dirty="0">
                <a:solidFill>
                  <a:schemeClr val="bg1"/>
                </a:solidFill>
                <a:latin typeface="Arial" pitchFamily="34" charset="0"/>
                <a:ea typeface="Arial" pitchFamily="34" charset="-122"/>
                <a:cs typeface="Arial" pitchFamily="34" charset="-120"/>
              </a:rPr>
              <a:t>Wikipedia: Fotorealismus. de.wikipedia.org/wiki/Fotorealismus</a:t>
            </a:r>
            <a:endParaRPr lang="en-US" sz="1100" dirty="0"/>
          </a:p>
          <a:p>
            <a:pPr indent="0" marL="0">
              <a:spcAft>
                <a:spcPts val="600"/>
              </a:spcAft>
              <a:buNone/>
            </a:pPr>
            <a:r>
              <a:rPr lang="en-US" sz="1100" dirty="0">
                <a:solidFill>
                  <a:schemeClr val="bg1"/>
                </a:solidFill>
                <a:latin typeface="Arial" pitchFamily="34" charset="0"/>
                <a:ea typeface="Arial" pitchFamily="34" charset="-122"/>
                <a:cs typeface="Arial" pitchFamily="34" charset="-120"/>
              </a:rPr>
              <a:t>Wikipedia: Hyperrealism (visual arts). en.wikipedia.org/wiki/Hyperrealism_(visual_arts)</a:t>
            </a:r>
            <a:endParaRPr lang="en-US" sz="1100" dirty="0"/>
          </a:p>
          <a:p>
            <a:pPr indent="0" marL="0">
              <a:spcAft>
                <a:spcPts val="600"/>
              </a:spcAft>
              <a:buNone/>
            </a:pPr>
            <a:r>
              <a:rPr lang="en-US" sz="1100" dirty="0">
                <a:solidFill>
                  <a:schemeClr val="bg1"/>
                </a:solidFill>
                <a:latin typeface="Arial" pitchFamily="34" charset="0"/>
                <a:ea typeface="Arial" pitchFamily="34" charset="-122"/>
                <a:cs typeface="Arial" pitchFamily="34" charset="-120"/>
              </a:rPr>
              <a:t>Alle Internetquellen abgerufen am 25.10.2026.</a:t>
            </a:r>
            <a:endParaRPr lang="en-US" sz="11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lIns="0" tIns="0" rIns="0" bIns="0" rtlCol="0" anchor="ctr"/>
          <a:lstStyle/>
          <a:p>
            <a:pPr algn="l" indent="0" marL="0">
              <a:buNone/>
            </a:pPr>
            <a:r>
              <a:rPr lang="en-US" sz="1200" b="1" spc="300" kern="0" dirty="0">
                <a:solidFill>
                  <a:schemeClr val="accent1"/>
                </a:solidFill>
                <a:latin typeface="Arial" pitchFamily="34" charset="0"/>
                <a:ea typeface="Arial" pitchFamily="34" charset="-122"/>
                <a:cs typeface="Arial" pitchFamily="34" charset="-120"/>
              </a:rPr>
              <a:t>QUELLEN</a:t>
            </a:r>
            <a:endParaRPr lang="en-US" sz="1200" dirty="0"/>
          </a:p>
        </p:txBody>
      </p:sp>
      <p:sp>
        <p:nvSpPr>
          <p:cNvPr id="3" name="Text 0"/>
          <p:cNvSpPr/>
          <p:nvPr>
            <p:ph idx="101" type="title" hasCustomPrompt="1"/>
          </p:nvPr>
        </p:nvSpPr>
        <p:spPr>
          <a:xfrm>
            <a:off x="548640" y="694944"/>
            <a:ext cx="11094415" cy="749808"/>
          </a:xfrm>
          <a:prstGeom prst="rect">
            <a:avLst/>
          </a:prstGeom>
          <a:noFill/>
          <a:ln/>
        </p:spPr>
        <p:txBody>
          <a:bodyPr wrap="square" lIns="0" tIns="0" rIns="0" bIns="0" rtlCol="0" anchor="t"/>
          <a:lstStyle/>
          <a:p>
            <a:pPr algn="l" indent="0" marL="0">
              <a:buNone/>
            </a:pPr>
            <a:r>
              <a:rPr lang="en-US" sz="3200" b="1" dirty="0">
                <a:solidFill>
                  <a:schemeClr val="bg1"/>
                </a:solidFill>
                <a:latin typeface="Georgia" pitchFamily="34" charset="0"/>
                <a:ea typeface="Georgia" pitchFamily="34" charset="-122"/>
                <a:cs typeface="Georgia" pitchFamily="34" charset="-120"/>
              </a:rPr>
              <a:t>Bildnachweise</a:t>
            </a:r>
            <a:endParaRPr lang="en-US" sz="3200" dirty="0"/>
          </a:p>
        </p:txBody>
      </p:sp>
      <p:sp>
        <p:nvSpPr>
          <p:cNvPr id="4" name="Text 2"/>
          <p:cNvSpPr txBox="1"/>
          <p:nvPr/>
        </p:nvSpPr>
        <p:spPr>
          <a:xfrm>
            <a:off x="548640" y="1691640"/>
            <a:ext cx="5410048" cy="4480560"/>
          </a:xfrm>
          <a:prstGeom prst="rect">
            <a:avLst/>
          </a:prstGeom>
          <a:noFill/>
          <a:ln/>
        </p:spPr>
        <p:txBody>
          <a:bodyPr wrap="square" lIns="0" tIns="0" rIns="0" bIns="0" rtlCol="0" anchor="t"/>
          <a:lstStyle/>
          <a:p>
            <a:pPr indent="0" marL="0">
              <a:spcAft>
                <a:spcPts val="500"/>
              </a:spcAft>
              <a:buNone/>
            </a:pPr>
            <a:r>
              <a:rPr lang="en-US" sz="1000" dirty="0">
                <a:solidFill>
                  <a:schemeClr val="bg1"/>
                </a:solidFill>
                <a:latin typeface="Arial" pitchFamily="34" charset="0"/>
                <a:ea typeface="Arial" pitchFamily="34" charset="-122"/>
                <a:cs typeface="Arial" pitchFamily="34" charset="-120"/>
              </a:rPr>
              <a:t>Folie 2: Ralph Goings, Airstream, 1970. mumok Wien (Leihgabe Sammlung Ludwig, Aachen). Abb.: mumok.at/en/online-collection/detail/airstream-1355</a:t>
            </a:r>
            <a:endParaRPr lang="en-US" sz="1000" dirty="0"/>
          </a:p>
          <a:p>
            <a:pPr indent="0" marL="0">
              <a:spcAft>
                <a:spcPts val="500"/>
              </a:spcAft>
              <a:buNone/>
            </a:pPr>
            <a:r>
              <a:rPr lang="en-US" sz="1000" dirty="0">
                <a:solidFill>
                  <a:schemeClr val="bg1"/>
                </a:solidFill>
                <a:latin typeface="Arial" pitchFamily="34" charset="0"/>
                <a:ea typeface="Arial" pitchFamily="34" charset="-122"/>
                <a:cs typeface="Arial" pitchFamily="34" charset="-120"/>
              </a:rPr>
              <a:t>Folie 7: Richard Estes, Telephone Booths, 1967. Museo Nacional Thyssen-Bornemisza, Madrid. Abb.: museothyssen.org/en/collection/artists/estes-richard/telephone-booths</a:t>
            </a:r>
            <a:endParaRPr lang="en-US" sz="1000" dirty="0"/>
          </a:p>
          <a:p>
            <a:pPr indent="0" marL="0">
              <a:spcAft>
                <a:spcPts val="500"/>
              </a:spcAft>
              <a:buNone/>
            </a:pPr>
            <a:r>
              <a:rPr lang="en-US" sz="1000" dirty="0">
                <a:solidFill>
                  <a:schemeClr val="bg1"/>
                </a:solidFill>
                <a:latin typeface="Arial" pitchFamily="34" charset="0"/>
                <a:ea typeface="Arial" pitchFamily="34" charset="-122"/>
                <a:cs typeface="Arial" pitchFamily="34" charset="-120"/>
              </a:rPr>
              <a:t>Folie 8: Chuck Close, Big Self-Portrait, 1967–68. Walker Art Center, Minneapolis. Abb.: walkerart.org/collections/artworks/big-self-portrait</a:t>
            </a:r>
            <a:endParaRPr lang="en-US" sz="1000" dirty="0"/>
          </a:p>
          <a:p>
            <a:pPr indent="0" marL="0">
              <a:spcAft>
                <a:spcPts val="500"/>
              </a:spcAft>
              <a:buNone/>
            </a:pPr>
            <a:r>
              <a:rPr lang="en-US" sz="1000" dirty="0">
                <a:solidFill>
                  <a:schemeClr val="bg1"/>
                </a:solidFill>
                <a:latin typeface="Arial" pitchFamily="34" charset="0"/>
                <a:ea typeface="Arial" pitchFamily="34" charset="-122"/>
                <a:cs typeface="Arial" pitchFamily="34" charset="-120"/>
              </a:rPr>
              <a:t>Folie 13: Malcolm Morley, SS Amsterdam in Front of Rotterdam, 1966. Privatsammlung. Abb.: petzel.com/collect/malcolm-morley4</a:t>
            </a:r>
            <a:endParaRPr lang="en-US" sz="1000" dirty="0"/>
          </a:p>
          <a:p>
            <a:pPr indent="0" marL="0">
              <a:spcAft>
                <a:spcPts val="500"/>
              </a:spcAft>
              <a:buNone/>
            </a:pPr>
            <a:r>
              <a:rPr lang="en-US" sz="1000" dirty="0">
                <a:solidFill>
                  <a:schemeClr val="bg1"/>
                </a:solidFill>
                <a:latin typeface="Arial" pitchFamily="34" charset="0"/>
                <a:ea typeface="Arial" pitchFamily="34" charset="-122"/>
                <a:cs typeface="Arial" pitchFamily="34" charset="-120"/>
              </a:rPr>
              <a:t>Folie 13: Franz Gertsch, Medici, 1971/72. Ludwig Forum für Internationale Kunst, Aachen. Abb.: guide.kunstmuseumbern.ch/en/artwork/12884</a:t>
            </a:r>
            <a:endParaRPr lang="en-US" sz="1000" dirty="0"/>
          </a:p>
          <a:p>
            <a:pPr indent="0" marL="0">
              <a:spcAft>
                <a:spcPts val="500"/>
              </a:spcAft>
              <a:buNone/>
            </a:pPr>
            <a:r>
              <a:rPr lang="en-US" sz="1000" dirty="0">
                <a:solidFill>
                  <a:schemeClr val="bg1"/>
                </a:solidFill>
                <a:latin typeface="Arial" pitchFamily="34" charset="0"/>
                <a:ea typeface="Arial" pitchFamily="34" charset="-122"/>
                <a:cs typeface="Arial" pitchFamily="34" charset="-120"/>
              </a:rPr>
              <a:t>Folie 14: Robert Bechtle, ’61 Pontiac, 1968–69. Whitney Museum of American Art, New York. Abb.: whitney.org/collection/works/493</a:t>
            </a:r>
            <a:endParaRPr lang="en-US" sz="1000" dirty="0"/>
          </a:p>
          <a:p>
            <a:pPr indent="0" marL="0">
              <a:spcAft>
                <a:spcPts val="500"/>
              </a:spcAft>
              <a:buNone/>
            </a:pPr>
            <a:r>
              <a:rPr lang="en-US" sz="1000" dirty="0">
                <a:solidFill>
                  <a:schemeClr val="bg1"/>
                </a:solidFill>
                <a:latin typeface="Arial" pitchFamily="34" charset="0"/>
                <a:ea typeface="Arial" pitchFamily="34" charset="-122"/>
                <a:cs typeface="Arial" pitchFamily="34" charset="-120"/>
              </a:rPr>
              <a:t>Folie 14: Don Eddy, New Shoes for H, 1973–74. Cleveland Museum of Art. Abb.: clevelandart.org/art/1974.53</a:t>
            </a:r>
            <a:endParaRPr lang="en-US" sz="1000" dirty="0"/>
          </a:p>
        </p:txBody>
      </p:sp>
      <p:sp>
        <p:nvSpPr>
          <p:cNvPr id="5" name="Text 3"/>
          <p:cNvSpPr txBox="1"/>
          <p:nvPr/>
        </p:nvSpPr>
        <p:spPr>
          <a:xfrm>
            <a:off x="6233008" y="1691640"/>
            <a:ext cx="5410048" cy="4480560"/>
          </a:xfrm>
          <a:prstGeom prst="rect">
            <a:avLst/>
          </a:prstGeom>
          <a:noFill/>
          <a:ln/>
        </p:spPr>
        <p:txBody>
          <a:bodyPr wrap="square" lIns="0" tIns="0" rIns="0" bIns="0" rtlCol="0" anchor="t"/>
          <a:lstStyle/>
          <a:p>
            <a:pPr indent="0" marL="0">
              <a:spcAft>
                <a:spcPts val="500"/>
              </a:spcAft>
              <a:buNone/>
            </a:pPr>
            <a:r>
              <a:rPr lang="en-US" sz="1000" dirty="0">
                <a:solidFill>
                  <a:schemeClr val="bg1"/>
                </a:solidFill>
                <a:latin typeface="Arial" pitchFamily="34" charset="0"/>
                <a:ea typeface="Arial" pitchFamily="34" charset="-122"/>
                <a:cs typeface="Arial" pitchFamily="34" charset="-120"/>
              </a:rPr>
              <a:t>Folie 15: Audrey Flack, Marilyn (Vanitas), 1977. University of Arizona Museum of Art, Tucson. Abb.: uarizona.pastperfectonline.com (Inv.-Nr. 1982.035.001)</a:t>
            </a:r>
            <a:endParaRPr lang="en-US" sz="1000" dirty="0"/>
          </a:p>
          <a:p>
            <a:pPr indent="0" marL="0">
              <a:spcAft>
                <a:spcPts val="500"/>
              </a:spcAft>
              <a:buNone/>
            </a:pPr>
            <a:r>
              <a:rPr lang="en-US" sz="1000" dirty="0">
                <a:solidFill>
                  <a:schemeClr val="bg1"/>
                </a:solidFill>
                <a:latin typeface="Arial" pitchFamily="34" charset="0"/>
                <a:ea typeface="Arial" pitchFamily="34" charset="-122"/>
                <a:cs typeface="Arial" pitchFamily="34" charset="-120"/>
              </a:rPr>
              <a:t>Folie 15: Charles Bell, Gum Ball No. 10: „Sugar Daddy“, 1975. Solomon R. Guggenheim Museum, New York. Abb.: guggenheim.org/artwork/artist/charles-bell</a:t>
            </a:r>
            <a:endParaRPr lang="en-US" sz="1000" dirty="0"/>
          </a:p>
          <a:p>
            <a:pPr indent="0" marL="0">
              <a:spcAft>
                <a:spcPts val="500"/>
              </a:spcAft>
              <a:buNone/>
            </a:pPr>
            <a:r>
              <a:rPr lang="en-US" sz="1000" dirty="0">
                <a:solidFill>
                  <a:schemeClr val="bg1"/>
                </a:solidFill>
                <a:latin typeface="Arial" pitchFamily="34" charset="0"/>
                <a:ea typeface="Arial" pitchFamily="34" charset="-122"/>
                <a:cs typeface="Arial" pitchFamily="34" charset="-120"/>
              </a:rPr>
              <a:t>Folie 16: Duane Hanson, Supermarket Lady, 1969/70. Ludwig Forum für Internationale Kunst, Aachen. Abb.: ludwigforum.de/en/museum/restoration-workshop/supermarket-lady</a:t>
            </a:r>
            <a:endParaRPr lang="en-US" sz="1000" dirty="0"/>
          </a:p>
          <a:p>
            <a:pPr indent="0" marL="0">
              <a:spcAft>
                <a:spcPts val="500"/>
              </a:spcAft>
              <a:buNone/>
            </a:pPr>
            <a:r>
              <a:rPr lang="en-US" sz="1000" dirty="0">
                <a:solidFill>
                  <a:schemeClr val="bg1"/>
                </a:solidFill>
                <a:latin typeface="Arial" pitchFamily="34" charset="0"/>
                <a:ea typeface="Arial" pitchFamily="34" charset="-122"/>
                <a:cs typeface="Arial" pitchFamily="34" charset="-120"/>
              </a:rPr>
              <a:t>Folie 16: Ron Mueck, Mask II, 2001–02. San Francisco Museum of Modern Art. Abb.: sfmoma.org (Art Supporting Foundation to SFMOMA)</a:t>
            </a:r>
            <a:endParaRPr lang="en-US" sz="1000" dirty="0"/>
          </a:p>
          <a:p>
            <a:pPr indent="0" marL="0">
              <a:spcAft>
                <a:spcPts val="500"/>
              </a:spcAft>
              <a:buNone/>
            </a:pPr>
            <a:r>
              <a:rPr lang="en-US" sz="1000" dirty="0">
                <a:solidFill>
                  <a:schemeClr val="bg1"/>
                </a:solidFill>
                <a:latin typeface="Arial" pitchFamily="34" charset="0"/>
                <a:ea typeface="Arial" pitchFamily="34" charset="-122"/>
                <a:cs typeface="Arial" pitchFamily="34" charset="-120"/>
              </a:rPr>
              <a:t>Folie 17: Gottfried Helnwein, Epiphany II (Adoration of the Shepherds), 1998. de Young Museum, San Francisco. Abb.: famsf.org/artworks/epiphany-ii-adoration-of-the-shepherds</a:t>
            </a:r>
            <a:endParaRPr lang="en-US" sz="1000" dirty="0"/>
          </a:p>
          <a:p>
            <a:pPr indent="0" marL="0">
              <a:spcAft>
                <a:spcPts val="500"/>
              </a:spcAft>
              <a:buNone/>
            </a:pPr>
            <a:r>
              <a:rPr lang="en-US" sz="1000" dirty="0">
                <a:solidFill>
                  <a:schemeClr val="bg1"/>
                </a:solidFill>
                <a:latin typeface="Arial" pitchFamily="34" charset="0"/>
                <a:ea typeface="Arial" pitchFamily="34" charset="-122"/>
                <a:cs typeface="Arial" pitchFamily="34" charset="-120"/>
              </a:rPr>
              <a:t>Folie 17: Gregory Thielker, Exhale, 2023. Guy Hepner Gallery, New York. Abb.: guyhepner.com/artworks/9873-gregory-thielker-exhale-2023</a:t>
            </a:r>
            <a:endParaRPr lang="en-US" sz="1000" dirty="0"/>
          </a:p>
          <a:p>
            <a:pPr indent="0" marL="0">
              <a:spcAft>
                <a:spcPts val="500"/>
              </a:spcAft>
              <a:buNone/>
            </a:pPr>
            <a:r>
              <a:rPr lang="en-US" sz="1000" dirty="0">
                <a:solidFill>
                  <a:schemeClr val="bg1"/>
                </a:solidFill>
                <a:latin typeface="Arial" pitchFamily="34" charset="0"/>
                <a:ea typeface="Arial" pitchFamily="34" charset="-122"/>
                <a:cs typeface="Arial" pitchFamily="34" charset="-120"/>
              </a:rPr>
              <a:t>Abbildungen nur zu Unterrichtszwecken (§ 60a UrhG); Rechte bei den Künstlern bzw. Nachlässen. Webseiten abgerufen am 25.10.2026.</a:t>
            </a:r>
            <a:endParaRPr lang="en-US" sz="10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Dunkelkammer">
  <a:themeElements>
    <a:clrScheme name="Dunkelkammer">
      <a:dk1>
        <a:srgbClr val="141414"/>
      </a:dk1>
      <a:lt1>
        <a:srgbClr val="F5F5F2"/>
      </a:lt1>
      <a:dk2>
        <a:srgbClr val="242424"/>
      </a:dk2>
      <a:lt2>
        <a:srgbClr val="A8A8A3"/>
      </a:lt2>
      <a:accent1>
        <a:srgbClr val="F5B21B"/>
      </a:accent1>
      <a:accent2>
        <a:srgbClr val="8CC4D6"/>
      </a:accent2>
      <a:accent3>
        <a:srgbClr val="3A3A3A"/>
      </a:accent3>
      <a:accent4>
        <a:srgbClr val="1C1C1C"/>
      </a:accent4>
      <a:accent5>
        <a:srgbClr val="6F6F6A"/>
      </a:accent5>
      <a:accent6>
        <a:srgbClr val="DADAD5"/>
      </a:accent6>
      <a:hlink>
        <a:srgbClr val="F5B21B"/>
      </a:hlink>
      <a:folHlink>
        <a:srgbClr val="C9941A"/>
      </a:folHlink>
    </a:clrScheme>
    <a:fontScheme name="Dunkelkammer">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Fotorealismus &amp; Hyperrealismus</dc:title>
  <dc:subject>Referat zu Kunstepochen</dc:subject>
  <dc:creator>Referat Kunst</dc:creator>
  <cp:lastModifiedBy>Referat Kunst</cp:lastModifiedBy>
  <cp:revision>1</cp:revision>
  <dcterms:created xsi:type="dcterms:W3CDTF">2026-10-25T12:45:24Z</dcterms:created>
  <dcterms:modified xsi:type="dcterms:W3CDTF">2026-10-25T12:45:24Z</dcterms:modified>
</cp:coreProperties>
</file>