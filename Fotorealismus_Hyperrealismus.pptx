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5cd2ecc3-c13c-815a-02ad-334a3965a74e}">
          <p14:sldIdLst>
            <p14:sldId id="256"/>
            <p14:sldId id="257"/>
            <p14:sldId id="258"/>
            <p14:sldId id="259"/>
          </p14:sldIdLst>
        </p14:section>
        <p14:section name="Zeitliche Einordnung" id="{e83f5f75-7a3a-aa99-8bb7-b0bc692805c0}">
          <p14:sldIdLst>
            <p14:sldId id="260"/>
            <p14:sldId id="261"/>
            <p14:sldId id="262"/>
          </p14:sldIdLst>
        </p14:section>
        <p14:section name="Merkmale" id="{59fcacb0-ecdb-5d5b-f8f0-31503ee71831}">
          <p14:sldIdLst>
            <p14:sldId id="263"/>
            <p14:sldId id="264"/>
            <p14:sldId id="265"/>
            <p14:sldId id="266"/>
          </p14:sldIdLst>
        </p14:section>
        <p14:section name="Motive" id="{d62a4e41-fb5d-6af4-cfe0-e487953fb397}">
          <p14:sldIdLst>
            <p14:sldId id="267"/>
          </p14:sldIdLst>
        </p14:section>
        <p14:section name="Hauptvertreter" id="{605b48d4-75fd-e5ed-dd91-45ce2022d458}">
          <p14:sldIdLst>
            <p14:sldId id="268"/>
            <p14:sldId id="269"/>
          </p14:sldIdLst>
        </p14:section>
        <p14:section name="Werkbeispiele" id="{28f5a90a-9591-6905-0805-d0161977bdf8}">
          <p14:sldIdLst>
            <p14:sldId id="270"/>
            <p14:sldId id="271"/>
            <p14:sldId id="272"/>
            <p14:sldId id="273"/>
            <p14:sldId id="274"/>
          </p14:sldIdLst>
        </p14:section>
        <p14:section name="Fazit &amp; Quellen" id="{df9bae01-5451-f3d9-17d2-e757c7b3e9a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Einstieg zeige ich euch ein Bild. Schaut es euch genau an: Ist das ein Foto oder ein Gemälde? Wer glaubt, es ist ein Foto? Und wer glaubt, es ist gemalt? (Handzeichen abwarten)
(Sprechzeit ca. 15 s · 31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Auflösung: Es ist ein Gemälde! Ralph Goings: Airstream, 1970, Öl auf Leinwand. Woran hätte man es merken können? Am Beamer fast gar nicht – im Museum schon: Das Original ist über zwei Meter breit, und aus der Nähe sieht man die Leinwand. Goings interessierte sich weniger für den Wohnwagen selbst als für Licht, Spiegelungen und Schatten auf dem Aluminium. Genau mit dieser Verwechslung spielt der Fotorealismus.
(Sprechzeit ca. 30 s · 65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meinem Referat geht es um den Fotorealismus und den Hyperrealismus – zwei Kunstrichtungen, deren Gemälde und Skulpturen so lebensecht wirken, dass man sie für Fotos oder echte Menschen halten könnte. Meine Leitfrage lautet: „Wirklicher als die Wirklichkeit?“ – also: Kann ein gemaltes Bild echter wirken als die Wirklichkeit selbst? Darauf komme ich am Ende zurück.
(Sprechzeit ca. 25 s · 54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Zuerst ordne ich die Kunstrichtung zeitlich ein. Dann geht es um Technik und Merkmale – nachgewiesen an zwei Bildbeispielen –, um Motive, Hauptvertreter und weitere Werke. Am Ende beantworte ich die Leitfrage.
(Sprechzeit ca. 15 s · 30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Fotorealismus entsteht Ende der 1960er-Jahre in den USA, vor allem in New York und Kalifornien – als Gegenbewegung zum Abstrakten Expressionismus, bei dem man jeden Pinselschwung sieht. Von der Pop Art übernimmt er den Blick auf Werbung, Konsum und Alltag. 1966 malt Malcolm Morley ein Passagierschiff nach einem Werbebild, 1969 prägt der New Yorker Galerist Louis K. Meisel den Begriff „Photo-Realism“. 1972 zeigt die documenta 5 in Kassel, eine der wichtigsten Ausstellungen für Gegenwartskunst, viele Fotorealisten. Der Sammler Peter Ludwig kaufte früh Werke – deshalb hängen heute einige im Ludwig Forum in Aachen. 1973 macht eine Ausstellung in Brüssel den Begriff „Hyperrealismus“ bekannt, 1980 erscheint Meisels Standardwerk, und seit etwa 2000 erlebt der Hyperrealismus einen neuen Aufschwung.
(Sprechzeit ca. 55 s · 116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 kommt aus dem Griechischen und heißt „über“. Der Begriff Hyperrealismus wurde 1973 zuerst einfach als anderes Wort für Fotorealismus benutzt – bis heute verwendet man beide oft gleichbedeutend. Heute meint man damit vor allem Werke, die das Foto übertreffen wollen – schon die Skulpturen von Duane Hanson ab etwa 1970, besonders aber Künstler seit etwa 2000. Der Fotorealismus ist kühl und neutral: Er überträgt das Foto genau, mit Pinsel oder Airbrush – einer kleinen Farbspritzpistole. Der Hyperrealismus geht weiter: Er wird detailreicher als jedes Foto, erzählt Geschichten, weckt Gefühle oder übt Kritik.
(Sprechzeit ca. 40 s · 90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man den Fotorealismus nicht verwechselt, grenze ich ihn kurz ab. Der Realismus des 19. Jahrhunderts, etwa von Gustave Courbet, wollte die Wirklichkeit ungeschönt zeigen – oft sozialkritisch und mit sichtbarem Pinselstrich. Die Pop Art von Andy Warhol oder Roy Lichtenstein zitiert Medienbilder flach und plakativ, oft im Siebdruck. Der Fotorealismus will dagegen eine perfekte Illusion. Und in Deutschland malt Gerhard Richter schon ab 1962 nach Fotos, verwischt sie aber bewusst – man nennt das Fotomalerei. Richter zweifelt am Bild, die Fotorealisten perfektionieren es.
(Sprechzeit ca. 40 s · 82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entsteht so ein Bild? Zuerst wird fotografiert. Dann wird das Foto übertragen: mit einem Raster aus Quadraten, Feld für Feld, oder man wirft ein Dia – also ein durchsichtiges Foto – mit einem Projektor auf die Leinwand und zeichnet nach. Danach wird Schicht für Schicht gemalt, oft monatelang. 1972 hat Louis K. Meisel fünf Kriterien formuliert: Fotorealisten arbeiten mit Kamera und Foto, übertragen mechanisch und können das Bild fotografisch wirken lassen. Die letzten beiden Kriterien grenzen die Kerngruppe zeitlich ein.
(Sprechzeit ca. 35 s · 79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sechs Merkmale fassen zusammen, woran man Fotorealismus erkennt: Die Vorlage ist ein Foto. Es wird mechanisch übertragen. Man sieht keine Handschrift, also keine Pinselspuren. Der Blick ist fotografisch – Ausschnitt, Licht, Spiegelungen und manchmal sogar Unschärfen stammen aus dem Foto. Viele Bilder sind sehr groß. Und die Motive kommen aus dem Alltag und werden neutral gezeigt. Diese Merkmale weise ich jetzt an zwei Bildbeispielen nach – achtet darauf, wie viele ihr wiederfindet.
(Sprechzeit ca. 35 s · 71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erste Bildbeispiel: Richard Estes: Telephone Booths, 1967 – auf Deutsch „Telefonzellen“. Man sieht vier besetzte Telefonzellen an einer Kreuzung in New York. In Glas und Aluminium spiegeln sich Gebäude, Geschäfte, Schilder und Autos – Spiegelungen sind das Markenzeichen von Estes. Außerdem sind Vorder- und Hintergrund gleich scharf. Das schafft weder unser Auge noch eine Kamera auf einmal. Möglich wird es, weil Estes ohne Projektor arbeitet und mehrere eigene Fotos zu einem Bild zusammensetzt. Man sieht keinen Pinselstrich, und das Motiv ist völlig alltäglich. Damit ist das Bild eigentlich schärfer als die Wirklichkeit.
(Sprechzeit ca. 40 s · 91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zweite Bildbeispiel: Chuck Close: Big Self-Portrait, 1967–68. Das Bild ist 2,73 Meter hoch – das Gesicht wirkt dadurch monumental. Close hat über ein Foto von sich ein Raster gelegt und es Feld für Feld übertragen, mit Airbrush in Schwarz-Weiß. Interessant ist der Unterschied zu Estes: Estes macht alles scharf, Close übernimmt dagegen die Unschärfe der Kamera – Nasenspitze und Ohren verschwimmen. Und das Porträt ist nicht geschönt: Zigarette, zerzauste Haare, Bartstoppeln. Es war übrigens das erste Bild, das Close verkauft hat.
(Sprechzeit ca. 35 s · 80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Motive stammen fast immer aus dem Alltag: Großstadt und Schaufenster mit Spiegelungen und Leuchtreklame, Autos und Wohnwagen als Symbole des amerikanischen Lebensstils und Diners – also typisch amerikanische Imbissrestaurants. Dazu kommen Porträts im Riesenformat und Stillleben mit Konsumgütern oder Vanitas-Symbolen. Vanitas heißt auf Latein „Nichtigkeit“: Gegenstände wie Kerze, Uhr oder welkes Obst erinnern an die Vergänglichkeit. Im Hyperrealismus steht oft der Mensch selbst im Mittelpunkt – als lebensechte Skulptur.
(Sprechzeit ca. 30 s · 68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meisten Fotorealisten kommen aus den USA. Richard Estes gilt als Mitbegründer, Chuck Close malte riesige Porträts – beide habt ihr schon gesehen. Ralph Goings malte vor allem Diners, Pick-ups und Wohnwagen. Audrey Flack war die wichtigste Künstlerin der ersten Generation, Robert Bechtle zeigte die kalifornische Vorstadt. Der wichtigste Europäer ist der Schweizer Franz Gertsch, der 1972 auf der documenta 5 bekannt wurde.
(Sprechzeit ca. 30 s · 62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Hyperrealismus spielen Skulpturen eine große Rolle: Duane Hanson schuf lebensgroße Alltagsmenschen mit echter Kleidung, John De Andrea Aktfiguren, und Ron Mueck macht seine Figuren riesig oder winzig. In der Malerei provoziert Gottfried Helnwein, Roberto Bernardi malt Glas und Süßigkeiten, und bei Robin Eley ist sogar die Plastikfolie um die Menschen nur gemalt.
(Sprechzeit ca. 25 s · 53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Malcolm Morley: SS Amsterdam in Front of Rotterdam, 1966. Morley malte das Passagierschiff nach einem gedruckten Werbebild und übertrug es mit einem Raster Feld für Feld. Bei manchen Schiffsbildern malte er sogar den weißen Postkartenrand mit – er malt also nicht das Schiff, sondern ein Bild vom Schiff. Rechts: Franz Gertsch: Medici, 1971/72. Fünf junge Männer lehnen an einer Bauabsperrung der Firma Medici – daher der Titel. Das Bild ist vier mal sechs Meter groß, entstand nach einem einzigen Schnappschuss und brachte Gertsch 1972 auf der documenta 5 den Durchbruch.
(Sprechzeit ca. 40 s · 89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Robert Bechtle: ’61 Pontiac, 1968–69. Bechtle steht hier mit seiner Frau und seinen Kindern vor dem Familienauto. Das Bild wirkt wie ein ganz normales Familienfoto – und genau das ist der Punkt: Bechtle zeigt die Ordnung der amerikanischen Vorstadt, ohne sie zu bewerten. Das ist das Merkmal Neutralität. Rechts: Don Eddy: New Shoes for H, 1973–74. Man blickt in ein Schuhgeschäft; Spiegelungen der Straße legen sich über die Schuhe, sodass man kaum sagen kann, was vor und was hinter der Scheibe ist. Frage an euch: Welche Merkmale erkennt ihr hier wieder? (kurz Antworten abwarten: Spiegelungen, Schärfe, Alltagsmotiv)
(Sprechzeit ca. 40 s · 91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Charles Bell: Gum Ball No. 10: „Sugar Daddy“, 1975. Ein Kaugummiautomat, vergrößert auf 1,68 Meter. „Sugar Daddy“ ist übrigens eine amerikanische Karamell-Lutscher-Marke. Bell zeigt, wie Licht in Glas und glänzenden Kugeln gespiegelt und gebrochen wird – ein billiges Konsumprodukt wird zum monumentalen Bild. Rechts: Audrey Flack: Marilyn (Vanitas), 1977. Ein Vanitas-Stillleben rund um ein Foto der jungen Marilyn Monroe: Sanduhr, Kerze, Obst und Schminke stehen für Schönheit und Vergänglichkeit. Flack hat die Dinge arrangiert, fotografiert und das Dia direkt auf die Leinwand projiziert. Hier wird der Fotorealismus emotional.
(Sprechzeit ca. 40 s · 87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zum Hyperrealismus – an diesen beiden Werken weise ich seine zusätzlichen Merkmale nach. Links: Duane Hanson: Supermarket Lady, 1969/70. Eine Frau mit Lockenwicklern schiebt einen Einkaufswagen voller echter Verpackungen. Hanson hat die Figur über einem lebenden Menschen abgeformt und bemalt; die Kleidung ist echt. Besucher halten sie oft für eine echte Person. Anders als die kühlen Fotorealisten übt Hanson Kritik an der Konsumgesellschaft. Rechts: Ron Mueck: Mask II, 2001–02. Muecks eigener Kopf, etwa viermal so groß wie in Wirklichkeit, liegt wie schlafend auf der Seite – jede Pore ist zu sehen. Mueck übertreibt den Maßstab, das kann kein Foto, und das löst Gefühle aus. Von hinten ist der Kopf hohl wie eine Maske: Die Illusion wird bewusst gebrochen.
(Sprechzeit ca. 55 s · 117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Gottfried Helnwein: Epiphany II (Adoration of the Shepherds), 1998. Der Österreicher Helnwein beschäftigt sich mit der NS-Vergangenheit. In seiner Serie „Epiphany“ verbindet er die Weihnachtsszene – Maria mit dem Kind – mit Männern in Uniformen der NS-Zeit. Gerade weil das Bild so fotografisch und sachlich wirkt, ist es verstörend: Helnwein kritisiert, wie die NS-Vergangenheit verdrängt wurde. Rechts: Gregory Thielker: Exhale, 2023. Wir blicken durch eine verregnete Windschutzscheibe. Die Tropfen sind gestochen scharf, die Landschaft dahinter verschwimmt – Thielker malt, wie eine Kameralinse sieht. Der Hyperrealismus ist also bis heute lebendig.
(Sprechzeit ca. 40 s · 84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Zurück zu meiner Leitfrage: Wirklicher als die Wirklichkeit? Meine Antwort: Ja und nein. Ja, weil ein Bild wie das von Estes schärfer ist, als wir oder eine Kamera es je sehen könnten. Nein, weil die Bilder nie die Wirklichkeit selbst zeigen, sondern immer ein Foto davon – ein Bild von einem Bild. Kritiker warfen dem Fotorealismus bloßes Abmalen vor. Ich sehe das anders: Die Künstler wählen aus, kombinieren und verändern – Estes setzt Fotos zusammen, Mueck verändert den Maßstab. Vor allem zeigen sie, wie sehr wir Bildern vertrauen. In einer Zeit, in der jeder ständig fotografiert, Fotos filtert und KI täuschend echte Bilder erzeugt, ist das aktueller denn je. Deshalb meine Frage an euch: Ist es Kunst, ein Foto perfekt abzumalen? (Diskussion) – Vielen Dank für eure Aufmerksamkeit!
(Sprechzeit ca. 55 s · 124 Wörter)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Quellenangaben – nicht vortragen, nur kurz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Bildnachweise – nicht vortragen, nur kurz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1414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43000" y="2103120"/>
            <a:ext cx="8229600" cy="1783080"/>
          </a:xfrm>
          <a:prstGeom prst="rect">
            <a:avLst/>
          </a:prstGeom>
          <a:noFill/>
          <a:ln/>
        </p:spPr>
        <p:txBody>
          <a:bodyPr wrap="square" rtlCol="0"/>
          <a:lstStyle>
            <a:lvl1pPr algn="l" indent="0" marL="0">
              <a:buNone/>
              <a:defRPr lang="en-US" sz="5200" b="1" dirty="0">
                <a:solidFill>
                  <a:srgbClr val="F5F5F2"/>
                </a:solidFill>
                <a:latin typeface="Georgia" pitchFamily="34" charset="0"/>
                <a:ea typeface="Georgia" pitchFamily="34" charset="-122"/>
                <a:cs typeface="Georgia" pitchFamily="34" charset="-120"/>
              </a:defRPr>
            </a:lvl1pPr>
          </a:lstStyle>
          <a:p>
            <a:pPr algn="l" indent="0" marL="0">
              <a:buNone/>
            </a:pPr>
            <a:endParaRPr lang="en-US" sz="5200" dirty="0"/>
          </a:p>
        </p:txBody>
      </p:sp>
      <p:sp>
        <p:nvSpPr>
          <p:cNvPr id="3" name="Text 0"/>
          <p:cNvSpPr/>
          <p:nvPr>
            <p:ph idx="101" type="body" hasCustomPrompt="1"/>
          </p:nvPr>
        </p:nvSpPr>
        <p:spPr>
          <a:xfrm>
            <a:off x="1143000" y="4114800"/>
            <a:ext cx="8229600" cy="548640"/>
          </a:xfrm>
          <a:prstGeom prst="rect">
            <a:avLst/>
          </a:prstGeom>
          <a:noFill/>
          <a:ln/>
        </p:spPr>
        <p:txBody>
          <a:bodyPr wrap="square" rtlCol="0"/>
          <a:lstStyle>
            <a:lvl1pPr algn="l" indent="0" marL="0">
              <a:buNone/>
              <a:defRPr lang="en-US" sz="2200" dirty="0">
                <a:solidFill>
                  <a:srgbClr val="A8A8A3"/>
                </a:solidFill>
                <a:latin typeface="Arial" pitchFamily="34" charset="0"/>
                <a:ea typeface="Arial" pitchFamily="34" charset="-122"/>
                <a:cs typeface="Arial"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rgbClr val="14141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rtlCol="0"/>
          <a:lstStyle>
            <a:lvl1pPr algn="l" indent="0" marL="0">
              <a:buNone/>
              <a:defRPr lang="en-US" sz="1200" b="1" spc="300" kern="0" dirty="0">
                <a:solidFill>
                  <a:srgbClr val="F5B21B"/>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3" name="Text 0"/>
          <p:cNvSpPr/>
          <p:nvPr>
            <p:ph idx="101" type="title" hasCustomPrompt="1"/>
          </p:nvPr>
        </p:nvSpPr>
        <p:spPr>
          <a:xfrm>
            <a:off x="548640" y="694944"/>
            <a:ext cx="11094415" cy="749808"/>
          </a:xfrm>
          <a:prstGeom prst="rect">
            <a:avLst/>
          </a:prstGeom>
          <a:noFill/>
          <a:ln/>
        </p:spPr>
        <p:txBody>
          <a:bodyPr wrap="square" rtlCol="0"/>
          <a:lstStyle>
            <a:lvl1pPr algn="l" indent="0" marL="0">
              <a:buNone/>
              <a:defRPr lang="en-US" sz="3200" b="1" dirty="0">
                <a:solidFill>
                  <a:srgbClr val="F5F5F2"/>
                </a:solidFill>
                <a:latin typeface="Georgia" pitchFamily="34" charset="0"/>
                <a:ea typeface="Georgia" pitchFamily="34" charset="-122"/>
                <a:cs typeface="Georg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ILD">
    <p:bg>
      <p:bgPr>
        <a:solidFill>
          <a:srgbClr val="14141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ildplatzhalter goings_airstream"/>
          <p:cNvSpPr/>
          <p:nvPr/>
        </p:nvSpPr>
        <p:spPr>
          <a:xfrm>
            <a:off x="4572000" y="904603"/>
            <a:ext cx="7068312" cy="5048794"/>
          </a:xfrm>
          <a:prstGeom prst="rect">
            <a:avLst/>
          </a:prstGeom>
          <a:solidFill>
            <a:srgbClr val="2E2E2E"/>
          </a:solidFill>
          <a:ln w="12700">
            <a:solidFill>
              <a:srgbClr val="484848"/>
            </a:solidFill>
            <a:prstDash val="dash"/>
          </a:ln>
        </p:spPr>
      </p:sp>
      <p:pic>
        <p:nvPicPr>
          <p:cNvPr id="3" name="Image 0" descr="Platzhalter-Symbol">    </p:cNvPr>
          <p:cNvPicPr>
            <a:picLocks noChangeAspect="1"/>
          </p:cNvPicPr>
          <p:nvPr/>
        </p:nvPicPr>
        <p:blipFill>
          <a:blip r:embed="rId1"/>
          <a:stretch>
            <a:fillRect/>
          </a:stretch>
        </p:blipFill>
        <p:spPr>
          <a:xfrm>
            <a:off x="7854696" y="2880360"/>
            <a:ext cx="502920" cy="502920"/>
          </a:xfrm>
          <a:prstGeom prst="rect">
            <a:avLst/>
          </a:prstGeom>
        </p:spPr>
      </p:pic>
      <p:sp>
        <p:nvSpPr>
          <p:cNvPr id="4" name="Text 1"/>
          <p:cNvSpPr txBox="1"/>
          <p:nvPr/>
        </p:nvSpPr>
        <p:spPr>
          <a:xfrm>
            <a:off x="4709160" y="3447288"/>
            <a:ext cx="6793992"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Ralph Goings: Airstream</a:t>
            </a:r>
            <a:endParaRPr lang="de-DE" sz="1100" dirty="0"/>
          </a:p>
        </p:txBody>
      </p:sp>
      <p:sp>
        <p:nvSpPr>
          <p:cNvPr id="5" name="Shape 2"/>
          <p:cNvSpPr/>
          <p:nvPr/>
        </p:nvSpPr>
        <p:spPr>
          <a:xfrm>
            <a:off x="4480560" y="813163"/>
            <a:ext cx="237744" cy="0"/>
          </a:xfrm>
          <a:prstGeom prst="line">
            <a:avLst/>
          </a:prstGeom>
          <a:noFill/>
          <a:ln w="25400">
            <a:solidFill>
              <a:srgbClr val="F5B21B"/>
            </a:solidFill>
            <a:prstDash val="solid"/>
          </a:ln>
        </p:spPr>
      </p:sp>
      <p:sp>
        <p:nvSpPr>
          <p:cNvPr id="6" name="Shape 3"/>
          <p:cNvSpPr/>
          <p:nvPr/>
        </p:nvSpPr>
        <p:spPr>
          <a:xfrm>
            <a:off x="4480560" y="813163"/>
            <a:ext cx="0" cy="237744"/>
          </a:xfrm>
          <a:prstGeom prst="line">
            <a:avLst/>
          </a:prstGeom>
          <a:noFill/>
          <a:ln w="25400">
            <a:solidFill>
              <a:srgbClr val="F5B21B"/>
            </a:solidFill>
            <a:prstDash val="solid"/>
          </a:ln>
        </p:spPr>
      </p:sp>
      <p:sp>
        <p:nvSpPr>
          <p:cNvPr id="7" name="Shape 4"/>
          <p:cNvSpPr/>
          <p:nvPr/>
        </p:nvSpPr>
        <p:spPr>
          <a:xfrm>
            <a:off x="11494008" y="813163"/>
            <a:ext cx="237744" cy="0"/>
          </a:xfrm>
          <a:prstGeom prst="line">
            <a:avLst/>
          </a:prstGeom>
          <a:noFill/>
          <a:ln w="25400">
            <a:solidFill>
              <a:srgbClr val="F5B21B"/>
            </a:solidFill>
            <a:prstDash val="solid"/>
          </a:ln>
        </p:spPr>
      </p:sp>
      <p:sp>
        <p:nvSpPr>
          <p:cNvPr id="8" name="Shape 5"/>
          <p:cNvSpPr/>
          <p:nvPr/>
        </p:nvSpPr>
        <p:spPr>
          <a:xfrm>
            <a:off x="11731752" y="813163"/>
            <a:ext cx="0" cy="237744"/>
          </a:xfrm>
          <a:prstGeom prst="line">
            <a:avLst/>
          </a:prstGeom>
          <a:noFill/>
          <a:ln w="25400">
            <a:solidFill>
              <a:srgbClr val="F5B21B"/>
            </a:solidFill>
            <a:prstDash val="solid"/>
          </a:ln>
        </p:spPr>
      </p:sp>
      <p:sp>
        <p:nvSpPr>
          <p:cNvPr id="9" name="Shape 6"/>
          <p:cNvSpPr/>
          <p:nvPr/>
        </p:nvSpPr>
        <p:spPr>
          <a:xfrm>
            <a:off x="4480560" y="6044837"/>
            <a:ext cx="237744" cy="0"/>
          </a:xfrm>
          <a:prstGeom prst="line">
            <a:avLst/>
          </a:prstGeom>
          <a:noFill/>
          <a:ln w="25400">
            <a:solidFill>
              <a:srgbClr val="F5B21B"/>
            </a:solidFill>
            <a:prstDash val="solid"/>
          </a:ln>
        </p:spPr>
      </p:sp>
      <p:sp>
        <p:nvSpPr>
          <p:cNvPr id="10" name="Shape 7"/>
          <p:cNvSpPr/>
          <p:nvPr/>
        </p:nvSpPr>
        <p:spPr>
          <a:xfrm>
            <a:off x="4480560" y="5807093"/>
            <a:ext cx="0" cy="237744"/>
          </a:xfrm>
          <a:prstGeom prst="line">
            <a:avLst/>
          </a:prstGeom>
          <a:noFill/>
          <a:ln w="25400">
            <a:solidFill>
              <a:srgbClr val="F5B21B"/>
            </a:solidFill>
            <a:prstDash val="solid"/>
          </a:ln>
        </p:spPr>
      </p:sp>
      <p:sp>
        <p:nvSpPr>
          <p:cNvPr id="11" name="Shape 8"/>
          <p:cNvSpPr/>
          <p:nvPr/>
        </p:nvSpPr>
        <p:spPr>
          <a:xfrm>
            <a:off x="11494008" y="6044837"/>
            <a:ext cx="237744" cy="0"/>
          </a:xfrm>
          <a:prstGeom prst="line">
            <a:avLst/>
          </a:prstGeom>
          <a:noFill/>
          <a:ln w="25400">
            <a:solidFill>
              <a:srgbClr val="F5B21B"/>
            </a:solidFill>
            <a:prstDash val="solid"/>
          </a:ln>
        </p:spPr>
      </p:sp>
      <p:sp>
        <p:nvSpPr>
          <p:cNvPr id="12" name="Shape 9"/>
          <p:cNvSpPr/>
          <p:nvPr/>
        </p:nvSpPr>
        <p:spPr>
          <a:xfrm>
            <a:off x="11731752" y="5807093"/>
            <a:ext cx="0" cy="237744"/>
          </a:xfrm>
          <a:prstGeom prst="line">
            <a:avLst/>
          </a:prstGeom>
          <a:noFill/>
          <a:ln w="25400">
            <a:solidFill>
              <a:srgbClr val="F5B21B"/>
            </a:solidFill>
            <a:prstDash val="solid"/>
          </a:ln>
        </p:spPr>
      </p:sp>
      <p:sp>
        <p:nvSpPr>
          <p:cNvPr id="13" name="Text 10"/>
          <p:cNvSpPr txBox="1"/>
          <p:nvPr/>
        </p:nvSpPr>
        <p:spPr>
          <a:xfrm>
            <a:off x="548640" y="1463040"/>
            <a:ext cx="3657600" cy="274320"/>
          </a:xfrm>
          <a:prstGeom prst="rect">
            <a:avLst/>
          </a:prstGeom>
          <a:noFill/>
          <a:ln/>
        </p:spPr>
        <p:txBody>
          <a:bodyPr wrap="square" lIns="0" tIns="0" rIns="0" bIns="0" rtlCol="0" anchor="ctr"/>
          <a:lstStyle/>
          <a:p>
            <a:pPr indent="0" marL="0">
              <a:buNone/>
            </a:pPr>
            <a:r>
              <a:rPr lang="de-DE" altLang="en-US" sz="1200" b="1" spc="300" kern="0" dirty="0">
                <a:solidFill>
                  <a:srgbClr val="F5B21B"/>
                </a:solidFill>
                <a:latin typeface="Arial" pitchFamily="34" charset="0"/>
                <a:ea typeface="Arial" pitchFamily="34" charset="-122"/>
                <a:cs typeface="Arial" pitchFamily="34" charset="-120"/>
              </a:rPr>
              <a:t>EINSTIEG</a:t>
            </a:r>
            <a:endParaRPr lang="de-DE" sz="1200" dirty="0"/>
          </a:p>
        </p:txBody>
      </p:sp>
      <p:sp>
        <p:nvSpPr>
          <p:cNvPr id="14" name="Text 11"/>
          <p:cNvSpPr txBox="1"/>
          <p:nvPr/>
        </p:nvSpPr>
        <p:spPr>
          <a:xfrm>
            <a:off x="548640" y="1828800"/>
            <a:ext cx="3657600" cy="1737360"/>
          </a:xfrm>
          <a:prstGeom prst="rect">
            <a:avLst/>
          </a:prstGeom>
          <a:noFill/>
          <a:ln/>
        </p:spPr>
        <p:txBody>
          <a:bodyPr wrap="square" lIns="0" tIns="0" rIns="0" bIns="0" rtlCol="0" anchor="t"/>
          <a:lstStyle/>
          <a:p>
            <a:pPr indent="0" marL="0">
              <a:buNone/>
            </a:pPr>
            <a:r>
              <a:rPr lang="de-DE" altLang="en-US" sz="4400" b="1" dirty="0">
                <a:solidFill>
                  <a:srgbClr val="F5F5F2"/>
                </a:solidFill>
                <a:latin typeface="Georgia" pitchFamily="34" charset="0"/>
                <a:ea typeface="Georgia" pitchFamily="34" charset="-122"/>
                <a:cs typeface="Georgia" pitchFamily="34" charset="-120"/>
              </a:rPr>
              <a:t>Foto oder Gemälde?</a:t>
            </a:r>
            <a:endParaRPr lang="de-DE" sz="4400" dirty="0"/>
          </a:p>
        </p:txBody>
      </p:sp>
      <p:sp>
        <p:nvSpPr>
          <p:cNvPr id="15" name="Text 12"/>
          <p:cNvSpPr txBox="1"/>
          <p:nvPr/>
        </p:nvSpPr>
        <p:spPr>
          <a:xfrm>
            <a:off x="548640" y="3703320"/>
            <a:ext cx="3566160" cy="914400"/>
          </a:xfrm>
          <a:prstGeom prst="rect">
            <a:avLst/>
          </a:prstGeom>
          <a:noFill/>
          <a:ln/>
        </p:spPr>
        <p:txBody>
          <a:bodyPr wrap="square" lIns="0" tIns="0" rIns="0" bIns="0" rtlCol="0" anchor="t"/>
          <a:lstStyle/>
          <a:p>
            <a:pPr indent="0" marL="0">
              <a:buNone/>
            </a:pPr>
            <a:r>
              <a:rPr lang="de-DE" altLang="en-US" sz="1800" dirty="0">
                <a:solidFill>
                  <a:srgbClr val="A8A8A3"/>
                </a:solidFill>
                <a:latin typeface="Arial" pitchFamily="34" charset="0"/>
                <a:ea typeface="Arial" pitchFamily="34" charset="-122"/>
                <a:cs typeface="Arial" pitchFamily="34" charset="-120"/>
              </a:rPr>
              <a:t>Schaut genau hin – und stimmt per Handzeichen ab.</a:t>
            </a:r>
            <a:endParaRPr lang="de-DE"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EINSTIEG</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Auflösung: ein Gemälde!</a:t>
            </a:r>
            <a:endParaRPr lang="de-DE" sz="3200" dirty="0"/>
          </a:p>
        </p:txBody>
      </p:sp>
      <p:sp>
        <p:nvSpPr>
          <p:cNvPr id="4" name="Bildplatzhalter goings_airstream"/>
          <p:cNvSpPr/>
          <p:nvPr/>
        </p:nvSpPr>
        <p:spPr>
          <a:xfrm>
            <a:off x="640080" y="1783080"/>
            <a:ext cx="5120640" cy="365760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2948940" y="3063240"/>
            <a:ext cx="502920" cy="502920"/>
          </a:xfrm>
          <a:prstGeom prst="rect">
            <a:avLst/>
          </a:prstGeom>
        </p:spPr>
      </p:pic>
      <p:sp>
        <p:nvSpPr>
          <p:cNvPr id="6" name="Text 3"/>
          <p:cNvSpPr txBox="1"/>
          <p:nvPr/>
        </p:nvSpPr>
        <p:spPr>
          <a:xfrm>
            <a:off x="777240" y="3630168"/>
            <a:ext cx="4846320"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Ralph Goings: Airstream</a:t>
            </a:r>
            <a:endParaRPr lang="de-DE" sz="1100" dirty="0"/>
          </a:p>
        </p:txBody>
      </p:sp>
      <p:sp>
        <p:nvSpPr>
          <p:cNvPr id="7" name="Shape 4"/>
          <p:cNvSpPr/>
          <p:nvPr/>
        </p:nvSpPr>
        <p:spPr>
          <a:xfrm>
            <a:off x="548640" y="1691640"/>
            <a:ext cx="237744" cy="0"/>
          </a:xfrm>
          <a:prstGeom prst="line">
            <a:avLst/>
          </a:prstGeom>
          <a:noFill/>
          <a:ln w="25400">
            <a:solidFill>
              <a:srgbClr val="F5B21B"/>
            </a:solidFill>
            <a:prstDash val="solid"/>
          </a:ln>
        </p:spPr>
      </p:sp>
      <p:sp>
        <p:nvSpPr>
          <p:cNvPr id="8" name="Shape 5"/>
          <p:cNvSpPr/>
          <p:nvPr/>
        </p:nvSpPr>
        <p:spPr>
          <a:xfrm>
            <a:off x="548640" y="1691640"/>
            <a:ext cx="0" cy="237744"/>
          </a:xfrm>
          <a:prstGeom prst="line">
            <a:avLst/>
          </a:prstGeom>
          <a:noFill/>
          <a:ln w="25400">
            <a:solidFill>
              <a:srgbClr val="F5B21B"/>
            </a:solidFill>
            <a:prstDash val="solid"/>
          </a:ln>
        </p:spPr>
      </p:sp>
      <p:sp>
        <p:nvSpPr>
          <p:cNvPr id="9" name="Shape 6"/>
          <p:cNvSpPr/>
          <p:nvPr/>
        </p:nvSpPr>
        <p:spPr>
          <a:xfrm>
            <a:off x="5614416" y="1691640"/>
            <a:ext cx="237744" cy="0"/>
          </a:xfrm>
          <a:prstGeom prst="line">
            <a:avLst/>
          </a:prstGeom>
          <a:noFill/>
          <a:ln w="25400">
            <a:solidFill>
              <a:srgbClr val="F5B21B"/>
            </a:solidFill>
            <a:prstDash val="solid"/>
          </a:ln>
        </p:spPr>
      </p:sp>
      <p:sp>
        <p:nvSpPr>
          <p:cNvPr id="10" name="Shape 7"/>
          <p:cNvSpPr/>
          <p:nvPr/>
        </p:nvSpPr>
        <p:spPr>
          <a:xfrm>
            <a:off x="5852160" y="1691640"/>
            <a:ext cx="0" cy="237744"/>
          </a:xfrm>
          <a:prstGeom prst="line">
            <a:avLst/>
          </a:prstGeom>
          <a:noFill/>
          <a:ln w="25400">
            <a:solidFill>
              <a:srgbClr val="F5B21B"/>
            </a:solidFill>
            <a:prstDash val="solid"/>
          </a:ln>
        </p:spPr>
      </p:sp>
      <p:sp>
        <p:nvSpPr>
          <p:cNvPr id="11" name="Shape 8"/>
          <p:cNvSpPr/>
          <p:nvPr/>
        </p:nvSpPr>
        <p:spPr>
          <a:xfrm>
            <a:off x="548640" y="5532120"/>
            <a:ext cx="237744" cy="0"/>
          </a:xfrm>
          <a:prstGeom prst="line">
            <a:avLst/>
          </a:prstGeom>
          <a:noFill/>
          <a:ln w="25400">
            <a:solidFill>
              <a:srgbClr val="F5B21B"/>
            </a:solidFill>
            <a:prstDash val="solid"/>
          </a:ln>
        </p:spPr>
      </p:sp>
      <p:sp>
        <p:nvSpPr>
          <p:cNvPr id="12" name="Shape 9"/>
          <p:cNvSpPr/>
          <p:nvPr/>
        </p:nvSpPr>
        <p:spPr>
          <a:xfrm>
            <a:off x="548640" y="5294376"/>
            <a:ext cx="0" cy="237744"/>
          </a:xfrm>
          <a:prstGeom prst="line">
            <a:avLst/>
          </a:prstGeom>
          <a:noFill/>
          <a:ln w="25400">
            <a:solidFill>
              <a:srgbClr val="F5B21B"/>
            </a:solidFill>
            <a:prstDash val="solid"/>
          </a:ln>
        </p:spPr>
      </p:sp>
      <p:sp>
        <p:nvSpPr>
          <p:cNvPr id="13" name="Shape 10"/>
          <p:cNvSpPr/>
          <p:nvPr/>
        </p:nvSpPr>
        <p:spPr>
          <a:xfrm>
            <a:off x="5614416" y="5532120"/>
            <a:ext cx="237744" cy="0"/>
          </a:xfrm>
          <a:prstGeom prst="line">
            <a:avLst/>
          </a:prstGeom>
          <a:noFill/>
          <a:ln w="25400">
            <a:solidFill>
              <a:srgbClr val="F5B21B"/>
            </a:solidFill>
            <a:prstDash val="solid"/>
          </a:ln>
        </p:spPr>
      </p:sp>
      <p:sp>
        <p:nvSpPr>
          <p:cNvPr id="14" name="Shape 11"/>
          <p:cNvSpPr/>
          <p:nvPr/>
        </p:nvSpPr>
        <p:spPr>
          <a:xfrm>
            <a:off x="5852160" y="5294376"/>
            <a:ext cx="0" cy="237744"/>
          </a:xfrm>
          <a:prstGeom prst="line">
            <a:avLst/>
          </a:prstGeom>
          <a:noFill/>
          <a:ln w="25400">
            <a:solidFill>
              <a:srgbClr val="F5B21B"/>
            </a:solidFill>
            <a:prstDash val="solid"/>
          </a:ln>
        </p:spPr>
      </p:sp>
      <p:sp>
        <p:nvSpPr>
          <p:cNvPr id="15" name="Text 12"/>
          <p:cNvSpPr txBox="1"/>
          <p:nvPr/>
        </p:nvSpPr>
        <p:spPr>
          <a:xfrm>
            <a:off x="640080" y="5669280"/>
            <a:ext cx="5120640" cy="64008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Ralph Goings,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Airstream</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1970</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„Airstream-Wohnwagen“ · Öl auf Leinwand, 152,3 × 213,5 cm · mumok Wien (Leihgabe Sammlung Ludwig, Aachen)</a:t>
            </a:r>
            <a:endParaRPr lang="de-DE" sz="1300" dirty="0"/>
          </a:p>
        </p:txBody>
      </p:sp>
      <p:sp>
        <p:nvSpPr>
          <p:cNvPr id="16" name="Shape 13"/>
          <p:cNvSpPr/>
          <p:nvPr/>
        </p:nvSpPr>
        <p:spPr>
          <a:xfrm>
            <a:off x="6400800" y="1801368"/>
            <a:ext cx="384048" cy="384048"/>
          </a:xfrm>
          <a:prstGeom prst="ellipse">
            <a:avLst/>
          </a:prstGeom>
          <a:solidFill>
            <a:srgbClr val="F5B21B"/>
          </a:solidFill>
          <a:ln w="12700">
            <a:solidFill>
              <a:srgbClr val="F5B21B"/>
            </a:solidFill>
            <a:prstDash val="solid"/>
          </a:ln>
        </p:spPr>
      </p:sp>
      <p:sp>
        <p:nvSpPr>
          <p:cNvPr id="17" name="Text 14"/>
          <p:cNvSpPr txBox="1"/>
          <p:nvPr/>
        </p:nvSpPr>
        <p:spPr>
          <a:xfrm>
            <a:off x="6400800" y="1801368"/>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1</a:t>
            </a:r>
            <a:endParaRPr lang="de-DE" sz="1400" dirty="0"/>
          </a:p>
        </p:txBody>
      </p:sp>
      <p:sp>
        <p:nvSpPr>
          <p:cNvPr id="18" name="Text 15"/>
          <p:cNvSpPr txBox="1"/>
          <p:nvPr/>
        </p:nvSpPr>
        <p:spPr>
          <a:xfrm>
            <a:off x="6949440" y="1783080"/>
            <a:ext cx="4693615" cy="1069848"/>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Größe</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Das Original ist 1,52 × 2,14 m groß.</a:t>
            </a:r>
            <a:endParaRPr lang="de-DE" sz="1600" dirty="0"/>
          </a:p>
        </p:txBody>
      </p:sp>
      <p:sp>
        <p:nvSpPr>
          <p:cNvPr id="19" name="Shape 16"/>
          <p:cNvSpPr/>
          <p:nvPr/>
        </p:nvSpPr>
        <p:spPr>
          <a:xfrm>
            <a:off x="6400800" y="2944368"/>
            <a:ext cx="384048" cy="384048"/>
          </a:xfrm>
          <a:prstGeom prst="ellipse">
            <a:avLst/>
          </a:prstGeom>
          <a:solidFill>
            <a:srgbClr val="F5B21B"/>
          </a:solidFill>
          <a:ln w="12700">
            <a:solidFill>
              <a:srgbClr val="F5B21B"/>
            </a:solidFill>
            <a:prstDash val="solid"/>
          </a:ln>
        </p:spPr>
      </p:sp>
      <p:sp>
        <p:nvSpPr>
          <p:cNvPr id="20" name="Text 17"/>
          <p:cNvSpPr txBox="1"/>
          <p:nvPr/>
        </p:nvSpPr>
        <p:spPr>
          <a:xfrm>
            <a:off x="6400800" y="2944368"/>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2</a:t>
            </a:r>
            <a:endParaRPr lang="de-DE" sz="1400" dirty="0"/>
          </a:p>
        </p:txBody>
      </p:sp>
      <p:sp>
        <p:nvSpPr>
          <p:cNvPr id="21" name="Text 18"/>
          <p:cNvSpPr txBox="1"/>
          <p:nvPr/>
        </p:nvSpPr>
        <p:spPr>
          <a:xfrm>
            <a:off x="6949440" y="2926080"/>
            <a:ext cx="4693615" cy="1069848"/>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Material</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Aus der Nähe sieht man Leinwand und feine Farbschichten.</a:t>
            </a:r>
            <a:endParaRPr lang="de-DE" sz="1600" dirty="0"/>
          </a:p>
        </p:txBody>
      </p:sp>
      <p:sp>
        <p:nvSpPr>
          <p:cNvPr id="22" name="Shape 19"/>
          <p:cNvSpPr/>
          <p:nvPr/>
        </p:nvSpPr>
        <p:spPr>
          <a:xfrm>
            <a:off x="6400800" y="4087368"/>
            <a:ext cx="384048" cy="384048"/>
          </a:xfrm>
          <a:prstGeom prst="ellipse">
            <a:avLst/>
          </a:prstGeom>
          <a:solidFill>
            <a:srgbClr val="F5B21B"/>
          </a:solidFill>
          <a:ln w="12700">
            <a:solidFill>
              <a:srgbClr val="F5B21B"/>
            </a:solidFill>
            <a:prstDash val="solid"/>
          </a:ln>
        </p:spPr>
      </p:sp>
      <p:sp>
        <p:nvSpPr>
          <p:cNvPr id="23" name="Text 20"/>
          <p:cNvSpPr txBox="1"/>
          <p:nvPr/>
        </p:nvSpPr>
        <p:spPr>
          <a:xfrm>
            <a:off x="6400800" y="4087368"/>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3</a:t>
            </a:r>
            <a:endParaRPr lang="de-DE" sz="1400" dirty="0"/>
          </a:p>
        </p:txBody>
      </p:sp>
      <p:sp>
        <p:nvSpPr>
          <p:cNvPr id="24" name="Text 21"/>
          <p:cNvSpPr txBox="1"/>
          <p:nvPr/>
        </p:nvSpPr>
        <p:spPr>
          <a:xfrm>
            <a:off x="6949440" y="4069080"/>
            <a:ext cx="4693615" cy="1069848"/>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Von Hand gemalt</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Licht, Spiegelungen und Schatten auf dem Aluminium – alles mit dem Pinsel.</a:t>
            </a:r>
            <a:endParaRPr lang="de-DE"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77240" y="777240"/>
            <a:ext cx="502920" cy="0"/>
          </a:xfrm>
          <a:prstGeom prst="line">
            <a:avLst/>
          </a:prstGeom>
          <a:noFill/>
          <a:ln w="31750">
            <a:solidFill>
              <a:srgbClr val="F5B21B"/>
            </a:solidFill>
            <a:prstDash val="solid"/>
          </a:ln>
        </p:spPr>
      </p:sp>
      <p:sp>
        <p:nvSpPr>
          <p:cNvPr id="3" name="Shape 1"/>
          <p:cNvSpPr/>
          <p:nvPr/>
        </p:nvSpPr>
        <p:spPr>
          <a:xfrm>
            <a:off x="777240" y="777240"/>
            <a:ext cx="0" cy="502920"/>
          </a:xfrm>
          <a:prstGeom prst="line">
            <a:avLst/>
          </a:prstGeom>
          <a:noFill/>
          <a:ln w="31750">
            <a:solidFill>
              <a:srgbClr val="F5B21B"/>
            </a:solidFill>
            <a:prstDash val="solid"/>
          </a:ln>
        </p:spPr>
      </p:sp>
      <p:sp>
        <p:nvSpPr>
          <p:cNvPr id="4" name="Shape 2"/>
          <p:cNvSpPr/>
          <p:nvPr/>
        </p:nvSpPr>
        <p:spPr>
          <a:xfrm>
            <a:off x="10911535" y="777240"/>
            <a:ext cx="502920" cy="0"/>
          </a:xfrm>
          <a:prstGeom prst="line">
            <a:avLst/>
          </a:prstGeom>
          <a:noFill/>
          <a:ln w="31750">
            <a:solidFill>
              <a:srgbClr val="F5B21B"/>
            </a:solidFill>
            <a:prstDash val="solid"/>
          </a:ln>
        </p:spPr>
      </p:sp>
      <p:sp>
        <p:nvSpPr>
          <p:cNvPr id="5" name="Shape 3"/>
          <p:cNvSpPr/>
          <p:nvPr/>
        </p:nvSpPr>
        <p:spPr>
          <a:xfrm>
            <a:off x="11414455" y="777240"/>
            <a:ext cx="0" cy="502920"/>
          </a:xfrm>
          <a:prstGeom prst="line">
            <a:avLst/>
          </a:prstGeom>
          <a:noFill/>
          <a:ln w="31750">
            <a:solidFill>
              <a:srgbClr val="F5B21B"/>
            </a:solidFill>
            <a:prstDash val="solid"/>
          </a:ln>
        </p:spPr>
      </p:sp>
      <p:sp>
        <p:nvSpPr>
          <p:cNvPr id="6" name="Shape 4"/>
          <p:cNvSpPr/>
          <p:nvPr/>
        </p:nvSpPr>
        <p:spPr>
          <a:xfrm>
            <a:off x="777240" y="6080760"/>
            <a:ext cx="502920" cy="0"/>
          </a:xfrm>
          <a:prstGeom prst="line">
            <a:avLst/>
          </a:prstGeom>
          <a:noFill/>
          <a:ln w="31750">
            <a:solidFill>
              <a:srgbClr val="F5B21B"/>
            </a:solidFill>
            <a:prstDash val="solid"/>
          </a:ln>
        </p:spPr>
      </p:sp>
      <p:sp>
        <p:nvSpPr>
          <p:cNvPr id="7" name="Shape 5"/>
          <p:cNvSpPr/>
          <p:nvPr/>
        </p:nvSpPr>
        <p:spPr>
          <a:xfrm>
            <a:off x="777240" y="5577840"/>
            <a:ext cx="0" cy="502920"/>
          </a:xfrm>
          <a:prstGeom prst="line">
            <a:avLst/>
          </a:prstGeom>
          <a:noFill/>
          <a:ln w="31750">
            <a:solidFill>
              <a:srgbClr val="F5B21B"/>
            </a:solidFill>
            <a:prstDash val="solid"/>
          </a:ln>
        </p:spPr>
      </p:sp>
      <p:sp>
        <p:nvSpPr>
          <p:cNvPr id="8" name="Shape 6"/>
          <p:cNvSpPr/>
          <p:nvPr/>
        </p:nvSpPr>
        <p:spPr>
          <a:xfrm>
            <a:off x="10911535" y="6080760"/>
            <a:ext cx="502920" cy="0"/>
          </a:xfrm>
          <a:prstGeom prst="line">
            <a:avLst/>
          </a:prstGeom>
          <a:noFill/>
          <a:ln w="31750">
            <a:solidFill>
              <a:srgbClr val="F5B21B"/>
            </a:solidFill>
            <a:prstDash val="solid"/>
          </a:ln>
        </p:spPr>
      </p:sp>
      <p:sp>
        <p:nvSpPr>
          <p:cNvPr id="9" name="Shape 7"/>
          <p:cNvSpPr/>
          <p:nvPr/>
        </p:nvSpPr>
        <p:spPr>
          <a:xfrm>
            <a:off x="11414455" y="5577840"/>
            <a:ext cx="0" cy="502920"/>
          </a:xfrm>
          <a:prstGeom prst="line">
            <a:avLst/>
          </a:prstGeom>
          <a:noFill/>
          <a:ln w="31750">
            <a:solidFill>
              <a:srgbClr val="F5B21B"/>
            </a:solidFill>
            <a:prstDash val="solid"/>
          </a:ln>
        </p:spPr>
      </p:sp>
      <p:sp>
        <p:nvSpPr>
          <p:cNvPr id="10" name="Text 8"/>
          <p:cNvSpPr txBox="1"/>
          <p:nvPr/>
        </p:nvSpPr>
        <p:spPr>
          <a:xfrm>
            <a:off x="1143000" y="1097280"/>
            <a:ext cx="5486400" cy="274320"/>
          </a:xfrm>
          <a:prstGeom prst="rect">
            <a:avLst/>
          </a:prstGeom>
          <a:noFill/>
          <a:ln/>
        </p:spPr>
        <p:txBody>
          <a:bodyPr wrap="square" lIns="0" tIns="0" rIns="0" bIns="0" rtlCol="0" anchor="ctr"/>
          <a:lstStyle/>
          <a:p>
            <a:pPr indent="0" marL="0">
              <a:buNone/>
            </a:pPr>
            <a:r>
              <a:rPr lang="de-DE" altLang="en-US" sz="1200" b="1" spc="300" kern="0" dirty="0">
                <a:solidFill>
                  <a:srgbClr val="F5B21B"/>
                </a:solidFill>
                <a:latin typeface="Arial" pitchFamily="34" charset="0"/>
                <a:ea typeface="Arial" pitchFamily="34" charset="-122"/>
                <a:cs typeface="Arial" pitchFamily="34" charset="-120"/>
              </a:rPr>
              <a:t>REFERAT · KUNSTEPOCHEN</a:t>
            </a:r>
            <a:endParaRPr lang="de-DE" sz="1200" dirty="0"/>
          </a:p>
        </p:txBody>
      </p:sp>
      <p:sp>
        <p:nvSpPr>
          <p:cNvPr id="11" name="Text 9"/>
          <p:cNvSpPr txBox="1"/>
          <p:nvPr/>
        </p:nvSpPr>
        <p:spPr>
          <a:xfrm>
            <a:off x="7391095" y="1097280"/>
            <a:ext cx="3657600" cy="274320"/>
          </a:xfrm>
          <a:prstGeom prst="rect">
            <a:avLst/>
          </a:prstGeom>
          <a:noFill/>
          <a:ln/>
        </p:spPr>
        <p:txBody>
          <a:bodyPr wrap="square" lIns="0" tIns="0" rIns="0" bIns="0" rtlCol="0" anchor="ctr"/>
          <a:lstStyle/>
          <a:p>
            <a:pPr algn="r" indent="0" marL="0">
              <a:buNone/>
            </a:pPr>
            <a:r>
              <a:rPr lang="de-DE" altLang="en-US" sz="1200" b="1" spc="300" kern="0" dirty="0">
                <a:solidFill>
                  <a:srgbClr val="A8A8A3"/>
                </a:solidFill>
                <a:latin typeface="Arial" pitchFamily="34" charset="0"/>
                <a:ea typeface="Arial" pitchFamily="34" charset="-122"/>
                <a:cs typeface="Arial" pitchFamily="34" charset="-120"/>
              </a:rPr>
              <a:t>1966 – HEUTE</a:t>
            </a:r>
            <a:endParaRPr lang="de-DE" sz="1200" dirty="0"/>
          </a:p>
        </p:txBody>
      </p:sp>
      <p:sp>
        <p:nvSpPr>
          <p:cNvPr id="12" name="Text 0"/>
          <p:cNvSpPr/>
          <p:nvPr>
            <p:ph idx="100" type="title" hasCustomPrompt="1"/>
          </p:nvPr>
        </p:nvSpPr>
        <p:spPr>
          <a:xfrm>
            <a:off x="1143000" y="2103120"/>
            <a:ext cx="8229600" cy="1783080"/>
          </a:xfrm>
          <a:prstGeom prst="rect">
            <a:avLst/>
          </a:prstGeom>
          <a:noFill/>
          <a:ln/>
        </p:spPr>
        <p:txBody>
          <a:bodyPr wrap="square" lIns="0" tIns="0" rIns="0" bIns="0" rtlCol="0" anchor="b"/>
          <a:lstStyle/>
          <a:p>
            <a:pPr algn="l" indent="0" marL="0">
              <a:buNone/>
            </a:pPr>
            <a:r>
              <a:rPr lang="de-DE" altLang="en-US" sz="5200" b="1" dirty="0">
                <a:solidFill>
                  <a:srgbClr val="F5F5F2"/>
                </a:solidFill>
                <a:latin typeface="Georgia" pitchFamily="34" charset="0"/>
                <a:ea typeface="Georgia" pitchFamily="34" charset="-122"/>
                <a:cs typeface="Georgia" pitchFamily="34" charset="-120"/>
              </a:rPr>
              <a:t>Fotorealismus &amp;</a:t>
            </a:r>
            <a:endParaRPr lang="de-DE" sz="5200" dirty="0"/>
          </a:p>
          <a:p>
            <a:pPr algn="l" indent="0" marL="0">
              <a:buNone/>
            </a:pPr>
            <a:r>
              <a:rPr lang="de-DE" altLang="en-US" sz="5200" b="1" dirty="0">
                <a:solidFill>
                  <a:srgbClr val="F5F5F2"/>
                </a:solidFill>
                <a:latin typeface="Georgia" pitchFamily="34" charset="0"/>
                <a:ea typeface="Georgia" pitchFamily="34" charset="-122"/>
                <a:cs typeface="Georgia" pitchFamily="34" charset="-120"/>
              </a:rPr>
              <a:t>Hyperrealismus</a:t>
            </a:r>
            <a:endParaRPr lang="de-DE" sz="5200" dirty="0"/>
          </a:p>
        </p:txBody>
      </p:sp>
      <p:sp>
        <p:nvSpPr>
          <p:cNvPr id="13" name="Text 0"/>
          <p:cNvSpPr/>
          <p:nvPr>
            <p:ph idx="101" type="body" hasCustomPrompt="1"/>
          </p:nvPr>
        </p:nvSpPr>
        <p:spPr>
          <a:xfrm>
            <a:off x="1143000" y="4114800"/>
            <a:ext cx="8229600" cy="548640"/>
          </a:xfrm>
          <a:prstGeom prst="rect">
            <a:avLst/>
          </a:prstGeom>
          <a:noFill/>
          <a:ln/>
        </p:spPr>
        <p:txBody>
          <a:bodyPr wrap="square" lIns="0" tIns="0" rIns="0" bIns="0" rtlCol="0" anchor="t"/>
          <a:lstStyle/>
          <a:p>
            <a:pPr algn="l" indent="0" marL="0">
              <a:buNone/>
            </a:pPr>
            <a:r>
              <a:rPr lang="de-DE" altLang="en-US" sz="2200" dirty="0">
                <a:solidFill>
                  <a:srgbClr val="A8A8A3"/>
                </a:solidFill>
                <a:latin typeface="Arial" pitchFamily="34" charset="0"/>
                <a:ea typeface="Arial" pitchFamily="34" charset="-122"/>
                <a:cs typeface="Arial" pitchFamily="34" charset="-120"/>
              </a:rPr>
              <a:t>Leitfrage: Wirklicher als die Wirklichkeit?</a:t>
            </a:r>
            <a:endParaRPr lang="de-DE" sz="2200" dirty="0"/>
          </a:p>
        </p:txBody>
      </p:sp>
      <p:sp>
        <p:nvSpPr>
          <p:cNvPr id="14" name="Text 12"/>
          <p:cNvSpPr txBox="1"/>
          <p:nvPr/>
        </p:nvSpPr>
        <p:spPr>
          <a:xfrm>
            <a:off x="1143000" y="5440680"/>
            <a:ext cx="7315200" cy="292608"/>
          </a:xfrm>
          <a:prstGeom prst="rect">
            <a:avLst/>
          </a:prstGeom>
          <a:noFill/>
          <a:ln/>
        </p:spPr>
        <p:txBody>
          <a:bodyPr wrap="square" lIns="0" tIns="0" rIns="0" bIns="0" rtlCol="0" anchor="ctr"/>
          <a:lstStyle/>
          <a:p>
            <a:pPr indent="0" marL="0">
              <a:buNone/>
            </a:pPr>
            <a:r>
              <a:rPr lang="de-DE" altLang="en-US" sz="1400" dirty="0">
                <a:solidFill>
                  <a:srgbClr val="A8A8A3"/>
                </a:solidFill>
                <a:latin typeface="Arial" pitchFamily="34" charset="0"/>
                <a:ea typeface="Arial" pitchFamily="34" charset="-122"/>
                <a:cs typeface="Arial" pitchFamily="34" charset="-120"/>
              </a:rPr>
              <a:t>[Vorname Nachname] · [Kurs] · [Datum]</a:t>
            </a:r>
            <a:endParaRPr lang="de-DE"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ÜBERBLICK</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Gliederung</a:t>
            </a:r>
            <a:endParaRPr lang="de-DE" sz="3200" dirty="0"/>
          </a:p>
        </p:txBody>
      </p:sp>
      <p:sp>
        <p:nvSpPr>
          <p:cNvPr id="4" name="Shape 2"/>
          <p:cNvSpPr/>
          <p:nvPr/>
        </p:nvSpPr>
        <p:spPr>
          <a:xfrm>
            <a:off x="548640" y="1737360"/>
            <a:ext cx="3515258" cy="2011680"/>
          </a:xfrm>
          <a:prstGeom prst="rect">
            <a:avLst/>
          </a:prstGeom>
          <a:solidFill>
            <a:srgbClr val="2E2E2E"/>
          </a:solidFill>
          <a:ln w="9525">
            <a:solidFill>
              <a:srgbClr val="484848"/>
            </a:solidFill>
            <a:prstDash val="solid"/>
          </a:ln>
        </p:spPr>
      </p:sp>
      <p:sp>
        <p:nvSpPr>
          <p:cNvPr id="5" name="Text 3"/>
          <p:cNvSpPr txBox="1"/>
          <p:nvPr/>
        </p:nvSpPr>
        <p:spPr>
          <a:xfrm>
            <a:off x="822960" y="1965960"/>
            <a:ext cx="1280160" cy="640080"/>
          </a:xfrm>
          <a:prstGeom prst="rect">
            <a:avLst/>
          </a:prstGeom>
          <a:noFill/>
          <a:ln/>
        </p:spPr>
        <p:txBody>
          <a:bodyPr wrap="square" lIns="0" tIns="0" rIns="0" bIns="0" rtlCol="0" anchor="ctr"/>
          <a:lstStyle/>
          <a:p>
            <a:pPr indent="0" marL="0">
              <a:buNone/>
            </a:pPr>
            <a:r>
              <a:rPr lang="de-DE" altLang="en-US" sz="3600" b="1" dirty="0">
                <a:solidFill>
                  <a:srgbClr val="F5B21B"/>
                </a:solidFill>
                <a:latin typeface="Arial" pitchFamily="34" charset="0"/>
                <a:ea typeface="Arial" pitchFamily="34" charset="-122"/>
                <a:cs typeface="Arial" pitchFamily="34" charset="-120"/>
              </a:rPr>
              <a:t>01</a:t>
            </a:r>
            <a:endParaRPr lang="de-DE" sz="3600" dirty="0"/>
          </a:p>
        </p:txBody>
      </p:sp>
      <p:sp>
        <p:nvSpPr>
          <p:cNvPr id="6" name="Text 4"/>
          <p:cNvSpPr txBox="1"/>
          <p:nvPr/>
        </p:nvSpPr>
        <p:spPr>
          <a:xfrm>
            <a:off x="822960" y="2697480"/>
            <a:ext cx="2966618" cy="914400"/>
          </a:xfrm>
          <a:prstGeom prst="rect">
            <a:avLst/>
          </a:prstGeom>
          <a:noFill/>
          <a:ln/>
        </p:spPr>
        <p:txBody>
          <a:bodyPr wrap="square" lIns="0" tIns="0" rIns="0" bIns="0" rtlCol="0" anchor="t"/>
          <a:lstStyle/>
          <a:p>
            <a:pPr indent="0" marL="0">
              <a:spcAft>
                <a:spcPts val="300"/>
              </a:spcAft>
              <a:buNone/>
            </a:pPr>
            <a:r>
              <a:rPr lang="de-DE" altLang="en-US" sz="2000" b="1" dirty="0">
                <a:solidFill>
                  <a:srgbClr val="F5F5F2"/>
                </a:solidFill>
                <a:latin typeface="Arial" pitchFamily="34" charset="0"/>
                <a:ea typeface="Arial" pitchFamily="34" charset="-122"/>
                <a:cs typeface="Arial" pitchFamily="34" charset="-120"/>
              </a:rPr>
              <a:t>Zeitliche Einordnung</a:t>
            </a:r>
            <a:endParaRPr lang="de-DE" sz="20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Entstehung, Entwicklung, Abgrenzung</a:t>
            </a:r>
            <a:endParaRPr lang="de-DE" sz="2000" dirty="0"/>
          </a:p>
        </p:txBody>
      </p:sp>
      <p:sp>
        <p:nvSpPr>
          <p:cNvPr id="7" name="Shape 5"/>
          <p:cNvSpPr/>
          <p:nvPr/>
        </p:nvSpPr>
        <p:spPr>
          <a:xfrm>
            <a:off x="4338218" y="1737360"/>
            <a:ext cx="3515258" cy="2011680"/>
          </a:xfrm>
          <a:prstGeom prst="rect">
            <a:avLst/>
          </a:prstGeom>
          <a:solidFill>
            <a:srgbClr val="2E2E2E"/>
          </a:solidFill>
          <a:ln w="9525">
            <a:solidFill>
              <a:srgbClr val="484848"/>
            </a:solidFill>
            <a:prstDash val="solid"/>
          </a:ln>
        </p:spPr>
      </p:sp>
      <p:sp>
        <p:nvSpPr>
          <p:cNvPr id="8" name="Text 6"/>
          <p:cNvSpPr txBox="1"/>
          <p:nvPr/>
        </p:nvSpPr>
        <p:spPr>
          <a:xfrm>
            <a:off x="4612538" y="1965960"/>
            <a:ext cx="1280160" cy="640080"/>
          </a:xfrm>
          <a:prstGeom prst="rect">
            <a:avLst/>
          </a:prstGeom>
          <a:noFill/>
          <a:ln/>
        </p:spPr>
        <p:txBody>
          <a:bodyPr wrap="square" lIns="0" tIns="0" rIns="0" bIns="0" rtlCol="0" anchor="ctr"/>
          <a:lstStyle/>
          <a:p>
            <a:pPr indent="0" marL="0">
              <a:buNone/>
            </a:pPr>
            <a:r>
              <a:rPr lang="de-DE" altLang="en-US" sz="3600" b="1" dirty="0">
                <a:solidFill>
                  <a:srgbClr val="F5B21B"/>
                </a:solidFill>
                <a:latin typeface="Arial" pitchFamily="34" charset="0"/>
                <a:ea typeface="Arial" pitchFamily="34" charset="-122"/>
                <a:cs typeface="Arial" pitchFamily="34" charset="-120"/>
              </a:rPr>
              <a:t>02</a:t>
            </a:r>
            <a:endParaRPr lang="de-DE" sz="3600" dirty="0"/>
          </a:p>
        </p:txBody>
      </p:sp>
      <p:sp>
        <p:nvSpPr>
          <p:cNvPr id="9" name="Text 7"/>
          <p:cNvSpPr txBox="1"/>
          <p:nvPr/>
        </p:nvSpPr>
        <p:spPr>
          <a:xfrm>
            <a:off x="4612538" y="2697480"/>
            <a:ext cx="2966618" cy="914400"/>
          </a:xfrm>
          <a:prstGeom prst="rect">
            <a:avLst/>
          </a:prstGeom>
          <a:noFill/>
          <a:ln/>
        </p:spPr>
        <p:txBody>
          <a:bodyPr wrap="square" lIns="0" tIns="0" rIns="0" bIns="0" rtlCol="0" anchor="t"/>
          <a:lstStyle/>
          <a:p>
            <a:pPr indent="0" marL="0">
              <a:spcAft>
                <a:spcPts val="300"/>
              </a:spcAft>
              <a:buNone/>
            </a:pPr>
            <a:r>
              <a:rPr lang="de-DE" altLang="en-US" sz="2000" b="1" dirty="0">
                <a:solidFill>
                  <a:srgbClr val="F5F5F2"/>
                </a:solidFill>
                <a:latin typeface="Arial" pitchFamily="34" charset="0"/>
                <a:ea typeface="Arial" pitchFamily="34" charset="-122"/>
                <a:cs typeface="Arial" pitchFamily="34" charset="-120"/>
              </a:rPr>
              <a:t>Merkmale</a:t>
            </a:r>
            <a:endParaRPr lang="de-DE" sz="20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Technik und Nachweis am Bild</a:t>
            </a:r>
            <a:endParaRPr lang="de-DE" sz="2000" dirty="0"/>
          </a:p>
        </p:txBody>
      </p:sp>
      <p:sp>
        <p:nvSpPr>
          <p:cNvPr id="10" name="Shape 8"/>
          <p:cNvSpPr/>
          <p:nvPr/>
        </p:nvSpPr>
        <p:spPr>
          <a:xfrm>
            <a:off x="8127797" y="1737360"/>
            <a:ext cx="3515258" cy="2011680"/>
          </a:xfrm>
          <a:prstGeom prst="rect">
            <a:avLst/>
          </a:prstGeom>
          <a:solidFill>
            <a:srgbClr val="2E2E2E"/>
          </a:solidFill>
          <a:ln w="9525">
            <a:solidFill>
              <a:srgbClr val="484848"/>
            </a:solidFill>
            <a:prstDash val="solid"/>
          </a:ln>
        </p:spPr>
      </p:sp>
      <p:sp>
        <p:nvSpPr>
          <p:cNvPr id="11" name="Text 9"/>
          <p:cNvSpPr txBox="1"/>
          <p:nvPr/>
        </p:nvSpPr>
        <p:spPr>
          <a:xfrm>
            <a:off x="8402117" y="1965960"/>
            <a:ext cx="1280160" cy="640080"/>
          </a:xfrm>
          <a:prstGeom prst="rect">
            <a:avLst/>
          </a:prstGeom>
          <a:noFill/>
          <a:ln/>
        </p:spPr>
        <p:txBody>
          <a:bodyPr wrap="square" lIns="0" tIns="0" rIns="0" bIns="0" rtlCol="0" anchor="ctr"/>
          <a:lstStyle/>
          <a:p>
            <a:pPr indent="0" marL="0">
              <a:buNone/>
            </a:pPr>
            <a:r>
              <a:rPr lang="de-DE" altLang="en-US" sz="3600" b="1" dirty="0">
                <a:solidFill>
                  <a:srgbClr val="F5B21B"/>
                </a:solidFill>
                <a:latin typeface="Arial" pitchFamily="34" charset="0"/>
                <a:ea typeface="Arial" pitchFamily="34" charset="-122"/>
                <a:cs typeface="Arial" pitchFamily="34" charset="-120"/>
              </a:rPr>
              <a:t>03</a:t>
            </a:r>
            <a:endParaRPr lang="de-DE" sz="3600" dirty="0"/>
          </a:p>
        </p:txBody>
      </p:sp>
      <p:sp>
        <p:nvSpPr>
          <p:cNvPr id="12" name="Text 10"/>
          <p:cNvSpPr txBox="1"/>
          <p:nvPr/>
        </p:nvSpPr>
        <p:spPr>
          <a:xfrm>
            <a:off x="8402117" y="2697480"/>
            <a:ext cx="2966618" cy="914400"/>
          </a:xfrm>
          <a:prstGeom prst="rect">
            <a:avLst/>
          </a:prstGeom>
          <a:noFill/>
          <a:ln/>
        </p:spPr>
        <p:txBody>
          <a:bodyPr wrap="square" lIns="0" tIns="0" rIns="0" bIns="0" rtlCol="0" anchor="t"/>
          <a:lstStyle/>
          <a:p>
            <a:pPr indent="0" marL="0">
              <a:spcAft>
                <a:spcPts val="300"/>
              </a:spcAft>
              <a:buNone/>
            </a:pPr>
            <a:r>
              <a:rPr lang="de-DE" altLang="en-US" sz="2000" b="1" dirty="0">
                <a:solidFill>
                  <a:srgbClr val="F5F5F2"/>
                </a:solidFill>
                <a:latin typeface="Arial" pitchFamily="34" charset="0"/>
                <a:ea typeface="Arial" pitchFamily="34" charset="-122"/>
                <a:cs typeface="Arial" pitchFamily="34" charset="-120"/>
              </a:rPr>
              <a:t>Motive</a:t>
            </a:r>
            <a:endParaRPr lang="de-DE" sz="20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Was wird dargestellt?</a:t>
            </a:r>
            <a:endParaRPr lang="de-DE" sz="2000" dirty="0"/>
          </a:p>
        </p:txBody>
      </p:sp>
      <p:sp>
        <p:nvSpPr>
          <p:cNvPr id="13" name="Shape 11"/>
          <p:cNvSpPr/>
          <p:nvPr/>
        </p:nvSpPr>
        <p:spPr>
          <a:xfrm>
            <a:off x="548640" y="4023360"/>
            <a:ext cx="3515258" cy="2011680"/>
          </a:xfrm>
          <a:prstGeom prst="rect">
            <a:avLst/>
          </a:prstGeom>
          <a:solidFill>
            <a:srgbClr val="2E2E2E"/>
          </a:solidFill>
          <a:ln w="9525">
            <a:solidFill>
              <a:srgbClr val="484848"/>
            </a:solidFill>
            <a:prstDash val="solid"/>
          </a:ln>
        </p:spPr>
      </p:sp>
      <p:sp>
        <p:nvSpPr>
          <p:cNvPr id="14" name="Text 12"/>
          <p:cNvSpPr txBox="1"/>
          <p:nvPr/>
        </p:nvSpPr>
        <p:spPr>
          <a:xfrm>
            <a:off x="822960" y="4251960"/>
            <a:ext cx="1280160" cy="640080"/>
          </a:xfrm>
          <a:prstGeom prst="rect">
            <a:avLst/>
          </a:prstGeom>
          <a:noFill/>
          <a:ln/>
        </p:spPr>
        <p:txBody>
          <a:bodyPr wrap="square" lIns="0" tIns="0" rIns="0" bIns="0" rtlCol="0" anchor="ctr"/>
          <a:lstStyle/>
          <a:p>
            <a:pPr indent="0" marL="0">
              <a:buNone/>
            </a:pPr>
            <a:r>
              <a:rPr lang="de-DE" altLang="en-US" sz="3600" b="1" dirty="0">
                <a:solidFill>
                  <a:srgbClr val="F5B21B"/>
                </a:solidFill>
                <a:latin typeface="Arial" pitchFamily="34" charset="0"/>
                <a:ea typeface="Arial" pitchFamily="34" charset="-122"/>
                <a:cs typeface="Arial" pitchFamily="34" charset="-120"/>
              </a:rPr>
              <a:t>04</a:t>
            </a:r>
            <a:endParaRPr lang="de-DE" sz="3600" dirty="0"/>
          </a:p>
        </p:txBody>
      </p:sp>
      <p:sp>
        <p:nvSpPr>
          <p:cNvPr id="15" name="Text 13"/>
          <p:cNvSpPr txBox="1"/>
          <p:nvPr/>
        </p:nvSpPr>
        <p:spPr>
          <a:xfrm>
            <a:off x="822960" y="4983480"/>
            <a:ext cx="2966618" cy="914400"/>
          </a:xfrm>
          <a:prstGeom prst="rect">
            <a:avLst/>
          </a:prstGeom>
          <a:noFill/>
          <a:ln/>
        </p:spPr>
        <p:txBody>
          <a:bodyPr wrap="square" lIns="0" tIns="0" rIns="0" bIns="0" rtlCol="0" anchor="t"/>
          <a:lstStyle/>
          <a:p>
            <a:pPr indent="0" marL="0">
              <a:spcAft>
                <a:spcPts val="300"/>
              </a:spcAft>
              <a:buNone/>
            </a:pPr>
            <a:r>
              <a:rPr lang="de-DE" altLang="en-US" sz="2000" b="1" dirty="0">
                <a:solidFill>
                  <a:srgbClr val="F5F5F2"/>
                </a:solidFill>
                <a:latin typeface="Arial" pitchFamily="34" charset="0"/>
                <a:ea typeface="Arial" pitchFamily="34" charset="-122"/>
                <a:cs typeface="Arial" pitchFamily="34" charset="-120"/>
              </a:rPr>
              <a:t>Hauptvertreter</a:t>
            </a:r>
            <a:endParaRPr lang="de-DE" sz="20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Foto- und Hyperrealismus</a:t>
            </a:r>
            <a:endParaRPr lang="de-DE" sz="2000" dirty="0"/>
          </a:p>
        </p:txBody>
      </p:sp>
      <p:sp>
        <p:nvSpPr>
          <p:cNvPr id="16" name="Shape 14"/>
          <p:cNvSpPr/>
          <p:nvPr/>
        </p:nvSpPr>
        <p:spPr>
          <a:xfrm>
            <a:off x="4338218" y="4023360"/>
            <a:ext cx="3515258" cy="2011680"/>
          </a:xfrm>
          <a:prstGeom prst="rect">
            <a:avLst/>
          </a:prstGeom>
          <a:solidFill>
            <a:srgbClr val="2E2E2E"/>
          </a:solidFill>
          <a:ln w="9525">
            <a:solidFill>
              <a:srgbClr val="484848"/>
            </a:solidFill>
            <a:prstDash val="solid"/>
          </a:ln>
        </p:spPr>
      </p:sp>
      <p:sp>
        <p:nvSpPr>
          <p:cNvPr id="17" name="Text 15"/>
          <p:cNvSpPr txBox="1"/>
          <p:nvPr/>
        </p:nvSpPr>
        <p:spPr>
          <a:xfrm>
            <a:off x="4612538" y="4251960"/>
            <a:ext cx="1280160" cy="640080"/>
          </a:xfrm>
          <a:prstGeom prst="rect">
            <a:avLst/>
          </a:prstGeom>
          <a:noFill/>
          <a:ln/>
        </p:spPr>
        <p:txBody>
          <a:bodyPr wrap="square" lIns="0" tIns="0" rIns="0" bIns="0" rtlCol="0" anchor="ctr"/>
          <a:lstStyle/>
          <a:p>
            <a:pPr indent="0" marL="0">
              <a:buNone/>
            </a:pPr>
            <a:r>
              <a:rPr lang="de-DE" altLang="en-US" sz="3600" b="1" dirty="0">
                <a:solidFill>
                  <a:srgbClr val="F5B21B"/>
                </a:solidFill>
                <a:latin typeface="Arial" pitchFamily="34" charset="0"/>
                <a:ea typeface="Arial" pitchFamily="34" charset="-122"/>
                <a:cs typeface="Arial" pitchFamily="34" charset="-120"/>
              </a:rPr>
              <a:t>05</a:t>
            </a:r>
            <a:endParaRPr lang="de-DE" sz="3600" dirty="0"/>
          </a:p>
        </p:txBody>
      </p:sp>
      <p:sp>
        <p:nvSpPr>
          <p:cNvPr id="18" name="Text 16"/>
          <p:cNvSpPr txBox="1"/>
          <p:nvPr/>
        </p:nvSpPr>
        <p:spPr>
          <a:xfrm>
            <a:off x="4612538" y="4983480"/>
            <a:ext cx="2966618" cy="914400"/>
          </a:xfrm>
          <a:prstGeom prst="rect">
            <a:avLst/>
          </a:prstGeom>
          <a:noFill/>
          <a:ln/>
        </p:spPr>
        <p:txBody>
          <a:bodyPr wrap="square" lIns="0" tIns="0" rIns="0" bIns="0" rtlCol="0" anchor="t"/>
          <a:lstStyle/>
          <a:p>
            <a:pPr indent="0" marL="0">
              <a:spcAft>
                <a:spcPts val="300"/>
              </a:spcAft>
              <a:buNone/>
            </a:pPr>
            <a:r>
              <a:rPr lang="de-DE" altLang="en-US" sz="2000" b="1" dirty="0">
                <a:solidFill>
                  <a:srgbClr val="F5F5F2"/>
                </a:solidFill>
                <a:latin typeface="Arial" pitchFamily="34" charset="0"/>
                <a:ea typeface="Arial" pitchFamily="34" charset="-122"/>
                <a:cs typeface="Arial" pitchFamily="34" charset="-120"/>
              </a:rPr>
              <a:t>Werkbeispiele</a:t>
            </a:r>
            <a:endParaRPr lang="de-DE" sz="20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Von 1966 bis heute</a:t>
            </a:r>
            <a:endParaRPr lang="de-DE" sz="2000" dirty="0"/>
          </a:p>
        </p:txBody>
      </p:sp>
      <p:sp>
        <p:nvSpPr>
          <p:cNvPr id="19" name="Shape 17"/>
          <p:cNvSpPr/>
          <p:nvPr/>
        </p:nvSpPr>
        <p:spPr>
          <a:xfrm>
            <a:off x="8127797" y="4023360"/>
            <a:ext cx="3515258" cy="2011680"/>
          </a:xfrm>
          <a:prstGeom prst="rect">
            <a:avLst/>
          </a:prstGeom>
          <a:solidFill>
            <a:srgbClr val="2E2E2E"/>
          </a:solidFill>
          <a:ln w="9525">
            <a:solidFill>
              <a:srgbClr val="484848"/>
            </a:solidFill>
            <a:prstDash val="solid"/>
          </a:ln>
        </p:spPr>
      </p:sp>
      <p:sp>
        <p:nvSpPr>
          <p:cNvPr id="20" name="Text 18"/>
          <p:cNvSpPr txBox="1"/>
          <p:nvPr/>
        </p:nvSpPr>
        <p:spPr>
          <a:xfrm>
            <a:off x="8402117" y="4251960"/>
            <a:ext cx="1280160" cy="640080"/>
          </a:xfrm>
          <a:prstGeom prst="rect">
            <a:avLst/>
          </a:prstGeom>
          <a:noFill/>
          <a:ln/>
        </p:spPr>
        <p:txBody>
          <a:bodyPr wrap="square" lIns="0" tIns="0" rIns="0" bIns="0" rtlCol="0" anchor="ctr"/>
          <a:lstStyle/>
          <a:p>
            <a:pPr indent="0" marL="0">
              <a:buNone/>
            </a:pPr>
            <a:r>
              <a:rPr lang="de-DE" altLang="en-US" sz="3600" b="1" dirty="0">
                <a:solidFill>
                  <a:srgbClr val="F5B21B"/>
                </a:solidFill>
                <a:latin typeface="Arial" pitchFamily="34" charset="0"/>
                <a:ea typeface="Arial" pitchFamily="34" charset="-122"/>
                <a:cs typeface="Arial" pitchFamily="34" charset="-120"/>
              </a:rPr>
              <a:t>06</a:t>
            </a:r>
            <a:endParaRPr lang="de-DE" sz="3600" dirty="0"/>
          </a:p>
        </p:txBody>
      </p:sp>
      <p:sp>
        <p:nvSpPr>
          <p:cNvPr id="21" name="Text 19"/>
          <p:cNvSpPr txBox="1"/>
          <p:nvPr/>
        </p:nvSpPr>
        <p:spPr>
          <a:xfrm>
            <a:off x="8402117" y="4983480"/>
            <a:ext cx="2966618" cy="914400"/>
          </a:xfrm>
          <a:prstGeom prst="rect">
            <a:avLst/>
          </a:prstGeom>
          <a:noFill/>
          <a:ln/>
        </p:spPr>
        <p:txBody>
          <a:bodyPr wrap="square" lIns="0" tIns="0" rIns="0" bIns="0" rtlCol="0" anchor="t"/>
          <a:lstStyle/>
          <a:p>
            <a:pPr indent="0" marL="0">
              <a:spcAft>
                <a:spcPts val="300"/>
              </a:spcAft>
              <a:buNone/>
            </a:pPr>
            <a:r>
              <a:rPr lang="de-DE" altLang="en-US" sz="2000" b="1" dirty="0">
                <a:solidFill>
                  <a:srgbClr val="F5F5F2"/>
                </a:solidFill>
                <a:latin typeface="Arial" pitchFamily="34" charset="0"/>
                <a:ea typeface="Arial" pitchFamily="34" charset="-122"/>
                <a:cs typeface="Arial" pitchFamily="34" charset="-120"/>
              </a:rPr>
              <a:t>Fazit</a:t>
            </a:r>
            <a:endParaRPr lang="de-DE" sz="20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Antwort auf die Leitfrage</a:t>
            </a:r>
            <a:endParaRPr lang="de-DE" sz="2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01 · ZEITLICHE EINORDNUNG</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Entstanden Ende der 1960er-Jahre in den USA</a:t>
            </a:r>
            <a:endParaRPr lang="de-DE" sz="3200" dirty="0"/>
          </a:p>
        </p:txBody>
      </p:sp>
      <p:sp>
        <p:nvSpPr>
          <p:cNvPr id="4" name="Shape 2"/>
          <p:cNvSpPr/>
          <p:nvPr/>
        </p:nvSpPr>
        <p:spPr>
          <a:xfrm>
            <a:off x="548640" y="3794760"/>
            <a:ext cx="11094415" cy="0"/>
          </a:xfrm>
          <a:prstGeom prst="line">
            <a:avLst/>
          </a:prstGeom>
          <a:noFill/>
          <a:ln w="31750">
            <a:solidFill>
              <a:srgbClr val="7A7A75"/>
            </a:solidFill>
            <a:prstDash val="solid"/>
            <a:tailEnd type="triangle"/>
          </a:ln>
        </p:spPr>
      </p:sp>
      <p:sp>
        <p:nvSpPr>
          <p:cNvPr id="5" name="Shape 3"/>
          <p:cNvSpPr/>
          <p:nvPr/>
        </p:nvSpPr>
        <p:spPr>
          <a:xfrm>
            <a:off x="667512" y="3685032"/>
            <a:ext cx="219456" cy="219456"/>
          </a:xfrm>
          <a:prstGeom prst="ellipse">
            <a:avLst/>
          </a:prstGeom>
          <a:solidFill>
            <a:srgbClr val="A8A8A3"/>
          </a:solidFill>
          <a:ln w="25400">
            <a:solidFill>
              <a:srgbClr val="141414"/>
            </a:solidFill>
            <a:prstDash val="solid"/>
          </a:ln>
        </p:spPr>
      </p:sp>
      <p:sp>
        <p:nvSpPr>
          <p:cNvPr id="6" name="Shape 4"/>
          <p:cNvSpPr/>
          <p:nvPr/>
        </p:nvSpPr>
        <p:spPr>
          <a:xfrm>
            <a:off x="777240" y="3337560"/>
            <a:ext cx="0" cy="320040"/>
          </a:xfrm>
          <a:prstGeom prst="line">
            <a:avLst/>
          </a:prstGeom>
          <a:noFill/>
          <a:ln w="12700">
            <a:solidFill>
              <a:srgbClr val="A8A8A3"/>
            </a:solidFill>
            <a:prstDash val="solid"/>
          </a:ln>
        </p:spPr>
      </p:sp>
      <p:sp>
        <p:nvSpPr>
          <p:cNvPr id="7" name="Text 5"/>
          <p:cNvSpPr txBox="1"/>
          <p:nvPr/>
        </p:nvSpPr>
        <p:spPr>
          <a:xfrm>
            <a:off x="777240" y="1783080"/>
            <a:ext cx="2468880" cy="1508760"/>
          </a:xfrm>
          <a:prstGeom prst="rect">
            <a:avLst/>
          </a:prstGeom>
          <a:noFill/>
          <a:ln/>
        </p:spPr>
        <p:txBody>
          <a:bodyPr wrap="square" lIns="0" tIns="0" rIns="0" bIns="0" rtlCol="0" anchor="b"/>
          <a:lstStyle/>
          <a:p>
            <a:pPr indent="0" marL="0">
              <a:spcAft>
                <a:spcPts val="200"/>
              </a:spcAft>
              <a:buNone/>
            </a:pPr>
            <a:r>
              <a:rPr lang="de-DE" altLang="en-US" sz="2200" b="1" dirty="0">
                <a:solidFill>
                  <a:srgbClr val="A8A8A3"/>
                </a:solidFill>
                <a:latin typeface="Arial" pitchFamily="34" charset="0"/>
                <a:ea typeface="Arial" pitchFamily="34" charset="-122"/>
                <a:cs typeface="Arial" pitchFamily="34" charset="-120"/>
              </a:rPr>
              <a:t>1960er</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Pop Art holt Werbung und Konsum in die Kunst – Gegenpol zur abstrakten Malerei.</a:t>
            </a:r>
            <a:endParaRPr lang="de-DE" sz="2200" dirty="0"/>
          </a:p>
        </p:txBody>
      </p:sp>
      <p:sp>
        <p:nvSpPr>
          <p:cNvPr id="8" name="Shape 6"/>
          <p:cNvSpPr/>
          <p:nvPr/>
        </p:nvSpPr>
        <p:spPr>
          <a:xfrm>
            <a:off x="2067001" y="3685032"/>
            <a:ext cx="219456" cy="219456"/>
          </a:xfrm>
          <a:prstGeom prst="ellipse">
            <a:avLst/>
          </a:prstGeom>
          <a:solidFill>
            <a:srgbClr val="F5B21B"/>
          </a:solidFill>
          <a:ln w="25400">
            <a:solidFill>
              <a:srgbClr val="141414"/>
            </a:solidFill>
            <a:prstDash val="solid"/>
          </a:ln>
        </p:spPr>
      </p:sp>
      <p:sp>
        <p:nvSpPr>
          <p:cNvPr id="9" name="Shape 7"/>
          <p:cNvSpPr/>
          <p:nvPr/>
        </p:nvSpPr>
        <p:spPr>
          <a:xfrm>
            <a:off x="2176729" y="3931920"/>
            <a:ext cx="0" cy="320040"/>
          </a:xfrm>
          <a:prstGeom prst="line">
            <a:avLst/>
          </a:prstGeom>
          <a:noFill/>
          <a:ln w="12700">
            <a:solidFill>
              <a:srgbClr val="F5B21B"/>
            </a:solidFill>
            <a:prstDash val="solid"/>
          </a:ln>
        </p:spPr>
      </p:sp>
      <p:sp>
        <p:nvSpPr>
          <p:cNvPr id="10" name="Text 8"/>
          <p:cNvSpPr txBox="1"/>
          <p:nvPr/>
        </p:nvSpPr>
        <p:spPr>
          <a:xfrm>
            <a:off x="2176729" y="4343400"/>
            <a:ext cx="2468880" cy="1508760"/>
          </a:xfrm>
          <a:prstGeom prst="rect">
            <a:avLst/>
          </a:prstGeom>
          <a:noFill/>
          <a:ln/>
        </p:spPr>
        <p:txBody>
          <a:bodyPr wrap="square" lIns="0" tIns="0" rIns="0" bIns="0" rtlCol="0" anchor="t"/>
          <a:lstStyle/>
          <a:p>
            <a:pPr indent="0" marL="0">
              <a:spcAft>
                <a:spcPts val="200"/>
              </a:spcAft>
              <a:buNone/>
            </a:pPr>
            <a:r>
              <a:rPr lang="de-DE" altLang="en-US" sz="2200" b="1" dirty="0">
                <a:solidFill>
                  <a:srgbClr val="F5B21B"/>
                </a:solidFill>
                <a:latin typeface="Arial" pitchFamily="34" charset="0"/>
                <a:ea typeface="Arial" pitchFamily="34" charset="-122"/>
                <a:cs typeface="Arial" pitchFamily="34" charset="-120"/>
              </a:rPr>
              <a:t>1966</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Malcolm Morley malt ein Schiff nach einem Werbebild – ein frühes Schlüsselwerk.</a:t>
            </a:r>
            <a:endParaRPr lang="de-DE" sz="2200" dirty="0"/>
          </a:p>
        </p:txBody>
      </p:sp>
      <p:sp>
        <p:nvSpPr>
          <p:cNvPr id="11" name="Shape 9"/>
          <p:cNvSpPr/>
          <p:nvPr/>
        </p:nvSpPr>
        <p:spPr>
          <a:xfrm>
            <a:off x="3466490" y="3685032"/>
            <a:ext cx="219456" cy="219456"/>
          </a:xfrm>
          <a:prstGeom prst="ellipse">
            <a:avLst/>
          </a:prstGeom>
          <a:solidFill>
            <a:srgbClr val="F5B21B"/>
          </a:solidFill>
          <a:ln w="25400">
            <a:solidFill>
              <a:srgbClr val="141414"/>
            </a:solidFill>
            <a:prstDash val="solid"/>
          </a:ln>
        </p:spPr>
      </p:sp>
      <p:sp>
        <p:nvSpPr>
          <p:cNvPr id="12" name="Shape 10"/>
          <p:cNvSpPr/>
          <p:nvPr/>
        </p:nvSpPr>
        <p:spPr>
          <a:xfrm>
            <a:off x="3576218" y="3337560"/>
            <a:ext cx="0" cy="320040"/>
          </a:xfrm>
          <a:prstGeom prst="line">
            <a:avLst/>
          </a:prstGeom>
          <a:noFill/>
          <a:ln w="12700">
            <a:solidFill>
              <a:srgbClr val="F5B21B"/>
            </a:solidFill>
            <a:prstDash val="solid"/>
          </a:ln>
        </p:spPr>
      </p:sp>
      <p:sp>
        <p:nvSpPr>
          <p:cNvPr id="13" name="Text 11"/>
          <p:cNvSpPr txBox="1"/>
          <p:nvPr/>
        </p:nvSpPr>
        <p:spPr>
          <a:xfrm>
            <a:off x="3576218" y="1783080"/>
            <a:ext cx="2468880" cy="1508760"/>
          </a:xfrm>
          <a:prstGeom prst="rect">
            <a:avLst/>
          </a:prstGeom>
          <a:noFill/>
          <a:ln/>
        </p:spPr>
        <p:txBody>
          <a:bodyPr wrap="square" lIns="0" tIns="0" rIns="0" bIns="0" rtlCol="0" anchor="b"/>
          <a:lstStyle/>
          <a:p>
            <a:pPr indent="0" marL="0">
              <a:spcAft>
                <a:spcPts val="200"/>
              </a:spcAft>
              <a:buNone/>
            </a:pPr>
            <a:r>
              <a:rPr lang="de-DE" altLang="en-US" sz="2200" b="1" dirty="0">
                <a:solidFill>
                  <a:srgbClr val="F5B21B"/>
                </a:solidFill>
                <a:latin typeface="Arial" pitchFamily="34" charset="0"/>
                <a:ea typeface="Arial" pitchFamily="34" charset="-122"/>
                <a:cs typeface="Arial" pitchFamily="34" charset="-120"/>
              </a:rPr>
              <a:t>1969</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Der Galerist Louis K. Meisel prägt den Begriff „Photo-Realism“.</a:t>
            </a:r>
            <a:endParaRPr lang="de-DE" sz="2200" dirty="0"/>
          </a:p>
        </p:txBody>
      </p:sp>
      <p:sp>
        <p:nvSpPr>
          <p:cNvPr id="14" name="Shape 12"/>
          <p:cNvSpPr/>
          <p:nvPr/>
        </p:nvSpPr>
        <p:spPr>
          <a:xfrm>
            <a:off x="4865980" y="3685032"/>
            <a:ext cx="219456" cy="219456"/>
          </a:xfrm>
          <a:prstGeom prst="ellipse">
            <a:avLst/>
          </a:prstGeom>
          <a:solidFill>
            <a:srgbClr val="F5B21B"/>
          </a:solidFill>
          <a:ln w="25400">
            <a:solidFill>
              <a:srgbClr val="141414"/>
            </a:solidFill>
            <a:prstDash val="solid"/>
          </a:ln>
        </p:spPr>
      </p:sp>
      <p:sp>
        <p:nvSpPr>
          <p:cNvPr id="15" name="Shape 13"/>
          <p:cNvSpPr/>
          <p:nvPr/>
        </p:nvSpPr>
        <p:spPr>
          <a:xfrm>
            <a:off x="4975708" y="3931920"/>
            <a:ext cx="0" cy="320040"/>
          </a:xfrm>
          <a:prstGeom prst="line">
            <a:avLst/>
          </a:prstGeom>
          <a:noFill/>
          <a:ln w="12700">
            <a:solidFill>
              <a:srgbClr val="F5B21B"/>
            </a:solidFill>
            <a:prstDash val="solid"/>
          </a:ln>
        </p:spPr>
      </p:sp>
      <p:sp>
        <p:nvSpPr>
          <p:cNvPr id="16" name="Text 14"/>
          <p:cNvSpPr txBox="1"/>
          <p:nvPr/>
        </p:nvSpPr>
        <p:spPr>
          <a:xfrm>
            <a:off x="4975708" y="4343400"/>
            <a:ext cx="2468880" cy="1508760"/>
          </a:xfrm>
          <a:prstGeom prst="rect">
            <a:avLst/>
          </a:prstGeom>
          <a:noFill/>
          <a:ln/>
        </p:spPr>
        <p:txBody>
          <a:bodyPr wrap="square" lIns="0" tIns="0" rIns="0" bIns="0" rtlCol="0" anchor="t"/>
          <a:lstStyle/>
          <a:p>
            <a:pPr indent="0" marL="0">
              <a:spcAft>
                <a:spcPts val="200"/>
              </a:spcAft>
              <a:buNone/>
            </a:pPr>
            <a:r>
              <a:rPr lang="de-DE" altLang="en-US" sz="2200" b="1" dirty="0">
                <a:solidFill>
                  <a:srgbClr val="F5B21B"/>
                </a:solidFill>
                <a:latin typeface="Arial" pitchFamily="34" charset="0"/>
                <a:ea typeface="Arial" pitchFamily="34" charset="-122"/>
                <a:cs typeface="Arial" pitchFamily="34" charset="-120"/>
              </a:rPr>
              <a:t>1972</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documenta 5 in Kassel: erster großer Auftritt in Europa.</a:t>
            </a:r>
            <a:endParaRPr lang="de-DE" sz="2200" dirty="0"/>
          </a:p>
        </p:txBody>
      </p:sp>
      <p:sp>
        <p:nvSpPr>
          <p:cNvPr id="17" name="Shape 15"/>
          <p:cNvSpPr/>
          <p:nvPr/>
        </p:nvSpPr>
        <p:spPr>
          <a:xfrm>
            <a:off x="6265469" y="3685032"/>
            <a:ext cx="219456" cy="219456"/>
          </a:xfrm>
          <a:prstGeom prst="ellipse">
            <a:avLst/>
          </a:prstGeom>
          <a:solidFill>
            <a:srgbClr val="8CC4D6"/>
          </a:solidFill>
          <a:ln w="25400">
            <a:solidFill>
              <a:srgbClr val="141414"/>
            </a:solidFill>
            <a:prstDash val="solid"/>
          </a:ln>
        </p:spPr>
      </p:sp>
      <p:sp>
        <p:nvSpPr>
          <p:cNvPr id="18" name="Shape 16"/>
          <p:cNvSpPr/>
          <p:nvPr/>
        </p:nvSpPr>
        <p:spPr>
          <a:xfrm>
            <a:off x="6375197" y="3337560"/>
            <a:ext cx="0" cy="320040"/>
          </a:xfrm>
          <a:prstGeom prst="line">
            <a:avLst/>
          </a:prstGeom>
          <a:noFill/>
          <a:ln w="12700">
            <a:solidFill>
              <a:srgbClr val="8CC4D6"/>
            </a:solidFill>
            <a:prstDash val="solid"/>
          </a:ln>
        </p:spPr>
      </p:sp>
      <p:sp>
        <p:nvSpPr>
          <p:cNvPr id="19" name="Text 17"/>
          <p:cNvSpPr txBox="1"/>
          <p:nvPr/>
        </p:nvSpPr>
        <p:spPr>
          <a:xfrm>
            <a:off x="6375197" y="1783080"/>
            <a:ext cx="2468880" cy="1508760"/>
          </a:xfrm>
          <a:prstGeom prst="rect">
            <a:avLst/>
          </a:prstGeom>
          <a:noFill/>
          <a:ln/>
        </p:spPr>
        <p:txBody>
          <a:bodyPr wrap="square" lIns="0" tIns="0" rIns="0" bIns="0" rtlCol="0" anchor="b"/>
          <a:lstStyle/>
          <a:p>
            <a:pPr indent="0" marL="0">
              <a:spcAft>
                <a:spcPts val="200"/>
              </a:spcAft>
              <a:buNone/>
            </a:pPr>
            <a:r>
              <a:rPr lang="de-DE" altLang="en-US" sz="2200" b="1" dirty="0">
                <a:solidFill>
                  <a:srgbClr val="8CC4D6"/>
                </a:solidFill>
                <a:latin typeface="Arial" pitchFamily="34" charset="0"/>
                <a:ea typeface="Arial" pitchFamily="34" charset="-122"/>
                <a:cs typeface="Arial" pitchFamily="34" charset="-120"/>
              </a:rPr>
              <a:t>1973</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Ausstellung „Hyperréalisme“ in Brüssel macht den Begriff bekannt.</a:t>
            </a:r>
            <a:endParaRPr lang="de-DE" sz="2200" dirty="0"/>
          </a:p>
        </p:txBody>
      </p:sp>
      <p:sp>
        <p:nvSpPr>
          <p:cNvPr id="20" name="Shape 18"/>
          <p:cNvSpPr/>
          <p:nvPr/>
        </p:nvSpPr>
        <p:spPr>
          <a:xfrm>
            <a:off x="7664958" y="3685032"/>
            <a:ext cx="219456" cy="219456"/>
          </a:xfrm>
          <a:prstGeom prst="ellipse">
            <a:avLst/>
          </a:prstGeom>
          <a:solidFill>
            <a:srgbClr val="F5B21B"/>
          </a:solidFill>
          <a:ln w="25400">
            <a:solidFill>
              <a:srgbClr val="141414"/>
            </a:solidFill>
            <a:prstDash val="solid"/>
          </a:ln>
        </p:spPr>
      </p:sp>
      <p:sp>
        <p:nvSpPr>
          <p:cNvPr id="21" name="Shape 19"/>
          <p:cNvSpPr/>
          <p:nvPr/>
        </p:nvSpPr>
        <p:spPr>
          <a:xfrm>
            <a:off x="7774686" y="3931920"/>
            <a:ext cx="0" cy="320040"/>
          </a:xfrm>
          <a:prstGeom prst="line">
            <a:avLst/>
          </a:prstGeom>
          <a:noFill/>
          <a:ln w="12700">
            <a:solidFill>
              <a:srgbClr val="F5B21B"/>
            </a:solidFill>
            <a:prstDash val="solid"/>
          </a:ln>
        </p:spPr>
      </p:sp>
      <p:sp>
        <p:nvSpPr>
          <p:cNvPr id="22" name="Text 20"/>
          <p:cNvSpPr txBox="1"/>
          <p:nvPr/>
        </p:nvSpPr>
        <p:spPr>
          <a:xfrm>
            <a:off x="7774686" y="4343400"/>
            <a:ext cx="2468880" cy="1508760"/>
          </a:xfrm>
          <a:prstGeom prst="rect">
            <a:avLst/>
          </a:prstGeom>
          <a:noFill/>
          <a:ln/>
        </p:spPr>
        <p:txBody>
          <a:bodyPr wrap="square" lIns="0" tIns="0" rIns="0" bIns="0" rtlCol="0" anchor="t"/>
          <a:lstStyle/>
          <a:p>
            <a:pPr indent="0" marL="0">
              <a:spcAft>
                <a:spcPts val="200"/>
              </a:spcAft>
              <a:buNone/>
            </a:pPr>
            <a:r>
              <a:rPr lang="de-DE" altLang="en-US" sz="2200" b="1" dirty="0">
                <a:solidFill>
                  <a:srgbClr val="F5B21B"/>
                </a:solidFill>
                <a:latin typeface="Arial" pitchFamily="34" charset="0"/>
                <a:ea typeface="Arial" pitchFamily="34" charset="-122"/>
                <a:cs typeface="Arial" pitchFamily="34" charset="-120"/>
              </a:rPr>
              <a:t>1980</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Meisels Standardwerk „Photo-Realism“ erscheint.</a:t>
            </a:r>
            <a:endParaRPr lang="de-DE" sz="2200" dirty="0"/>
          </a:p>
        </p:txBody>
      </p:sp>
      <p:sp>
        <p:nvSpPr>
          <p:cNvPr id="23" name="Shape 21"/>
          <p:cNvSpPr/>
          <p:nvPr/>
        </p:nvSpPr>
        <p:spPr>
          <a:xfrm>
            <a:off x="9064447" y="3685032"/>
            <a:ext cx="219456" cy="219456"/>
          </a:xfrm>
          <a:prstGeom prst="ellipse">
            <a:avLst/>
          </a:prstGeom>
          <a:solidFill>
            <a:srgbClr val="8CC4D6"/>
          </a:solidFill>
          <a:ln w="25400">
            <a:solidFill>
              <a:srgbClr val="141414"/>
            </a:solidFill>
            <a:prstDash val="solid"/>
          </a:ln>
        </p:spPr>
      </p:sp>
      <p:sp>
        <p:nvSpPr>
          <p:cNvPr id="24" name="Shape 22"/>
          <p:cNvSpPr/>
          <p:nvPr/>
        </p:nvSpPr>
        <p:spPr>
          <a:xfrm>
            <a:off x="9174175" y="3337560"/>
            <a:ext cx="0" cy="320040"/>
          </a:xfrm>
          <a:prstGeom prst="line">
            <a:avLst/>
          </a:prstGeom>
          <a:noFill/>
          <a:ln w="12700">
            <a:solidFill>
              <a:srgbClr val="8CC4D6"/>
            </a:solidFill>
            <a:prstDash val="solid"/>
          </a:ln>
        </p:spPr>
      </p:sp>
      <p:sp>
        <p:nvSpPr>
          <p:cNvPr id="25" name="Text 23"/>
          <p:cNvSpPr txBox="1"/>
          <p:nvPr/>
        </p:nvSpPr>
        <p:spPr>
          <a:xfrm>
            <a:off x="9174175" y="1783080"/>
            <a:ext cx="2468880" cy="1508760"/>
          </a:xfrm>
          <a:prstGeom prst="rect">
            <a:avLst/>
          </a:prstGeom>
          <a:noFill/>
          <a:ln/>
        </p:spPr>
        <p:txBody>
          <a:bodyPr wrap="square" lIns="0" tIns="0" rIns="0" bIns="0" rtlCol="0" anchor="b"/>
          <a:lstStyle/>
          <a:p>
            <a:pPr indent="0" marL="0">
              <a:spcAft>
                <a:spcPts val="200"/>
              </a:spcAft>
              <a:buNone/>
            </a:pPr>
            <a:r>
              <a:rPr lang="de-DE" altLang="en-US" sz="2200" b="1" dirty="0">
                <a:solidFill>
                  <a:srgbClr val="8CC4D6"/>
                </a:solidFill>
                <a:latin typeface="Arial" pitchFamily="34" charset="0"/>
                <a:ea typeface="Arial" pitchFamily="34" charset="-122"/>
                <a:cs typeface="Arial" pitchFamily="34" charset="-120"/>
              </a:rPr>
              <a:t>ab 2000</a:t>
            </a:r>
            <a:endParaRPr lang="de-DE" sz="2200" dirty="0"/>
          </a:p>
          <a:p>
            <a:pPr indent="0" marL="0">
              <a:spcAft>
                <a:spcPts val="200"/>
              </a:spcAft>
              <a:buNone/>
            </a:pPr>
            <a:r>
              <a:rPr lang="de-DE" altLang="en-US" sz="1400" dirty="0">
                <a:solidFill>
                  <a:srgbClr val="F5F5F2"/>
                </a:solidFill>
                <a:latin typeface="Arial" pitchFamily="34" charset="0"/>
                <a:ea typeface="Arial" pitchFamily="34" charset="-122"/>
                <a:cs typeface="Arial" pitchFamily="34" charset="-120"/>
              </a:rPr>
              <a:t>Neuer Aufschwung: Digitalfotos, Skulpturen aus Silikon.</a:t>
            </a:r>
            <a:endParaRPr lang="de-DE" sz="2200" dirty="0"/>
          </a:p>
        </p:txBody>
      </p:sp>
      <p:sp>
        <p:nvSpPr>
          <p:cNvPr id="26" name="Shape 24"/>
          <p:cNvSpPr/>
          <p:nvPr/>
        </p:nvSpPr>
        <p:spPr>
          <a:xfrm>
            <a:off x="6979615" y="457200"/>
            <a:ext cx="146304" cy="146304"/>
          </a:xfrm>
          <a:prstGeom prst="ellipse">
            <a:avLst/>
          </a:prstGeom>
          <a:solidFill>
            <a:srgbClr val="A8A8A3"/>
          </a:solidFill>
          <a:ln w="12700">
            <a:solidFill>
              <a:srgbClr val="A8A8A3"/>
            </a:solidFill>
            <a:prstDash val="solid"/>
          </a:ln>
        </p:spPr>
      </p:sp>
      <p:sp>
        <p:nvSpPr>
          <p:cNvPr id="27" name="Text 25"/>
          <p:cNvSpPr txBox="1"/>
          <p:nvPr/>
        </p:nvSpPr>
        <p:spPr>
          <a:xfrm>
            <a:off x="7199071" y="384048"/>
            <a:ext cx="1371600" cy="292608"/>
          </a:xfrm>
          <a:prstGeom prst="rect">
            <a:avLst/>
          </a:prstGeom>
          <a:noFill/>
          <a:ln/>
        </p:spPr>
        <p:txBody>
          <a:bodyPr wrap="square" lIns="0" tIns="0" rIns="0" bIns="0" rtlCol="0" anchor="ctr"/>
          <a:lstStyle/>
          <a:p>
            <a:pPr indent="0" marL="0">
              <a:buNone/>
            </a:pPr>
            <a:r>
              <a:rPr lang="de-DE" altLang="en-US" sz="1200" dirty="0">
                <a:solidFill>
                  <a:srgbClr val="A8A8A3"/>
                </a:solidFill>
                <a:latin typeface="Arial" pitchFamily="34" charset="0"/>
                <a:ea typeface="Arial" pitchFamily="34" charset="-122"/>
                <a:cs typeface="Arial" pitchFamily="34" charset="-120"/>
              </a:rPr>
              <a:t>Kontext</a:t>
            </a:r>
            <a:endParaRPr lang="de-DE" sz="1200" dirty="0"/>
          </a:p>
        </p:txBody>
      </p:sp>
      <p:sp>
        <p:nvSpPr>
          <p:cNvPr id="28" name="Shape 26"/>
          <p:cNvSpPr/>
          <p:nvPr/>
        </p:nvSpPr>
        <p:spPr>
          <a:xfrm>
            <a:off x="8579815" y="457200"/>
            <a:ext cx="146304" cy="146304"/>
          </a:xfrm>
          <a:prstGeom prst="ellipse">
            <a:avLst/>
          </a:prstGeom>
          <a:solidFill>
            <a:srgbClr val="F5B21B"/>
          </a:solidFill>
          <a:ln w="12700">
            <a:solidFill>
              <a:srgbClr val="F5B21B"/>
            </a:solidFill>
            <a:prstDash val="solid"/>
          </a:ln>
        </p:spPr>
      </p:sp>
      <p:sp>
        <p:nvSpPr>
          <p:cNvPr id="29" name="Text 27"/>
          <p:cNvSpPr txBox="1"/>
          <p:nvPr/>
        </p:nvSpPr>
        <p:spPr>
          <a:xfrm>
            <a:off x="8799271" y="384048"/>
            <a:ext cx="1371600" cy="292608"/>
          </a:xfrm>
          <a:prstGeom prst="rect">
            <a:avLst/>
          </a:prstGeom>
          <a:noFill/>
          <a:ln/>
        </p:spPr>
        <p:txBody>
          <a:bodyPr wrap="square" lIns="0" tIns="0" rIns="0" bIns="0" rtlCol="0" anchor="ctr"/>
          <a:lstStyle/>
          <a:p>
            <a:pPr indent="0" marL="0">
              <a:buNone/>
            </a:pPr>
            <a:r>
              <a:rPr lang="de-DE" altLang="en-US" sz="1200" dirty="0">
                <a:solidFill>
                  <a:srgbClr val="A8A8A3"/>
                </a:solidFill>
                <a:latin typeface="Arial" pitchFamily="34" charset="0"/>
                <a:ea typeface="Arial" pitchFamily="34" charset="-122"/>
                <a:cs typeface="Arial" pitchFamily="34" charset="-120"/>
              </a:rPr>
              <a:t>Fotorealismus</a:t>
            </a:r>
            <a:endParaRPr lang="de-DE" sz="1200" dirty="0"/>
          </a:p>
        </p:txBody>
      </p:sp>
      <p:sp>
        <p:nvSpPr>
          <p:cNvPr id="30" name="Shape 28"/>
          <p:cNvSpPr/>
          <p:nvPr/>
        </p:nvSpPr>
        <p:spPr>
          <a:xfrm>
            <a:off x="10180015" y="457200"/>
            <a:ext cx="146304" cy="146304"/>
          </a:xfrm>
          <a:prstGeom prst="ellipse">
            <a:avLst/>
          </a:prstGeom>
          <a:solidFill>
            <a:srgbClr val="8CC4D6"/>
          </a:solidFill>
          <a:ln w="12700">
            <a:solidFill>
              <a:srgbClr val="8CC4D6"/>
            </a:solidFill>
            <a:prstDash val="solid"/>
          </a:ln>
        </p:spPr>
      </p:sp>
      <p:sp>
        <p:nvSpPr>
          <p:cNvPr id="31" name="Text 29"/>
          <p:cNvSpPr txBox="1"/>
          <p:nvPr/>
        </p:nvSpPr>
        <p:spPr>
          <a:xfrm>
            <a:off x="10399471" y="384048"/>
            <a:ext cx="1371600" cy="292608"/>
          </a:xfrm>
          <a:prstGeom prst="rect">
            <a:avLst/>
          </a:prstGeom>
          <a:noFill/>
          <a:ln/>
        </p:spPr>
        <p:txBody>
          <a:bodyPr wrap="square" lIns="0" tIns="0" rIns="0" bIns="0" rtlCol="0" anchor="ctr"/>
          <a:lstStyle/>
          <a:p>
            <a:pPr indent="0" marL="0">
              <a:buNone/>
            </a:pPr>
            <a:r>
              <a:rPr lang="de-DE" altLang="en-US" sz="1200" dirty="0">
                <a:solidFill>
                  <a:srgbClr val="A8A8A3"/>
                </a:solidFill>
                <a:latin typeface="Arial" pitchFamily="34" charset="0"/>
                <a:ea typeface="Arial" pitchFamily="34" charset="-122"/>
                <a:cs typeface="Arial" pitchFamily="34" charset="-120"/>
              </a:rPr>
              <a:t>Hyperrealismus</a:t>
            </a:r>
            <a:endParaRPr lang="de-DE" sz="1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01 · ENTWICKLUNG</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Vom Fotorealismus zum Hyperrealismus</a:t>
            </a:r>
            <a:endParaRPr lang="de-DE" sz="3200" dirty="0"/>
          </a:p>
        </p:txBody>
      </p:sp>
      <p:sp>
        <p:nvSpPr>
          <p:cNvPr id="4" name="Text 2"/>
          <p:cNvSpPr txBox="1"/>
          <p:nvPr/>
        </p:nvSpPr>
        <p:spPr>
          <a:xfrm>
            <a:off x="2971800" y="1737360"/>
            <a:ext cx="3992728" cy="914400"/>
          </a:xfrm>
          <a:prstGeom prst="rect">
            <a:avLst/>
          </a:prstGeom>
          <a:noFill/>
          <a:ln/>
        </p:spPr>
        <p:txBody>
          <a:bodyPr wrap="square" lIns="0" tIns="0" rIns="0" bIns="0" rtlCol="0" anchor="t"/>
          <a:lstStyle/>
          <a:p>
            <a:pPr indent="0" marL="0">
              <a:buNone/>
            </a:pPr>
            <a:r>
              <a:rPr lang="de-DE" altLang="en-US" sz="2200" b="1" dirty="0">
                <a:solidFill>
                  <a:srgbClr val="F5B21B"/>
                </a:solidFill>
                <a:latin typeface="Georgia" pitchFamily="34" charset="0"/>
                <a:ea typeface="Georgia" pitchFamily="34" charset="-122"/>
                <a:cs typeface="Georgia" pitchFamily="34" charset="-120"/>
              </a:rPr>
              <a:t>Fotorealismus</a:t>
            </a:r>
            <a:endParaRPr lang="de-DE" sz="2200" dirty="0"/>
          </a:p>
          <a:p>
            <a:pPr indent="0" marL="0">
              <a:buNone/>
            </a:pPr>
            <a:r>
              <a:rPr lang="de-DE" altLang="en-US" sz="1400" dirty="0">
                <a:solidFill>
                  <a:srgbClr val="A8A8A3"/>
                </a:solidFill>
                <a:latin typeface="Arial" pitchFamily="34" charset="0"/>
                <a:ea typeface="Arial" pitchFamily="34" charset="-122"/>
                <a:cs typeface="Arial" pitchFamily="34" charset="-120"/>
              </a:rPr>
              <a:t>Kernphase Ende 1960er bis ca. 1980</a:t>
            </a:r>
            <a:endParaRPr lang="de-DE" sz="2200" dirty="0"/>
          </a:p>
        </p:txBody>
      </p:sp>
      <p:pic>
        <p:nvPicPr>
          <p:cNvPr id="5" name="Image 0" descr="Pfeil: Entwicklung">    </p:cNvPr>
          <p:cNvPicPr>
            <a:picLocks noChangeAspect="1"/>
          </p:cNvPicPr>
          <p:nvPr/>
        </p:nvPicPr>
        <p:blipFill>
          <a:blip r:embed="rId1"/>
          <a:stretch>
            <a:fillRect/>
          </a:stretch>
        </p:blipFill>
        <p:spPr>
          <a:xfrm>
            <a:off x="7467448" y="1755648"/>
            <a:ext cx="365760" cy="365760"/>
          </a:xfrm>
          <a:prstGeom prst="rect">
            <a:avLst/>
          </a:prstGeom>
        </p:spPr>
      </p:pic>
      <p:sp>
        <p:nvSpPr>
          <p:cNvPr id="6" name="Text 3"/>
          <p:cNvSpPr txBox="1"/>
          <p:nvPr/>
        </p:nvSpPr>
        <p:spPr>
          <a:xfrm>
            <a:off x="7970368" y="1737360"/>
            <a:ext cx="3489808" cy="914400"/>
          </a:xfrm>
          <a:prstGeom prst="rect">
            <a:avLst/>
          </a:prstGeom>
          <a:noFill/>
          <a:ln/>
        </p:spPr>
        <p:txBody>
          <a:bodyPr wrap="square" lIns="0" tIns="0" rIns="0" bIns="0" rtlCol="0" anchor="t"/>
          <a:lstStyle/>
          <a:p>
            <a:pPr indent="0" marL="0">
              <a:buNone/>
            </a:pPr>
            <a:r>
              <a:rPr lang="de-DE" altLang="en-US" sz="2200" b="1" dirty="0">
                <a:solidFill>
                  <a:srgbClr val="8CC4D6"/>
                </a:solidFill>
                <a:latin typeface="Georgia" pitchFamily="34" charset="0"/>
                <a:ea typeface="Georgia" pitchFamily="34" charset="-122"/>
                <a:cs typeface="Georgia" pitchFamily="34" charset="-120"/>
              </a:rPr>
              <a:t>Hyperrealismus</a:t>
            </a:r>
            <a:endParaRPr lang="de-DE" sz="2200" dirty="0"/>
          </a:p>
          <a:p>
            <a:pPr indent="0" marL="0">
              <a:buNone/>
            </a:pPr>
            <a:r>
              <a:rPr lang="de-DE" altLang="en-US" sz="1400" dirty="0">
                <a:solidFill>
                  <a:srgbClr val="A8A8A3"/>
                </a:solidFill>
                <a:latin typeface="Arial" pitchFamily="34" charset="0"/>
                <a:ea typeface="Arial" pitchFamily="34" charset="-122"/>
                <a:cs typeface="Arial" pitchFamily="34" charset="-120"/>
              </a:rPr>
              <a:t>Begriff seit 1973 · Skulptur ab ca. 1970 · Aufschwung ab ca. 2000</a:t>
            </a:r>
            <a:endParaRPr lang="de-DE" sz="2200" dirty="0"/>
          </a:p>
        </p:txBody>
      </p:sp>
      <p:sp>
        <p:nvSpPr>
          <p:cNvPr id="7" name="Text 4"/>
          <p:cNvSpPr txBox="1"/>
          <p:nvPr/>
        </p:nvSpPr>
        <p:spPr>
          <a:xfrm>
            <a:off x="548640" y="2788920"/>
            <a:ext cx="2103120" cy="731520"/>
          </a:xfrm>
          <a:prstGeom prst="rect">
            <a:avLst/>
          </a:prstGeom>
          <a:noFill/>
          <a:ln/>
        </p:spPr>
        <p:txBody>
          <a:bodyPr wrap="square" lIns="0" tIns="0" rIns="0" bIns="0" rtlCol="0" anchor="ctr"/>
          <a:lstStyle/>
          <a:p>
            <a:pPr indent="0" marL="0">
              <a:buNone/>
            </a:pPr>
            <a:r>
              <a:rPr lang="de-DE" altLang="en-US" sz="1500" b="1" dirty="0">
                <a:solidFill>
                  <a:srgbClr val="A8A8A3"/>
                </a:solidFill>
                <a:latin typeface="Arial" pitchFamily="34" charset="0"/>
                <a:ea typeface="Arial" pitchFamily="34" charset="-122"/>
                <a:cs typeface="Arial" pitchFamily="34" charset="-120"/>
              </a:rPr>
              <a:t>Haltung</a:t>
            </a:r>
            <a:endParaRPr lang="de-DE" sz="1500" dirty="0"/>
          </a:p>
        </p:txBody>
      </p:sp>
      <p:sp>
        <p:nvSpPr>
          <p:cNvPr id="8" name="Shape 5"/>
          <p:cNvSpPr/>
          <p:nvPr/>
        </p:nvSpPr>
        <p:spPr>
          <a:xfrm>
            <a:off x="2788920" y="2788920"/>
            <a:ext cx="4358488" cy="731520"/>
          </a:xfrm>
          <a:prstGeom prst="rect">
            <a:avLst/>
          </a:prstGeom>
          <a:solidFill>
            <a:srgbClr val="2E2E2E"/>
          </a:solidFill>
          <a:ln w="9525">
            <a:solidFill>
              <a:srgbClr val="484848"/>
            </a:solidFill>
            <a:prstDash val="solid"/>
          </a:ln>
        </p:spPr>
      </p:sp>
      <p:sp>
        <p:nvSpPr>
          <p:cNvPr id="9" name="Text 6"/>
          <p:cNvSpPr txBox="1"/>
          <p:nvPr/>
        </p:nvSpPr>
        <p:spPr>
          <a:xfrm>
            <a:off x="2971800" y="278892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kühl, neutral, dokumentarisch – ohne Wertung</a:t>
            </a:r>
            <a:endParaRPr lang="de-DE" sz="1500" dirty="0"/>
          </a:p>
        </p:txBody>
      </p:sp>
      <p:sp>
        <p:nvSpPr>
          <p:cNvPr id="10" name="Shape 7"/>
          <p:cNvSpPr/>
          <p:nvPr/>
        </p:nvSpPr>
        <p:spPr>
          <a:xfrm>
            <a:off x="7284568" y="2788920"/>
            <a:ext cx="4358488" cy="731520"/>
          </a:xfrm>
          <a:prstGeom prst="rect">
            <a:avLst/>
          </a:prstGeom>
          <a:solidFill>
            <a:srgbClr val="2E2E2E"/>
          </a:solidFill>
          <a:ln w="9525">
            <a:solidFill>
              <a:srgbClr val="484848"/>
            </a:solidFill>
            <a:prstDash val="solid"/>
          </a:ln>
        </p:spPr>
      </p:sp>
      <p:sp>
        <p:nvSpPr>
          <p:cNvPr id="11" name="Text 8"/>
          <p:cNvSpPr txBox="1"/>
          <p:nvPr/>
        </p:nvSpPr>
        <p:spPr>
          <a:xfrm>
            <a:off x="7467448" y="278892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oft emotional, erzählerisch oder gesellschaftskritisch</a:t>
            </a:r>
            <a:endParaRPr lang="de-DE" sz="1500" dirty="0"/>
          </a:p>
        </p:txBody>
      </p:sp>
      <p:sp>
        <p:nvSpPr>
          <p:cNvPr id="12" name="Text 9"/>
          <p:cNvSpPr txBox="1"/>
          <p:nvPr/>
        </p:nvSpPr>
        <p:spPr>
          <a:xfrm>
            <a:off x="548640" y="3611880"/>
            <a:ext cx="2103120" cy="731520"/>
          </a:xfrm>
          <a:prstGeom prst="rect">
            <a:avLst/>
          </a:prstGeom>
          <a:noFill/>
          <a:ln/>
        </p:spPr>
        <p:txBody>
          <a:bodyPr wrap="square" lIns="0" tIns="0" rIns="0" bIns="0" rtlCol="0" anchor="ctr"/>
          <a:lstStyle/>
          <a:p>
            <a:pPr indent="0" marL="0">
              <a:buNone/>
            </a:pPr>
            <a:r>
              <a:rPr lang="de-DE" altLang="en-US" sz="1500" b="1" dirty="0">
                <a:solidFill>
                  <a:srgbClr val="A8A8A3"/>
                </a:solidFill>
                <a:latin typeface="Arial" pitchFamily="34" charset="0"/>
                <a:ea typeface="Arial" pitchFamily="34" charset="-122"/>
                <a:cs typeface="Arial" pitchFamily="34" charset="-120"/>
              </a:rPr>
              <a:t>Umgang mit dem Foto</a:t>
            </a:r>
            <a:endParaRPr lang="de-DE" sz="1500" dirty="0"/>
          </a:p>
        </p:txBody>
      </p:sp>
      <p:sp>
        <p:nvSpPr>
          <p:cNvPr id="13" name="Shape 10"/>
          <p:cNvSpPr/>
          <p:nvPr/>
        </p:nvSpPr>
        <p:spPr>
          <a:xfrm>
            <a:off x="2788920" y="3611880"/>
            <a:ext cx="4358488" cy="731520"/>
          </a:xfrm>
          <a:prstGeom prst="rect">
            <a:avLst/>
          </a:prstGeom>
          <a:solidFill>
            <a:srgbClr val="2E2E2E"/>
          </a:solidFill>
          <a:ln w="9525">
            <a:solidFill>
              <a:srgbClr val="484848"/>
            </a:solidFill>
            <a:prstDash val="solid"/>
          </a:ln>
        </p:spPr>
      </p:sp>
      <p:sp>
        <p:nvSpPr>
          <p:cNvPr id="14" name="Text 11"/>
          <p:cNvSpPr txBox="1"/>
          <p:nvPr/>
        </p:nvSpPr>
        <p:spPr>
          <a:xfrm>
            <a:off x="2971800" y="361188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überträgt das Foto genau – teils samt Unschärfe</a:t>
            </a:r>
            <a:endParaRPr lang="de-DE" sz="1500" dirty="0"/>
          </a:p>
        </p:txBody>
      </p:sp>
      <p:sp>
        <p:nvSpPr>
          <p:cNvPr id="15" name="Shape 12"/>
          <p:cNvSpPr/>
          <p:nvPr/>
        </p:nvSpPr>
        <p:spPr>
          <a:xfrm>
            <a:off x="7284568" y="3611880"/>
            <a:ext cx="4358488" cy="731520"/>
          </a:xfrm>
          <a:prstGeom prst="rect">
            <a:avLst/>
          </a:prstGeom>
          <a:solidFill>
            <a:srgbClr val="2E2E2E"/>
          </a:solidFill>
          <a:ln w="9525">
            <a:solidFill>
              <a:srgbClr val="484848"/>
            </a:solidFill>
            <a:prstDash val="solid"/>
          </a:ln>
        </p:spPr>
      </p:sp>
      <p:sp>
        <p:nvSpPr>
          <p:cNvPr id="16" name="Text 13"/>
          <p:cNvSpPr txBox="1"/>
          <p:nvPr/>
        </p:nvSpPr>
        <p:spPr>
          <a:xfrm>
            <a:off x="7467448" y="361188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will das Foto übertreffen: noch detailreicher, oft größer</a:t>
            </a:r>
            <a:endParaRPr lang="de-DE" sz="1500" dirty="0"/>
          </a:p>
        </p:txBody>
      </p:sp>
      <p:sp>
        <p:nvSpPr>
          <p:cNvPr id="17" name="Text 14"/>
          <p:cNvSpPr txBox="1"/>
          <p:nvPr/>
        </p:nvSpPr>
        <p:spPr>
          <a:xfrm>
            <a:off x="548640" y="4434840"/>
            <a:ext cx="2103120" cy="731520"/>
          </a:xfrm>
          <a:prstGeom prst="rect">
            <a:avLst/>
          </a:prstGeom>
          <a:noFill/>
          <a:ln/>
        </p:spPr>
        <p:txBody>
          <a:bodyPr wrap="square" lIns="0" tIns="0" rIns="0" bIns="0" rtlCol="0" anchor="ctr"/>
          <a:lstStyle/>
          <a:p>
            <a:pPr indent="0" marL="0">
              <a:buNone/>
            </a:pPr>
            <a:r>
              <a:rPr lang="de-DE" altLang="en-US" sz="1500" b="1" dirty="0">
                <a:solidFill>
                  <a:srgbClr val="A8A8A3"/>
                </a:solidFill>
                <a:latin typeface="Arial" pitchFamily="34" charset="0"/>
                <a:ea typeface="Arial" pitchFamily="34" charset="-122"/>
                <a:cs typeface="Arial" pitchFamily="34" charset="-120"/>
              </a:rPr>
              <a:t>Medien</a:t>
            </a:r>
            <a:endParaRPr lang="de-DE" sz="1500" dirty="0"/>
          </a:p>
        </p:txBody>
      </p:sp>
      <p:sp>
        <p:nvSpPr>
          <p:cNvPr id="18" name="Shape 15"/>
          <p:cNvSpPr/>
          <p:nvPr/>
        </p:nvSpPr>
        <p:spPr>
          <a:xfrm>
            <a:off x="2788920" y="4434840"/>
            <a:ext cx="4358488" cy="731520"/>
          </a:xfrm>
          <a:prstGeom prst="rect">
            <a:avLst/>
          </a:prstGeom>
          <a:solidFill>
            <a:srgbClr val="2E2E2E"/>
          </a:solidFill>
          <a:ln w="9525">
            <a:solidFill>
              <a:srgbClr val="484848"/>
            </a:solidFill>
            <a:prstDash val="solid"/>
          </a:ln>
        </p:spPr>
      </p:sp>
      <p:sp>
        <p:nvSpPr>
          <p:cNvPr id="19" name="Text 16"/>
          <p:cNvSpPr txBox="1"/>
          <p:nvPr/>
        </p:nvSpPr>
        <p:spPr>
          <a:xfrm>
            <a:off x="2971800" y="443484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Malerei in Acryl und Öl, mit Pinsel oder Airbrush</a:t>
            </a:r>
            <a:endParaRPr lang="de-DE" sz="1500" dirty="0"/>
          </a:p>
        </p:txBody>
      </p:sp>
      <p:sp>
        <p:nvSpPr>
          <p:cNvPr id="20" name="Shape 17"/>
          <p:cNvSpPr/>
          <p:nvPr/>
        </p:nvSpPr>
        <p:spPr>
          <a:xfrm>
            <a:off x="7284568" y="4434840"/>
            <a:ext cx="4358488" cy="731520"/>
          </a:xfrm>
          <a:prstGeom prst="rect">
            <a:avLst/>
          </a:prstGeom>
          <a:solidFill>
            <a:srgbClr val="2E2E2E"/>
          </a:solidFill>
          <a:ln w="9525">
            <a:solidFill>
              <a:srgbClr val="484848"/>
            </a:solidFill>
            <a:prstDash val="solid"/>
          </a:ln>
        </p:spPr>
      </p:sp>
      <p:sp>
        <p:nvSpPr>
          <p:cNvPr id="21" name="Text 18"/>
          <p:cNvSpPr txBox="1"/>
          <p:nvPr/>
        </p:nvSpPr>
        <p:spPr>
          <a:xfrm>
            <a:off x="7467448" y="443484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Malerei, Zeichnung, Skulptur (Kunstharz, Silikon, Kunsthaar)</a:t>
            </a:r>
            <a:endParaRPr lang="de-DE" sz="1500" dirty="0"/>
          </a:p>
        </p:txBody>
      </p:sp>
      <p:sp>
        <p:nvSpPr>
          <p:cNvPr id="22" name="Text 19"/>
          <p:cNvSpPr txBox="1"/>
          <p:nvPr/>
        </p:nvSpPr>
        <p:spPr>
          <a:xfrm>
            <a:off x="548640" y="5257800"/>
            <a:ext cx="2103120" cy="731520"/>
          </a:xfrm>
          <a:prstGeom prst="rect">
            <a:avLst/>
          </a:prstGeom>
          <a:noFill/>
          <a:ln/>
        </p:spPr>
        <p:txBody>
          <a:bodyPr wrap="square" lIns="0" tIns="0" rIns="0" bIns="0" rtlCol="0" anchor="ctr"/>
          <a:lstStyle/>
          <a:p>
            <a:pPr indent="0" marL="0">
              <a:buNone/>
            </a:pPr>
            <a:r>
              <a:rPr lang="de-DE" altLang="en-US" sz="1500" b="1" dirty="0">
                <a:solidFill>
                  <a:srgbClr val="A8A8A3"/>
                </a:solidFill>
                <a:latin typeface="Arial" pitchFamily="34" charset="0"/>
                <a:ea typeface="Arial" pitchFamily="34" charset="-122"/>
                <a:cs typeface="Arial" pitchFamily="34" charset="-120"/>
              </a:rPr>
              <a:t>Motive</a:t>
            </a:r>
            <a:endParaRPr lang="de-DE" sz="1500" dirty="0"/>
          </a:p>
        </p:txBody>
      </p:sp>
      <p:sp>
        <p:nvSpPr>
          <p:cNvPr id="23" name="Shape 20"/>
          <p:cNvSpPr/>
          <p:nvPr/>
        </p:nvSpPr>
        <p:spPr>
          <a:xfrm>
            <a:off x="2788920" y="5257800"/>
            <a:ext cx="4358488" cy="731520"/>
          </a:xfrm>
          <a:prstGeom prst="rect">
            <a:avLst/>
          </a:prstGeom>
          <a:solidFill>
            <a:srgbClr val="2E2E2E"/>
          </a:solidFill>
          <a:ln w="9525">
            <a:solidFill>
              <a:srgbClr val="484848"/>
            </a:solidFill>
            <a:prstDash val="solid"/>
          </a:ln>
        </p:spPr>
      </p:sp>
      <p:sp>
        <p:nvSpPr>
          <p:cNvPr id="24" name="Text 21"/>
          <p:cNvSpPr txBox="1"/>
          <p:nvPr/>
        </p:nvSpPr>
        <p:spPr>
          <a:xfrm>
            <a:off x="2971800" y="525780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amerikanischer Alltag: Stadt, Autos, Diners, Konsum</a:t>
            </a:r>
            <a:endParaRPr lang="de-DE" sz="1500" dirty="0"/>
          </a:p>
        </p:txBody>
      </p:sp>
      <p:sp>
        <p:nvSpPr>
          <p:cNvPr id="25" name="Shape 22"/>
          <p:cNvSpPr/>
          <p:nvPr/>
        </p:nvSpPr>
        <p:spPr>
          <a:xfrm>
            <a:off x="7284568" y="5257800"/>
            <a:ext cx="4358488" cy="731520"/>
          </a:xfrm>
          <a:prstGeom prst="rect">
            <a:avLst/>
          </a:prstGeom>
          <a:solidFill>
            <a:srgbClr val="2E2E2E"/>
          </a:solidFill>
          <a:ln w="9525">
            <a:solidFill>
              <a:srgbClr val="484848"/>
            </a:solidFill>
            <a:prstDash val="solid"/>
          </a:ln>
        </p:spPr>
      </p:sp>
      <p:sp>
        <p:nvSpPr>
          <p:cNvPr id="26" name="Text 23"/>
          <p:cNvSpPr txBox="1"/>
          <p:nvPr/>
        </p:nvSpPr>
        <p:spPr>
          <a:xfrm>
            <a:off x="7467448" y="5257800"/>
            <a:ext cx="3992728" cy="731520"/>
          </a:xfrm>
          <a:prstGeom prst="rect">
            <a:avLst/>
          </a:prstGeom>
          <a:noFill/>
          <a:ln/>
        </p:spPr>
        <p:txBody>
          <a:bodyPr wrap="square" lIns="0" tIns="0" rIns="0" bIns="0" rtlCol="0" anchor="ctr"/>
          <a:lstStyle/>
          <a:p>
            <a:pPr indent="0" marL="0">
              <a:buNone/>
            </a:pPr>
            <a:r>
              <a:rPr lang="de-DE" altLang="en-US" sz="1500" dirty="0">
                <a:solidFill>
                  <a:srgbClr val="F5F5F2"/>
                </a:solidFill>
                <a:latin typeface="Arial" pitchFamily="34" charset="0"/>
                <a:ea typeface="Arial" pitchFamily="34" charset="-122"/>
                <a:cs typeface="Arial" pitchFamily="34" charset="-120"/>
              </a:rPr>
              <a:t>Menschen, Haut, Wasser, Glas – oft überhöht oder rätselhaft</a:t>
            </a:r>
            <a:endParaRPr lang="de-DE"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01 · ABGRENZUNG</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Was Fotorealismus nicht ist</a:t>
            </a:r>
            <a:endParaRPr lang="de-DE" sz="3200" dirty="0"/>
          </a:p>
        </p:txBody>
      </p:sp>
      <p:sp>
        <p:nvSpPr>
          <p:cNvPr id="4" name="Shape 2"/>
          <p:cNvSpPr/>
          <p:nvPr/>
        </p:nvSpPr>
        <p:spPr>
          <a:xfrm>
            <a:off x="548640" y="1737360"/>
            <a:ext cx="3515258" cy="4343400"/>
          </a:xfrm>
          <a:prstGeom prst="rect">
            <a:avLst/>
          </a:prstGeom>
          <a:solidFill>
            <a:srgbClr val="2E2E2E"/>
          </a:solidFill>
          <a:ln w="9525">
            <a:solidFill>
              <a:srgbClr val="484848"/>
            </a:solidFill>
            <a:prstDash val="solid"/>
          </a:ln>
        </p:spPr>
      </p:sp>
      <p:sp>
        <p:nvSpPr>
          <p:cNvPr id="5" name="Shape 3"/>
          <p:cNvSpPr/>
          <p:nvPr/>
        </p:nvSpPr>
        <p:spPr>
          <a:xfrm>
            <a:off x="822960" y="2011680"/>
            <a:ext cx="566928" cy="566928"/>
          </a:xfrm>
          <a:prstGeom prst="ellipse">
            <a:avLst/>
          </a:prstGeom>
          <a:solidFill>
            <a:srgbClr val="1C1C1C"/>
          </a:solidFill>
          <a:ln w="15875">
            <a:solidFill>
              <a:srgbClr val="F5B21B"/>
            </a:solidFill>
            <a:prstDash val="solid"/>
          </a:ln>
        </p:spPr>
      </p:sp>
      <p:pic>
        <p:nvPicPr>
          <p:cNvPr id="6" name="Image 0" descr="Symbol Brush">    </p:cNvPr>
          <p:cNvPicPr>
            <a:picLocks noChangeAspect="1"/>
          </p:cNvPicPr>
          <p:nvPr/>
        </p:nvPicPr>
        <p:blipFill>
          <a:blip r:embed="rId1"/>
          <a:stretch>
            <a:fillRect/>
          </a:stretch>
        </p:blipFill>
        <p:spPr>
          <a:xfrm>
            <a:off x="947684" y="2136404"/>
            <a:ext cx="317480" cy="317480"/>
          </a:xfrm>
          <a:prstGeom prst="rect">
            <a:avLst/>
          </a:prstGeom>
        </p:spPr>
      </p:pic>
      <p:sp>
        <p:nvSpPr>
          <p:cNvPr id="7" name="Text 4"/>
          <p:cNvSpPr txBox="1"/>
          <p:nvPr/>
        </p:nvSpPr>
        <p:spPr>
          <a:xfrm>
            <a:off x="1554480" y="2011680"/>
            <a:ext cx="2235098" cy="566928"/>
          </a:xfrm>
          <a:prstGeom prst="rect">
            <a:avLst/>
          </a:prstGeom>
          <a:noFill/>
          <a:ln/>
        </p:spPr>
        <p:txBody>
          <a:bodyPr wrap="square" lIns="0" tIns="0" rIns="0" bIns="0" rtlCol="0" anchor="ctr"/>
          <a:lstStyle/>
          <a:p>
            <a:pPr indent="0" marL="0">
              <a:buNone/>
            </a:pPr>
            <a:r>
              <a:rPr lang="de-DE" altLang="en-US" sz="2200" b="1" dirty="0">
                <a:solidFill>
                  <a:srgbClr val="F5F5F2"/>
                </a:solidFill>
                <a:latin typeface="Georgia" pitchFamily="34" charset="0"/>
                <a:ea typeface="Georgia" pitchFamily="34" charset="-122"/>
                <a:cs typeface="Georgia" pitchFamily="34" charset="-120"/>
              </a:rPr>
              <a:t>Realismus</a:t>
            </a:r>
            <a:endParaRPr lang="de-DE" sz="2200" dirty="0"/>
          </a:p>
        </p:txBody>
      </p:sp>
      <p:sp>
        <p:nvSpPr>
          <p:cNvPr id="8" name="Text 5"/>
          <p:cNvSpPr txBox="1"/>
          <p:nvPr/>
        </p:nvSpPr>
        <p:spPr>
          <a:xfrm>
            <a:off x="822960" y="2743200"/>
            <a:ext cx="2966618" cy="502920"/>
          </a:xfrm>
          <a:prstGeom prst="rect">
            <a:avLst/>
          </a:prstGeom>
          <a:noFill/>
          <a:ln/>
        </p:spPr>
        <p:txBody>
          <a:bodyPr wrap="square" lIns="0" tIns="0" rIns="0" bIns="0" rtlCol="0" anchor="t"/>
          <a:lstStyle/>
          <a:p>
            <a:pPr indent="0" marL="0">
              <a:buNone/>
            </a:pPr>
            <a:r>
              <a:rPr lang="de-DE" altLang="en-US" sz="1300" b="1" dirty="0">
                <a:solidFill>
                  <a:srgbClr val="A8A8A3"/>
                </a:solidFill>
                <a:latin typeface="Arial" pitchFamily="34" charset="0"/>
                <a:ea typeface="Arial" pitchFamily="34" charset="-122"/>
                <a:cs typeface="Arial" pitchFamily="34" charset="-120"/>
              </a:rPr>
              <a:t>Mitte 19. Jh. · z. B. Gustave Courbet</a:t>
            </a:r>
            <a:endParaRPr lang="de-DE" sz="1300" dirty="0"/>
          </a:p>
        </p:txBody>
      </p:sp>
      <p:sp>
        <p:nvSpPr>
          <p:cNvPr id="9" name="Text 6"/>
          <p:cNvSpPr txBox="1"/>
          <p:nvPr/>
        </p:nvSpPr>
        <p:spPr>
          <a:xfrm>
            <a:off x="822960" y="3291840"/>
            <a:ext cx="2966618" cy="1463040"/>
          </a:xfrm>
          <a:prstGeom prst="rect">
            <a:avLst/>
          </a:prstGeom>
          <a:noFill/>
          <a:ln/>
        </p:spPr>
        <p:txBody>
          <a:bodyPr wrap="square" lIns="0" tIns="0" rIns="0" bIns="0" rtlCol="0" anchor="t"/>
          <a:lstStyle/>
          <a:p>
            <a:pPr indent="0" marL="0">
              <a:buNone/>
            </a:pPr>
            <a:r>
              <a:rPr lang="de-DE" altLang="en-US" sz="1600" dirty="0">
                <a:solidFill>
                  <a:srgbClr val="F5F5F2"/>
                </a:solidFill>
                <a:latin typeface="Arial" pitchFamily="34" charset="0"/>
                <a:ea typeface="Arial" pitchFamily="34" charset="-122"/>
                <a:cs typeface="Arial" pitchFamily="34" charset="-120"/>
              </a:rPr>
              <a:t>Zeigt die Wirklichkeit ungeschönt, oft sozialkritisch – mit sichtbarem Pinselstrich.</a:t>
            </a:r>
            <a:endParaRPr lang="de-DE" sz="1600" dirty="0"/>
          </a:p>
        </p:txBody>
      </p:sp>
      <p:sp>
        <p:nvSpPr>
          <p:cNvPr id="10" name="Text 7"/>
          <p:cNvSpPr txBox="1"/>
          <p:nvPr/>
        </p:nvSpPr>
        <p:spPr>
          <a:xfrm>
            <a:off x="822960" y="5029200"/>
            <a:ext cx="2966618" cy="822960"/>
          </a:xfrm>
          <a:prstGeom prst="rect">
            <a:avLst/>
          </a:prstGeom>
          <a:noFill/>
          <a:ln/>
        </p:spPr>
        <p:txBody>
          <a:bodyPr wrap="square" lIns="0" tIns="0" rIns="0" bIns="0" rtlCol="0" anchor="b"/>
          <a:lstStyle/>
          <a:p>
            <a:pPr indent="0" marL="0">
              <a:buNone/>
            </a:pPr>
            <a:r>
              <a:rPr lang="de-DE" altLang="en-US" sz="1500" b="1" dirty="0">
                <a:solidFill>
                  <a:srgbClr val="F5B21B"/>
                </a:solidFill>
                <a:latin typeface="Arial" pitchFamily="34" charset="0"/>
                <a:ea typeface="Arial" pitchFamily="34" charset="-122"/>
                <a:cs typeface="Arial" pitchFamily="34" charset="-120"/>
              </a:rPr>
              <a:t>→ Fotorealismus: Vorlage ist das Foto, keine Handschrift</a:t>
            </a:r>
            <a:endParaRPr lang="de-DE" sz="1500" dirty="0"/>
          </a:p>
        </p:txBody>
      </p:sp>
      <p:sp>
        <p:nvSpPr>
          <p:cNvPr id="11" name="Shape 8"/>
          <p:cNvSpPr/>
          <p:nvPr/>
        </p:nvSpPr>
        <p:spPr>
          <a:xfrm>
            <a:off x="4338218" y="1737360"/>
            <a:ext cx="3515258" cy="4343400"/>
          </a:xfrm>
          <a:prstGeom prst="rect">
            <a:avLst/>
          </a:prstGeom>
          <a:solidFill>
            <a:srgbClr val="2E2E2E"/>
          </a:solidFill>
          <a:ln w="9525">
            <a:solidFill>
              <a:srgbClr val="484848"/>
            </a:solidFill>
            <a:prstDash val="solid"/>
          </a:ln>
        </p:spPr>
      </p:sp>
      <p:sp>
        <p:nvSpPr>
          <p:cNvPr id="12" name="Shape 9"/>
          <p:cNvSpPr/>
          <p:nvPr/>
        </p:nvSpPr>
        <p:spPr>
          <a:xfrm>
            <a:off x="4612538" y="2011680"/>
            <a:ext cx="566928" cy="566928"/>
          </a:xfrm>
          <a:prstGeom prst="ellipse">
            <a:avLst/>
          </a:prstGeom>
          <a:solidFill>
            <a:srgbClr val="1C1C1C"/>
          </a:solidFill>
          <a:ln w="15875">
            <a:solidFill>
              <a:srgbClr val="F5B21B"/>
            </a:solidFill>
            <a:prstDash val="solid"/>
          </a:ln>
        </p:spPr>
      </p:sp>
      <p:pic>
        <p:nvPicPr>
          <p:cNvPr id="13" name="Image 1" descr="Symbol Palette">    </p:cNvPr>
          <p:cNvPicPr>
            <a:picLocks noChangeAspect="1"/>
          </p:cNvPicPr>
          <p:nvPr/>
        </p:nvPicPr>
        <p:blipFill>
          <a:blip r:embed="rId2"/>
          <a:stretch>
            <a:fillRect/>
          </a:stretch>
        </p:blipFill>
        <p:spPr>
          <a:xfrm>
            <a:off x="4737263" y="2136404"/>
            <a:ext cx="317480" cy="317480"/>
          </a:xfrm>
          <a:prstGeom prst="rect">
            <a:avLst/>
          </a:prstGeom>
        </p:spPr>
      </p:pic>
      <p:sp>
        <p:nvSpPr>
          <p:cNvPr id="14" name="Text 10"/>
          <p:cNvSpPr txBox="1"/>
          <p:nvPr/>
        </p:nvSpPr>
        <p:spPr>
          <a:xfrm>
            <a:off x="5344058" y="2011680"/>
            <a:ext cx="2235098" cy="566928"/>
          </a:xfrm>
          <a:prstGeom prst="rect">
            <a:avLst/>
          </a:prstGeom>
          <a:noFill/>
          <a:ln/>
        </p:spPr>
        <p:txBody>
          <a:bodyPr wrap="square" lIns="0" tIns="0" rIns="0" bIns="0" rtlCol="0" anchor="ctr"/>
          <a:lstStyle/>
          <a:p>
            <a:pPr indent="0" marL="0">
              <a:buNone/>
            </a:pPr>
            <a:r>
              <a:rPr lang="de-DE" altLang="en-US" sz="2200" b="1" dirty="0">
                <a:solidFill>
                  <a:srgbClr val="F5F5F2"/>
                </a:solidFill>
                <a:latin typeface="Georgia" pitchFamily="34" charset="0"/>
                <a:ea typeface="Georgia" pitchFamily="34" charset="-122"/>
                <a:cs typeface="Georgia" pitchFamily="34" charset="-120"/>
              </a:rPr>
              <a:t>Pop Art</a:t>
            </a:r>
            <a:endParaRPr lang="de-DE" sz="2200" dirty="0"/>
          </a:p>
        </p:txBody>
      </p:sp>
      <p:sp>
        <p:nvSpPr>
          <p:cNvPr id="15" name="Text 11"/>
          <p:cNvSpPr txBox="1"/>
          <p:nvPr/>
        </p:nvSpPr>
        <p:spPr>
          <a:xfrm>
            <a:off x="4612538" y="2743200"/>
            <a:ext cx="2966618" cy="502920"/>
          </a:xfrm>
          <a:prstGeom prst="rect">
            <a:avLst/>
          </a:prstGeom>
          <a:noFill/>
          <a:ln/>
        </p:spPr>
        <p:txBody>
          <a:bodyPr wrap="square" lIns="0" tIns="0" rIns="0" bIns="0" rtlCol="0" anchor="t"/>
          <a:lstStyle/>
          <a:p>
            <a:pPr indent="0" marL="0">
              <a:buNone/>
            </a:pPr>
            <a:r>
              <a:rPr lang="de-DE" altLang="en-US" sz="1300" b="1" dirty="0">
                <a:solidFill>
                  <a:srgbClr val="A8A8A3"/>
                </a:solidFill>
                <a:latin typeface="Arial" pitchFamily="34" charset="0"/>
                <a:ea typeface="Arial" pitchFamily="34" charset="-122"/>
                <a:cs typeface="Arial" pitchFamily="34" charset="-120"/>
              </a:rPr>
              <a:t>ab ca. 1960 · Andy Warhol, Roy Lichtenstein</a:t>
            </a:r>
            <a:endParaRPr lang="de-DE" sz="1300" dirty="0"/>
          </a:p>
        </p:txBody>
      </p:sp>
      <p:sp>
        <p:nvSpPr>
          <p:cNvPr id="16" name="Text 12"/>
          <p:cNvSpPr txBox="1"/>
          <p:nvPr/>
        </p:nvSpPr>
        <p:spPr>
          <a:xfrm>
            <a:off x="4612538" y="3291840"/>
            <a:ext cx="2966618" cy="1463040"/>
          </a:xfrm>
          <a:prstGeom prst="rect">
            <a:avLst/>
          </a:prstGeom>
          <a:noFill/>
          <a:ln/>
        </p:spPr>
        <p:txBody>
          <a:bodyPr wrap="square" lIns="0" tIns="0" rIns="0" bIns="0" rtlCol="0" anchor="t"/>
          <a:lstStyle/>
          <a:p>
            <a:pPr indent="0" marL="0">
              <a:buNone/>
            </a:pPr>
            <a:r>
              <a:rPr lang="de-DE" altLang="en-US" sz="1600" dirty="0">
                <a:solidFill>
                  <a:srgbClr val="F5F5F2"/>
                </a:solidFill>
                <a:latin typeface="Arial" pitchFamily="34" charset="0"/>
                <a:ea typeface="Arial" pitchFamily="34" charset="-122"/>
                <a:cs typeface="Arial" pitchFamily="34" charset="-120"/>
              </a:rPr>
              <a:t>Zitiert Medienbilder – flach, plakativ, oft im Siebdruck oder Comic-Stil.</a:t>
            </a:r>
            <a:endParaRPr lang="de-DE" sz="1600" dirty="0"/>
          </a:p>
        </p:txBody>
      </p:sp>
      <p:sp>
        <p:nvSpPr>
          <p:cNvPr id="17" name="Text 13"/>
          <p:cNvSpPr txBox="1"/>
          <p:nvPr/>
        </p:nvSpPr>
        <p:spPr>
          <a:xfrm>
            <a:off x="4612538" y="5029200"/>
            <a:ext cx="2966618" cy="822960"/>
          </a:xfrm>
          <a:prstGeom prst="rect">
            <a:avLst/>
          </a:prstGeom>
          <a:noFill/>
          <a:ln/>
        </p:spPr>
        <p:txBody>
          <a:bodyPr wrap="square" lIns="0" tIns="0" rIns="0" bIns="0" rtlCol="0" anchor="b"/>
          <a:lstStyle/>
          <a:p>
            <a:pPr indent="0" marL="0">
              <a:buNone/>
            </a:pPr>
            <a:r>
              <a:rPr lang="de-DE" altLang="en-US" sz="1500" b="1" dirty="0">
                <a:solidFill>
                  <a:srgbClr val="F5B21B"/>
                </a:solidFill>
                <a:latin typeface="Arial" pitchFamily="34" charset="0"/>
                <a:ea typeface="Arial" pitchFamily="34" charset="-122"/>
                <a:cs typeface="Arial" pitchFamily="34" charset="-120"/>
              </a:rPr>
              <a:t>→ Fotorealismus: will eine perfekte Illusion</a:t>
            </a:r>
            <a:endParaRPr lang="de-DE" sz="1500" dirty="0"/>
          </a:p>
        </p:txBody>
      </p:sp>
      <p:sp>
        <p:nvSpPr>
          <p:cNvPr id="18" name="Shape 14"/>
          <p:cNvSpPr/>
          <p:nvPr/>
        </p:nvSpPr>
        <p:spPr>
          <a:xfrm>
            <a:off x="8127797" y="1737360"/>
            <a:ext cx="3515258" cy="4343400"/>
          </a:xfrm>
          <a:prstGeom prst="rect">
            <a:avLst/>
          </a:prstGeom>
          <a:solidFill>
            <a:srgbClr val="2E2E2E"/>
          </a:solidFill>
          <a:ln w="9525">
            <a:solidFill>
              <a:srgbClr val="484848"/>
            </a:solidFill>
            <a:prstDash val="solid"/>
          </a:ln>
        </p:spPr>
      </p:sp>
      <p:sp>
        <p:nvSpPr>
          <p:cNvPr id="19" name="Shape 15"/>
          <p:cNvSpPr/>
          <p:nvPr/>
        </p:nvSpPr>
        <p:spPr>
          <a:xfrm>
            <a:off x="8402117" y="2011680"/>
            <a:ext cx="566928" cy="566928"/>
          </a:xfrm>
          <a:prstGeom prst="ellipse">
            <a:avLst/>
          </a:prstGeom>
          <a:solidFill>
            <a:srgbClr val="1C1C1C"/>
          </a:solidFill>
          <a:ln w="15875">
            <a:solidFill>
              <a:srgbClr val="F5B21B"/>
            </a:solidFill>
            <a:prstDash val="solid"/>
          </a:ln>
        </p:spPr>
      </p:sp>
      <p:pic>
        <p:nvPicPr>
          <p:cNvPr id="20" name="Image 2" descr="Symbol Photo">    </p:cNvPr>
          <p:cNvPicPr>
            <a:picLocks noChangeAspect="1"/>
          </p:cNvPicPr>
          <p:nvPr/>
        </p:nvPicPr>
        <p:blipFill>
          <a:blip r:embed="rId3"/>
          <a:stretch>
            <a:fillRect/>
          </a:stretch>
        </p:blipFill>
        <p:spPr>
          <a:xfrm>
            <a:off x="8526841" y="2136404"/>
            <a:ext cx="317480" cy="317480"/>
          </a:xfrm>
          <a:prstGeom prst="rect">
            <a:avLst/>
          </a:prstGeom>
        </p:spPr>
      </p:pic>
      <p:sp>
        <p:nvSpPr>
          <p:cNvPr id="21" name="Text 16"/>
          <p:cNvSpPr txBox="1"/>
          <p:nvPr/>
        </p:nvSpPr>
        <p:spPr>
          <a:xfrm>
            <a:off x="9133637" y="2011680"/>
            <a:ext cx="2235098" cy="566928"/>
          </a:xfrm>
          <a:prstGeom prst="rect">
            <a:avLst/>
          </a:prstGeom>
          <a:noFill/>
          <a:ln/>
        </p:spPr>
        <p:txBody>
          <a:bodyPr wrap="square" lIns="0" tIns="0" rIns="0" bIns="0" rtlCol="0" anchor="ctr"/>
          <a:lstStyle/>
          <a:p>
            <a:pPr indent="0" marL="0">
              <a:buNone/>
            </a:pPr>
            <a:r>
              <a:rPr lang="de-DE" altLang="en-US" sz="2200" b="1" dirty="0">
                <a:solidFill>
                  <a:srgbClr val="F5F5F2"/>
                </a:solidFill>
                <a:latin typeface="Georgia" pitchFamily="34" charset="0"/>
                <a:ea typeface="Georgia" pitchFamily="34" charset="-122"/>
                <a:cs typeface="Georgia" pitchFamily="34" charset="-120"/>
              </a:rPr>
              <a:t>Fotomalerei</a:t>
            </a:r>
            <a:endParaRPr lang="de-DE" sz="2200" dirty="0"/>
          </a:p>
        </p:txBody>
      </p:sp>
      <p:sp>
        <p:nvSpPr>
          <p:cNvPr id="22" name="Text 17"/>
          <p:cNvSpPr txBox="1"/>
          <p:nvPr/>
        </p:nvSpPr>
        <p:spPr>
          <a:xfrm>
            <a:off x="8402117" y="2743200"/>
            <a:ext cx="2966618" cy="502920"/>
          </a:xfrm>
          <a:prstGeom prst="rect">
            <a:avLst/>
          </a:prstGeom>
          <a:noFill/>
          <a:ln/>
        </p:spPr>
        <p:txBody>
          <a:bodyPr wrap="square" lIns="0" tIns="0" rIns="0" bIns="0" rtlCol="0" anchor="t"/>
          <a:lstStyle/>
          <a:p>
            <a:pPr indent="0" marL="0">
              <a:buNone/>
            </a:pPr>
            <a:r>
              <a:rPr lang="de-DE" altLang="en-US" sz="1300" b="1" dirty="0">
                <a:solidFill>
                  <a:srgbClr val="A8A8A3"/>
                </a:solidFill>
                <a:latin typeface="Arial" pitchFamily="34" charset="0"/>
                <a:ea typeface="Arial" pitchFamily="34" charset="-122"/>
                <a:cs typeface="Arial" pitchFamily="34" charset="-120"/>
              </a:rPr>
              <a:t>ab 1962 · Gerhard Richter (Deutschland)</a:t>
            </a:r>
            <a:endParaRPr lang="de-DE" sz="1300" dirty="0"/>
          </a:p>
        </p:txBody>
      </p:sp>
      <p:sp>
        <p:nvSpPr>
          <p:cNvPr id="23" name="Text 18"/>
          <p:cNvSpPr txBox="1"/>
          <p:nvPr/>
        </p:nvSpPr>
        <p:spPr>
          <a:xfrm>
            <a:off x="8402117" y="3291840"/>
            <a:ext cx="2966618" cy="1463040"/>
          </a:xfrm>
          <a:prstGeom prst="rect">
            <a:avLst/>
          </a:prstGeom>
          <a:noFill/>
          <a:ln/>
        </p:spPr>
        <p:txBody>
          <a:bodyPr wrap="square" lIns="0" tIns="0" rIns="0" bIns="0" rtlCol="0" anchor="t"/>
          <a:lstStyle/>
          <a:p>
            <a:pPr indent="0" marL="0">
              <a:buNone/>
            </a:pPr>
            <a:r>
              <a:rPr lang="de-DE" altLang="en-US" sz="1600" dirty="0">
                <a:solidFill>
                  <a:srgbClr val="F5F5F2"/>
                </a:solidFill>
                <a:latin typeface="Arial" pitchFamily="34" charset="0"/>
                <a:ea typeface="Arial" pitchFamily="34" charset="-122"/>
                <a:cs typeface="Arial" pitchFamily="34" charset="-120"/>
              </a:rPr>
              <a:t>Malt nach Fotos, verwischt sie aber bewusst – z. B. „Ema (Akt auf einer Treppe)“, 1966.</a:t>
            </a:r>
            <a:endParaRPr lang="de-DE" sz="1600" dirty="0"/>
          </a:p>
        </p:txBody>
      </p:sp>
      <p:sp>
        <p:nvSpPr>
          <p:cNvPr id="24" name="Text 19"/>
          <p:cNvSpPr txBox="1"/>
          <p:nvPr/>
        </p:nvSpPr>
        <p:spPr>
          <a:xfrm>
            <a:off x="8402117" y="5029200"/>
            <a:ext cx="2966618" cy="822960"/>
          </a:xfrm>
          <a:prstGeom prst="rect">
            <a:avLst/>
          </a:prstGeom>
          <a:noFill/>
          <a:ln/>
        </p:spPr>
        <p:txBody>
          <a:bodyPr wrap="square" lIns="0" tIns="0" rIns="0" bIns="0" rtlCol="0" anchor="b"/>
          <a:lstStyle/>
          <a:p>
            <a:pPr indent="0" marL="0">
              <a:buNone/>
            </a:pPr>
            <a:r>
              <a:rPr lang="de-DE" altLang="en-US" sz="1500" b="1" dirty="0">
                <a:solidFill>
                  <a:srgbClr val="F5B21B"/>
                </a:solidFill>
                <a:latin typeface="Arial" pitchFamily="34" charset="0"/>
                <a:ea typeface="Arial" pitchFamily="34" charset="-122"/>
                <a:cs typeface="Arial" pitchFamily="34" charset="-120"/>
              </a:rPr>
              <a:t>→ Fotorealismus: gestochen scharf</a:t>
            </a:r>
            <a:endParaRPr lang="de-DE"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02 · TECHNIK &amp; DEFINITION</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Vom Foto zum Gemälde</a:t>
            </a:r>
            <a:endParaRPr lang="de-DE" sz="3200" dirty="0"/>
          </a:p>
        </p:txBody>
      </p:sp>
      <p:sp>
        <p:nvSpPr>
          <p:cNvPr id="4" name="Shape 2"/>
          <p:cNvSpPr/>
          <p:nvPr/>
        </p:nvSpPr>
        <p:spPr>
          <a:xfrm>
            <a:off x="548640" y="1737360"/>
            <a:ext cx="685800" cy="685800"/>
          </a:xfrm>
          <a:prstGeom prst="ellipse">
            <a:avLst/>
          </a:prstGeom>
          <a:solidFill>
            <a:srgbClr val="1C1C1C"/>
          </a:solidFill>
          <a:ln w="15875">
            <a:solidFill>
              <a:srgbClr val="F5B21B"/>
            </a:solidFill>
            <a:prstDash val="solid"/>
          </a:ln>
        </p:spPr>
      </p:sp>
      <p:pic>
        <p:nvPicPr>
          <p:cNvPr id="5" name="Image 0" descr="Symbol Camera">    </p:cNvPr>
          <p:cNvPicPr>
            <a:picLocks noChangeAspect="1"/>
          </p:cNvPicPr>
          <p:nvPr/>
        </p:nvPicPr>
        <p:blipFill>
          <a:blip r:embed="rId1"/>
          <a:stretch>
            <a:fillRect/>
          </a:stretch>
        </p:blipFill>
        <p:spPr>
          <a:xfrm>
            <a:off x="699516" y="1888236"/>
            <a:ext cx="384048" cy="384048"/>
          </a:xfrm>
          <a:prstGeom prst="rect">
            <a:avLst/>
          </a:prstGeom>
        </p:spPr>
      </p:pic>
      <p:sp>
        <p:nvSpPr>
          <p:cNvPr id="6" name="Text 3"/>
          <p:cNvSpPr txBox="1"/>
          <p:nvPr/>
        </p:nvSpPr>
        <p:spPr>
          <a:xfrm>
            <a:off x="548640" y="2606040"/>
            <a:ext cx="2377440" cy="1325880"/>
          </a:xfrm>
          <a:prstGeom prst="rect">
            <a:avLst/>
          </a:prstGeom>
          <a:noFill/>
          <a:ln/>
        </p:spPr>
        <p:txBody>
          <a:bodyPr wrap="square" lIns="0" tIns="0" rIns="0" bIns="0" rtlCol="0" anchor="t"/>
          <a:lstStyle/>
          <a:p>
            <a:pPr indent="0" marL="0">
              <a:spcAft>
                <a:spcPts val="300"/>
              </a:spcAft>
              <a:buNone/>
            </a:pPr>
            <a:r>
              <a:rPr lang="de-DE" altLang="en-US" sz="1800" b="1" dirty="0">
                <a:solidFill>
                  <a:srgbClr val="F5F5F2"/>
                </a:solidFill>
                <a:latin typeface="Arial" pitchFamily="34" charset="0"/>
                <a:ea typeface="Arial" pitchFamily="34" charset="-122"/>
                <a:cs typeface="Arial" pitchFamily="34" charset="-120"/>
              </a:rPr>
              <a:t>1  Fotografieren</a:t>
            </a:r>
            <a:endParaRPr lang="de-DE" sz="18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Motiv fotografieren – oft mehrere Aufnahmen.</a:t>
            </a:r>
            <a:endParaRPr lang="de-DE" sz="1800" dirty="0"/>
          </a:p>
        </p:txBody>
      </p:sp>
      <p:pic>
        <p:nvPicPr>
          <p:cNvPr id="7" name="Image 1" descr="Pfeil">    </p:cNvPr>
          <p:cNvPicPr>
            <a:picLocks noChangeAspect="1"/>
          </p:cNvPicPr>
          <p:nvPr/>
        </p:nvPicPr>
        <p:blipFill>
          <a:blip r:embed="rId2"/>
          <a:stretch>
            <a:fillRect/>
          </a:stretch>
        </p:blipFill>
        <p:spPr>
          <a:xfrm>
            <a:off x="2161489" y="1897380"/>
            <a:ext cx="365760" cy="365760"/>
          </a:xfrm>
          <a:prstGeom prst="rect">
            <a:avLst/>
          </a:prstGeom>
        </p:spPr>
      </p:pic>
      <p:sp>
        <p:nvSpPr>
          <p:cNvPr id="8" name="Shape 4"/>
          <p:cNvSpPr/>
          <p:nvPr/>
        </p:nvSpPr>
        <p:spPr>
          <a:xfrm>
            <a:off x="3454298" y="1737360"/>
            <a:ext cx="685800" cy="685800"/>
          </a:xfrm>
          <a:prstGeom prst="ellipse">
            <a:avLst/>
          </a:prstGeom>
          <a:solidFill>
            <a:srgbClr val="1C1C1C"/>
          </a:solidFill>
          <a:ln w="15875">
            <a:solidFill>
              <a:srgbClr val="F5B21B"/>
            </a:solidFill>
            <a:prstDash val="solid"/>
          </a:ln>
        </p:spPr>
      </p:sp>
      <p:pic>
        <p:nvPicPr>
          <p:cNvPr id="9" name="Image 2" descr="Symbol Grid3X3">    </p:cNvPr>
          <p:cNvPicPr>
            <a:picLocks noChangeAspect="1"/>
          </p:cNvPicPr>
          <p:nvPr/>
        </p:nvPicPr>
        <p:blipFill>
          <a:blip r:embed="rId3"/>
          <a:stretch>
            <a:fillRect/>
          </a:stretch>
        </p:blipFill>
        <p:spPr>
          <a:xfrm>
            <a:off x="3605174" y="1888236"/>
            <a:ext cx="384048" cy="384048"/>
          </a:xfrm>
          <a:prstGeom prst="rect">
            <a:avLst/>
          </a:prstGeom>
        </p:spPr>
      </p:pic>
      <p:sp>
        <p:nvSpPr>
          <p:cNvPr id="10" name="Text 5"/>
          <p:cNvSpPr txBox="1"/>
          <p:nvPr/>
        </p:nvSpPr>
        <p:spPr>
          <a:xfrm>
            <a:off x="3454298" y="2606040"/>
            <a:ext cx="2377440" cy="1325880"/>
          </a:xfrm>
          <a:prstGeom prst="rect">
            <a:avLst/>
          </a:prstGeom>
          <a:noFill/>
          <a:ln/>
        </p:spPr>
        <p:txBody>
          <a:bodyPr wrap="square" lIns="0" tIns="0" rIns="0" bIns="0" rtlCol="0" anchor="t"/>
          <a:lstStyle/>
          <a:p>
            <a:pPr indent="0" marL="0">
              <a:spcAft>
                <a:spcPts val="300"/>
              </a:spcAft>
              <a:buNone/>
            </a:pPr>
            <a:r>
              <a:rPr lang="de-DE" altLang="en-US" sz="1800" b="1" dirty="0">
                <a:solidFill>
                  <a:srgbClr val="F5F5F2"/>
                </a:solidFill>
                <a:latin typeface="Arial" pitchFamily="34" charset="0"/>
                <a:ea typeface="Arial" pitchFamily="34" charset="-122"/>
                <a:cs typeface="Arial" pitchFamily="34" charset="-120"/>
              </a:rPr>
              <a:t>2  Übertragen</a:t>
            </a:r>
            <a:endParaRPr lang="de-DE" sz="18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Raster zeichnen oder ein Dia auf die Leinwand projizieren.</a:t>
            </a:r>
            <a:endParaRPr lang="de-DE" sz="1800" dirty="0"/>
          </a:p>
        </p:txBody>
      </p:sp>
      <p:pic>
        <p:nvPicPr>
          <p:cNvPr id="11" name="Image 3" descr="Pfeil">    </p:cNvPr>
          <p:cNvPicPr>
            <a:picLocks noChangeAspect="1"/>
          </p:cNvPicPr>
          <p:nvPr/>
        </p:nvPicPr>
        <p:blipFill>
          <a:blip r:embed="rId4"/>
          <a:stretch>
            <a:fillRect/>
          </a:stretch>
        </p:blipFill>
        <p:spPr>
          <a:xfrm>
            <a:off x="5067148" y="1897380"/>
            <a:ext cx="365760" cy="365760"/>
          </a:xfrm>
          <a:prstGeom prst="rect">
            <a:avLst/>
          </a:prstGeom>
        </p:spPr>
      </p:pic>
      <p:sp>
        <p:nvSpPr>
          <p:cNvPr id="12" name="Shape 6"/>
          <p:cNvSpPr/>
          <p:nvPr/>
        </p:nvSpPr>
        <p:spPr>
          <a:xfrm>
            <a:off x="6359957" y="1737360"/>
            <a:ext cx="685800" cy="685800"/>
          </a:xfrm>
          <a:prstGeom prst="ellipse">
            <a:avLst/>
          </a:prstGeom>
          <a:solidFill>
            <a:srgbClr val="1C1C1C"/>
          </a:solidFill>
          <a:ln w="15875">
            <a:solidFill>
              <a:srgbClr val="F5B21B"/>
            </a:solidFill>
            <a:prstDash val="solid"/>
          </a:ln>
        </p:spPr>
      </p:sp>
      <p:pic>
        <p:nvPicPr>
          <p:cNvPr id="13" name="Image 4" descr="Symbol Spray">    </p:cNvPr>
          <p:cNvPicPr>
            <a:picLocks noChangeAspect="1"/>
          </p:cNvPicPr>
          <p:nvPr/>
        </p:nvPicPr>
        <p:blipFill>
          <a:blip r:embed="rId5"/>
          <a:stretch>
            <a:fillRect/>
          </a:stretch>
        </p:blipFill>
        <p:spPr>
          <a:xfrm>
            <a:off x="6510833" y="1888236"/>
            <a:ext cx="384048" cy="384048"/>
          </a:xfrm>
          <a:prstGeom prst="rect">
            <a:avLst/>
          </a:prstGeom>
        </p:spPr>
      </p:pic>
      <p:sp>
        <p:nvSpPr>
          <p:cNvPr id="14" name="Text 7"/>
          <p:cNvSpPr txBox="1"/>
          <p:nvPr/>
        </p:nvSpPr>
        <p:spPr>
          <a:xfrm>
            <a:off x="6359957" y="2606040"/>
            <a:ext cx="2377440" cy="1325880"/>
          </a:xfrm>
          <a:prstGeom prst="rect">
            <a:avLst/>
          </a:prstGeom>
          <a:noFill/>
          <a:ln/>
        </p:spPr>
        <p:txBody>
          <a:bodyPr wrap="square" lIns="0" tIns="0" rIns="0" bIns="0" rtlCol="0" anchor="t"/>
          <a:lstStyle/>
          <a:p>
            <a:pPr indent="0" marL="0">
              <a:spcAft>
                <a:spcPts val="300"/>
              </a:spcAft>
              <a:buNone/>
            </a:pPr>
            <a:r>
              <a:rPr lang="de-DE" altLang="en-US" sz="1800" b="1" dirty="0">
                <a:solidFill>
                  <a:srgbClr val="F5F5F2"/>
                </a:solidFill>
                <a:latin typeface="Arial" pitchFamily="34" charset="0"/>
                <a:ea typeface="Arial" pitchFamily="34" charset="-122"/>
                <a:cs typeface="Arial" pitchFamily="34" charset="-120"/>
              </a:rPr>
              <a:t>3  Malen</a:t>
            </a:r>
            <a:endParaRPr lang="de-DE" sz="18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Schicht für Schicht in Acryl oder Öl, mit Pinsel oder Airbrush.</a:t>
            </a:r>
            <a:endParaRPr lang="de-DE" sz="1800" dirty="0"/>
          </a:p>
        </p:txBody>
      </p:sp>
      <p:pic>
        <p:nvPicPr>
          <p:cNvPr id="15" name="Image 5" descr="Pfeil">    </p:cNvPr>
          <p:cNvPicPr>
            <a:picLocks noChangeAspect="1"/>
          </p:cNvPicPr>
          <p:nvPr/>
        </p:nvPicPr>
        <p:blipFill>
          <a:blip r:embed="rId6"/>
          <a:stretch>
            <a:fillRect/>
          </a:stretch>
        </p:blipFill>
        <p:spPr>
          <a:xfrm>
            <a:off x="7972806" y="1897380"/>
            <a:ext cx="365760" cy="365760"/>
          </a:xfrm>
          <a:prstGeom prst="rect">
            <a:avLst/>
          </a:prstGeom>
        </p:spPr>
      </p:pic>
      <p:sp>
        <p:nvSpPr>
          <p:cNvPr id="16" name="Shape 8"/>
          <p:cNvSpPr/>
          <p:nvPr/>
        </p:nvSpPr>
        <p:spPr>
          <a:xfrm>
            <a:off x="9265615" y="1737360"/>
            <a:ext cx="685800" cy="685800"/>
          </a:xfrm>
          <a:prstGeom prst="ellipse">
            <a:avLst/>
          </a:prstGeom>
          <a:solidFill>
            <a:srgbClr val="1C1C1C"/>
          </a:solidFill>
          <a:ln w="15875">
            <a:solidFill>
              <a:srgbClr val="F5B21B"/>
            </a:solidFill>
            <a:prstDash val="solid"/>
          </a:ln>
        </p:spPr>
      </p:sp>
      <p:pic>
        <p:nvPicPr>
          <p:cNvPr id="17" name="Image 6" descr="Symbol Eye">    </p:cNvPr>
          <p:cNvPicPr>
            <a:picLocks noChangeAspect="1"/>
          </p:cNvPicPr>
          <p:nvPr/>
        </p:nvPicPr>
        <p:blipFill>
          <a:blip r:embed="rId7"/>
          <a:stretch>
            <a:fillRect/>
          </a:stretch>
        </p:blipFill>
        <p:spPr>
          <a:xfrm>
            <a:off x="9416491" y="1888236"/>
            <a:ext cx="384048" cy="384048"/>
          </a:xfrm>
          <a:prstGeom prst="rect">
            <a:avLst/>
          </a:prstGeom>
        </p:spPr>
      </p:pic>
      <p:sp>
        <p:nvSpPr>
          <p:cNvPr id="18" name="Text 9"/>
          <p:cNvSpPr txBox="1"/>
          <p:nvPr/>
        </p:nvSpPr>
        <p:spPr>
          <a:xfrm>
            <a:off x="9265615" y="2606040"/>
            <a:ext cx="2377440" cy="1325880"/>
          </a:xfrm>
          <a:prstGeom prst="rect">
            <a:avLst/>
          </a:prstGeom>
          <a:noFill/>
          <a:ln/>
        </p:spPr>
        <p:txBody>
          <a:bodyPr wrap="square" lIns="0" tIns="0" rIns="0" bIns="0" rtlCol="0" anchor="t"/>
          <a:lstStyle/>
          <a:p>
            <a:pPr indent="0" marL="0">
              <a:spcAft>
                <a:spcPts val="300"/>
              </a:spcAft>
              <a:buNone/>
            </a:pPr>
            <a:r>
              <a:rPr lang="de-DE" altLang="en-US" sz="1800" b="1" dirty="0">
                <a:solidFill>
                  <a:srgbClr val="F5F5F2"/>
                </a:solidFill>
                <a:latin typeface="Arial" pitchFamily="34" charset="0"/>
                <a:ea typeface="Arial" pitchFamily="34" charset="-122"/>
                <a:cs typeface="Arial" pitchFamily="34" charset="-120"/>
              </a:rPr>
              <a:t>4  Wirkung</a:t>
            </a:r>
            <a:endParaRPr lang="de-DE" sz="1800" dirty="0"/>
          </a:p>
          <a:p>
            <a:pPr indent="0" marL="0">
              <a:spcAft>
                <a:spcPts val="300"/>
              </a:spcAft>
              <a:buNone/>
            </a:pPr>
            <a:r>
              <a:rPr lang="de-DE" altLang="en-US" sz="1500" dirty="0">
                <a:solidFill>
                  <a:srgbClr val="A8A8A3"/>
                </a:solidFill>
                <a:latin typeface="Arial" pitchFamily="34" charset="0"/>
                <a:ea typeface="Arial" pitchFamily="34" charset="-122"/>
                <a:cs typeface="Arial" pitchFamily="34" charset="-120"/>
              </a:rPr>
              <a:t>Das Gemälde wirkt auf den ersten Blick wie ein Foto.</a:t>
            </a:r>
            <a:endParaRPr lang="de-DE" sz="1800" dirty="0"/>
          </a:p>
        </p:txBody>
      </p:sp>
      <p:sp>
        <p:nvSpPr>
          <p:cNvPr id="19" name="Shape 10"/>
          <p:cNvSpPr/>
          <p:nvPr/>
        </p:nvSpPr>
        <p:spPr>
          <a:xfrm>
            <a:off x="548640" y="3977640"/>
            <a:ext cx="11094415" cy="2240280"/>
          </a:xfrm>
          <a:prstGeom prst="rect">
            <a:avLst/>
          </a:prstGeom>
          <a:solidFill>
            <a:srgbClr val="2E2E2E"/>
          </a:solidFill>
          <a:ln w="9525">
            <a:solidFill>
              <a:srgbClr val="484848"/>
            </a:solidFill>
            <a:prstDash val="solid"/>
          </a:ln>
        </p:spPr>
      </p:sp>
      <p:sp>
        <p:nvSpPr>
          <p:cNvPr id="20" name="Text 11"/>
          <p:cNvSpPr txBox="1"/>
          <p:nvPr/>
        </p:nvSpPr>
        <p:spPr>
          <a:xfrm>
            <a:off x="822960" y="4160520"/>
            <a:ext cx="10545775" cy="365760"/>
          </a:xfrm>
          <a:prstGeom prst="rect">
            <a:avLst/>
          </a:prstGeom>
          <a:noFill/>
          <a:ln/>
        </p:spPr>
        <p:txBody>
          <a:bodyPr wrap="square" lIns="0" tIns="0" rIns="0" bIns="0" rtlCol="0" anchor="ctr"/>
          <a:lstStyle/>
          <a:p>
            <a:pPr indent="0" marL="0">
              <a:buNone/>
            </a:pPr>
            <a:r>
              <a:rPr lang="de-DE" altLang="en-US" sz="1600" b="1" dirty="0">
                <a:solidFill>
                  <a:srgbClr val="F5B21B"/>
                </a:solidFill>
                <a:latin typeface="Arial" pitchFamily="34" charset="0"/>
                <a:ea typeface="Arial" pitchFamily="34" charset="-122"/>
                <a:cs typeface="Arial" pitchFamily="34" charset="-120"/>
              </a:rPr>
              <a:t>Definition nach Louis K. Meisel (formuliert 1972) – ein Fotorealist …</a:t>
            </a:r>
            <a:endParaRPr lang="de-DE" sz="1600" dirty="0"/>
          </a:p>
        </p:txBody>
      </p:sp>
      <p:sp>
        <p:nvSpPr>
          <p:cNvPr id="21" name="Shape 12"/>
          <p:cNvSpPr/>
          <p:nvPr/>
        </p:nvSpPr>
        <p:spPr>
          <a:xfrm>
            <a:off x="822960" y="4681728"/>
            <a:ext cx="310896" cy="310896"/>
          </a:xfrm>
          <a:prstGeom prst="ellipse">
            <a:avLst/>
          </a:prstGeom>
          <a:solidFill>
            <a:srgbClr val="F5B21B"/>
          </a:solidFill>
          <a:ln w="12700">
            <a:solidFill>
              <a:srgbClr val="F5B21B"/>
            </a:solidFill>
            <a:prstDash val="solid"/>
          </a:ln>
        </p:spPr>
      </p:sp>
      <p:sp>
        <p:nvSpPr>
          <p:cNvPr id="22" name="Text 13"/>
          <p:cNvSpPr txBox="1"/>
          <p:nvPr/>
        </p:nvSpPr>
        <p:spPr>
          <a:xfrm>
            <a:off x="822960" y="4681728"/>
            <a:ext cx="310896" cy="310896"/>
          </a:xfrm>
          <a:prstGeom prst="rect">
            <a:avLst/>
          </a:prstGeom>
          <a:noFill/>
          <a:ln/>
        </p:spPr>
        <p:txBody>
          <a:bodyPr wrap="square" lIns="0" tIns="0" rIns="0" bIns="0" rtlCol="0" anchor="ctr"/>
          <a:lstStyle/>
          <a:p>
            <a:pPr algn="ctr" indent="0" marL="0">
              <a:buNone/>
            </a:pPr>
            <a:r>
              <a:rPr lang="de-DE" altLang="en-US" sz="1200" b="1" dirty="0">
                <a:solidFill>
                  <a:srgbClr val="141414"/>
                </a:solidFill>
                <a:latin typeface="Arial" pitchFamily="34" charset="0"/>
                <a:ea typeface="Arial" pitchFamily="34" charset="-122"/>
                <a:cs typeface="Arial" pitchFamily="34" charset="-120"/>
              </a:rPr>
              <a:t>1</a:t>
            </a:r>
            <a:endParaRPr lang="de-DE" sz="1200" dirty="0"/>
          </a:p>
        </p:txBody>
      </p:sp>
      <p:sp>
        <p:nvSpPr>
          <p:cNvPr id="23" name="Text 14"/>
          <p:cNvSpPr txBox="1"/>
          <p:nvPr/>
        </p:nvSpPr>
        <p:spPr>
          <a:xfrm>
            <a:off x="1280160" y="4663440"/>
            <a:ext cx="4678528" cy="475488"/>
          </a:xfrm>
          <a:prstGeom prst="rect">
            <a:avLst/>
          </a:prstGeom>
          <a:noFill/>
          <a:ln/>
        </p:spPr>
        <p:txBody>
          <a:bodyPr wrap="square" lIns="0" tIns="0" rIns="0" bIns="0" rtlCol="0" anchor="t"/>
          <a:lstStyle/>
          <a:p>
            <a:pPr indent="0" marL="0">
              <a:buNone/>
            </a:pPr>
            <a:r>
              <a:rPr lang="de-DE" altLang="en-US" sz="1400" dirty="0">
                <a:solidFill>
                  <a:srgbClr val="F5F5F2"/>
                </a:solidFill>
                <a:latin typeface="Arial" pitchFamily="34" charset="0"/>
                <a:ea typeface="Arial" pitchFamily="34" charset="-122"/>
                <a:cs typeface="Arial" pitchFamily="34" charset="-120"/>
              </a:rPr>
              <a:t>nutzt Kamera und Foto, um Bildinformationen zu sammeln,</a:t>
            </a:r>
            <a:endParaRPr lang="de-DE" sz="1400" dirty="0"/>
          </a:p>
        </p:txBody>
      </p:sp>
      <p:sp>
        <p:nvSpPr>
          <p:cNvPr id="24" name="Shape 15"/>
          <p:cNvSpPr/>
          <p:nvPr/>
        </p:nvSpPr>
        <p:spPr>
          <a:xfrm>
            <a:off x="822960" y="5184648"/>
            <a:ext cx="310896" cy="310896"/>
          </a:xfrm>
          <a:prstGeom prst="ellipse">
            <a:avLst/>
          </a:prstGeom>
          <a:solidFill>
            <a:srgbClr val="F5B21B"/>
          </a:solidFill>
          <a:ln w="12700">
            <a:solidFill>
              <a:srgbClr val="F5B21B"/>
            </a:solidFill>
            <a:prstDash val="solid"/>
          </a:ln>
        </p:spPr>
      </p:sp>
      <p:sp>
        <p:nvSpPr>
          <p:cNvPr id="25" name="Text 16"/>
          <p:cNvSpPr txBox="1"/>
          <p:nvPr/>
        </p:nvSpPr>
        <p:spPr>
          <a:xfrm>
            <a:off x="822960" y="5184648"/>
            <a:ext cx="310896" cy="310896"/>
          </a:xfrm>
          <a:prstGeom prst="rect">
            <a:avLst/>
          </a:prstGeom>
          <a:noFill/>
          <a:ln/>
        </p:spPr>
        <p:txBody>
          <a:bodyPr wrap="square" lIns="0" tIns="0" rIns="0" bIns="0" rtlCol="0" anchor="ctr"/>
          <a:lstStyle/>
          <a:p>
            <a:pPr algn="ctr" indent="0" marL="0">
              <a:buNone/>
            </a:pPr>
            <a:r>
              <a:rPr lang="de-DE" altLang="en-US" sz="1200" b="1" dirty="0">
                <a:solidFill>
                  <a:srgbClr val="141414"/>
                </a:solidFill>
                <a:latin typeface="Arial" pitchFamily="34" charset="0"/>
                <a:ea typeface="Arial" pitchFamily="34" charset="-122"/>
                <a:cs typeface="Arial" pitchFamily="34" charset="-120"/>
              </a:rPr>
              <a:t>2</a:t>
            </a:r>
            <a:endParaRPr lang="de-DE" sz="1200" dirty="0"/>
          </a:p>
        </p:txBody>
      </p:sp>
      <p:sp>
        <p:nvSpPr>
          <p:cNvPr id="26" name="Text 17"/>
          <p:cNvSpPr txBox="1"/>
          <p:nvPr/>
        </p:nvSpPr>
        <p:spPr>
          <a:xfrm>
            <a:off x="1280160" y="5166360"/>
            <a:ext cx="4678528" cy="475488"/>
          </a:xfrm>
          <a:prstGeom prst="rect">
            <a:avLst/>
          </a:prstGeom>
          <a:noFill/>
          <a:ln/>
        </p:spPr>
        <p:txBody>
          <a:bodyPr wrap="square" lIns="0" tIns="0" rIns="0" bIns="0" rtlCol="0" anchor="t"/>
          <a:lstStyle/>
          <a:p>
            <a:pPr indent="0" marL="0">
              <a:buNone/>
            </a:pPr>
            <a:r>
              <a:rPr lang="de-DE" altLang="en-US" sz="1400" dirty="0">
                <a:solidFill>
                  <a:srgbClr val="F5F5F2"/>
                </a:solidFill>
                <a:latin typeface="Arial" pitchFamily="34" charset="0"/>
                <a:ea typeface="Arial" pitchFamily="34" charset="-122"/>
                <a:cs typeface="Arial" pitchFamily="34" charset="-120"/>
              </a:rPr>
              <a:t>überträgt sie mechanisch oder halbmechanisch auf die Leinwand,</a:t>
            </a:r>
            <a:endParaRPr lang="de-DE" sz="1400" dirty="0"/>
          </a:p>
        </p:txBody>
      </p:sp>
      <p:sp>
        <p:nvSpPr>
          <p:cNvPr id="27" name="Shape 18"/>
          <p:cNvSpPr/>
          <p:nvPr/>
        </p:nvSpPr>
        <p:spPr>
          <a:xfrm>
            <a:off x="822960" y="5687568"/>
            <a:ext cx="310896" cy="310896"/>
          </a:xfrm>
          <a:prstGeom prst="ellipse">
            <a:avLst/>
          </a:prstGeom>
          <a:solidFill>
            <a:srgbClr val="F5B21B"/>
          </a:solidFill>
          <a:ln w="12700">
            <a:solidFill>
              <a:srgbClr val="F5B21B"/>
            </a:solidFill>
            <a:prstDash val="solid"/>
          </a:ln>
        </p:spPr>
      </p:sp>
      <p:sp>
        <p:nvSpPr>
          <p:cNvPr id="28" name="Text 19"/>
          <p:cNvSpPr txBox="1"/>
          <p:nvPr/>
        </p:nvSpPr>
        <p:spPr>
          <a:xfrm>
            <a:off x="822960" y="5687568"/>
            <a:ext cx="310896" cy="310896"/>
          </a:xfrm>
          <a:prstGeom prst="rect">
            <a:avLst/>
          </a:prstGeom>
          <a:noFill/>
          <a:ln/>
        </p:spPr>
        <p:txBody>
          <a:bodyPr wrap="square" lIns="0" tIns="0" rIns="0" bIns="0" rtlCol="0" anchor="ctr"/>
          <a:lstStyle/>
          <a:p>
            <a:pPr algn="ctr" indent="0" marL="0">
              <a:buNone/>
            </a:pPr>
            <a:r>
              <a:rPr lang="de-DE" altLang="en-US" sz="1200" b="1" dirty="0">
                <a:solidFill>
                  <a:srgbClr val="141414"/>
                </a:solidFill>
                <a:latin typeface="Arial" pitchFamily="34" charset="0"/>
                <a:ea typeface="Arial" pitchFamily="34" charset="-122"/>
                <a:cs typeface="Arial" pitchFamily="34" charset="-120"/>
              </a:rPr>
              <a:t>3</a:t>
            </a:r>
            <a:endParaRPr lang="de-DE" sz="1200" dirty="0"/>
          </a:p>
        </p:txBody>
      </p:sp>
      <p:sp>
        <p:nvSpPr>
          <p:cNvPr id="29" name="Text 20"/>
          <p:cNvSpPr txBox="1"/>
          <p:nvPr/>
        </p:nvSpPr>
        <p:spPr>
          <a:xfrm>
            <a:off x="1280160" y="5669280"/>
            <a:ext cx="4678528" cy="475488"/>
          </a:xfrm>
          <a:prstGeom prst="rect">
            <a:avLst/>
          </a:prstGeom>
          <a:noFill/>
          <a:ln/>
        </p:spPr>
        <p:txBody>
          <a:bodyPr wrap="square" lIns="0" tIns="0" rIns="0" bIns="0" rtlCol="0" anchor="t"/>
          <a:lstStyle/>
          <a:p>
            <a:pPr indent="0" marL="0">
              <a:buNone/>
            </a:pPr>
            <a:r>
              <a:rPr lang="de-DE" altLang="en-US" sz="1400" dirty="0">
                <a:solidFill>
                  <a:srgbClr val="F5F5F2"/>
                </a:solidFill>
                <a:latin typeface="Arial" pitchFamily="34" charset="0"/>
                <a:ea typeface="Arial" pitchFamily="34" charset="-122"/>
                <a:cs typeface="Arial" pitchFamily="34" charset="-120"/>
              </a:rPr>
              <a:t>hat das technische Können, das Werk fotografisch wirken zu lassen,</a:t>
            </a:r>
            <a:endParaRPr lang="de-DE" sz="1400" dirty="0"/>
          </a:p>
        </p:txBody>
      </p:sp>
      <p:sp>
        <p:nvSpPr>
          <p:cNvPr id="30" name="Shape 21"/>
          <p:cNvSpPr/>
          <p:nvPr/>
        </p:nvSpPr>
        <p:spPr>
          <a:xfrm>
            <a:off x="6233008" y="4681728"/>
            <a:ext cx="310896" cy="310896"/>
          </a:xfrm>
          <a:prstGeom prst="ellipse">
            <a:avLst/>
          </a:prstGeom>
          <a:solidFill>
            <a:srgbClr val="F5B21B"/>
          </a:solidFill>
          <a:ln w="12700">
            <a:solidFill>
              <a:srgbClr val="F5B21B"/>
            </a:solidFill>
            <a:prstDash val="solid"/>
          </a:ln>
        </p:spPr>
      </p:sp>
      <p:sp>
        <p:nvSpPr>
          <p:cNvPr id="31" name="Text 22"/>
          <p:cNvSpPr txBox="1"/>
          <p:nvPr/>
        </p:nvSpPr>
        <p:spPr>
          <a:xfrm>
            <a:off x="6233008" y="4681728"/>
            <a:ext cx="310896" cy="310896"/>
          </a:xfrm>
          <a:prstGeom prst="rect">
            <a:avLst/>
          </a:prstGeom>
          <a:noFill/>
          <a:ln/>
        </p:spPr>
        <p:txBody>
          <a:bodyPr wrap="square" lIns="0" tIns="0" rIns="0" bIns="0" rtlCol="0" anchor="ctr"/>
          <a:lstStyle/>
          <a:p>
            <a:pPr algn="ctr" indent="0" marL="0">
              <a:buNone/>
            </a:pPr>
            <a:r>
              <a:rPr lang="de-DE" altLang="en-US" sz="1200" b="1" dirty="0">
                <a:solidFill>
                  <a:srgbClr val="141414"/>
                </a:solidFill>
                <a:latin typeface="Arial" pitchFamily="34" charset="0"/>
                <a:ea typeface="Arial" pitchFamily="34" charset="-122"/>
                <a:cs typeface="Arial" pitchFamily="34" charset="-120"/>
              </a:rPr>
              <a:t>4</a:t>
            </a:r>
            <a:endParaRPr lang="de-DE" sz="1200" dirty="0"/>
          </a:p>
        </p:txBody>
      </p:sp>
      <p:sp>
        <p:nvSpPr>
          <p:cNvPr id="32" name="Text 23"/>
          <p:cNvSpPr txBox="1"/>
          <p:nvPr/>
        </p:nvSpPr>
        <p:spPr>
          <a:xfrm>
            <a:off x="6690208" y="4663440"/>
            <a:ext cx="4678528" cy="475488"/>
          </a:xfrm>
          <a:prstGeom prst="rect">
            <a:avLst/>
          </a:prstGeom>
          <a:noFill/>
          <a:ln/>
        </p:spPr>
        <p:txBody>
          <a:bodyPr wrap="square" lIns="0" tIns="0" rIns="0" bIns="0" rtlCol="0" anchor="t"/>
          <a:lstStyle/>
          <a:p>
            <a:pPr indent="0" marL="0">
              <a:buNone/>
            </a:pPr>
            <a:r>
              <a:rPr lang="de-DE" altLang="en-US" sz="1400" dirty="0">
                <a:solidFill>
                  <a:srgbClr val="F5F5F2"/>
                </a:solidFill>
                <a:latin typeface="Arial" pitchFamily="34" charset="0"/>
                <a:ea typeface="Arial" pitchFamily="34" charset="-122"/>
                <a:cs typeface="Arial" pitchFamily="34" charset="-120"/>
              </a:rPr>
              <a:t>hat bis 1972 als Fotorealist ausgestellt,</a:t>
            </a:r>
            <a:endParaRPr lang="de-DE" sz="1400" dirty="0"/>
          </a:p>
        </p:txBody>
      </p:sp>
      <p:sp>
        <p:nvSpPr>
          <p:cNvPr id="33" name="Shape 24"/>
          <p:cNvSpPr/>
          <p:nvPr/>
        </p:nvSpPr>
        <p:spPr>
          <a:xfrm>
            <a:off x="6233008" y="5184648"/>
            <a:ext cx="310896" cy="310896"/>
          </a:xfrm>
          <a:prstGeom prst="ellipse">
            <a:avLst/>
          </a:prstGeom>
          <a:solidFill>
            <a:srgbClr val="F5B21B"/>
          </a:solidFill>
          <a:ln w="12700">
            <a:solidFill>
              <a:srgbClr val="F5B21B"/>
            </a:solidFill>
            <a:prstDash val="solid"/>
          </a:ln>
        </p:spPr>
      </p:sp>
      <p:sp>
        <p:nvSpPr>
          <p:cNvPr id="34" name="Text 25"/>
          <p:cNvSpPr txBox="1"/>
          <p:nvPr/>
        </p:nvSpPr>
        <p:spPr>
          <a:xfrm>
            <a:off x="6233008" y="5184648"/>
            <a:ext cx="310896" cy="310896"/>
          </a:xfrm>
          <a:prstGeom prst="rect">
            <a:avLst/>
          </a:prstGeom>
          <a:noFill/>
          <a:ln/>
        </p:spPr>
        <p:txBody>
          <a:bodyPr wrap="square" lIns="0" tIns="0" rIns="0" bIns="0" rtlCol="0" anchor="ctr"/>
          <a:lstStyle/>
          <a:p>
            <a:pPr algn="ctr" indent="0" marL="0">
              <a:buNone/>
            </a:pPr>
            <a:r>
              <a:rPr lang="de-DE" altLang="en-US" sz="1200" b="1" dirty="0">
                <a:solidFill>
                  <a:srgbClr val="141414"/>
                </a:solidFill>
                <a:latin typeface="Arial" pitchFamily="34" charset="0"/>
                <a:ea typeface="Arial" pitchFamily="34" charset="-122"/>
                <a:cs typeface="Arial" pitchFamily="34" charset="-120"/>
              </a:rPr>
              <a:t>5</a:t>
            </a:r>
            <a:endParaRPr lang="de-DE" sz="1200" dirty="0"/>
          </a:p>
        </p:txBody>
      </p:sp>
      <p:sp>
        <p:nvSpPr>
          <p:cNvPr id="35" name="Text 26"/>
          <p:cNvSpPr txBox="1"/>
          <p:nvPr/>
        </p:nvSpPr>
        <p:spPr>
          <a:xfrm>
            <a:off x="6690208" y="5166360"/>
            <a:ext cx="4678528" cy="475488"/>
          </a:xfrm>
          <a:prstGeom prst="rect">
            <a:avLst/>
          </a:prstGeom>
          <a:noFill/>
          <a:ln/>
        </p:spPr>
        <p:txBody>
          <a:bodyPr wrap="square" lIns="0" tIns="0" rIns="0" bIns="0" rtlCol="0" anchor="t"/>
          <a:lstStyle/>
          <a:p>
            <a:pPr indent="0" marL="0">
              <a:buNone/>
            </a:pPr>
            <a:r>
              <a:rPr lang="de-DE" altLang="en-US" sz="1400" dirty="0">
                <a:solidFill>
                  <a:srgbClr val="F5F5F2"/>
                </a:solidFill>
                <a:latin typeface="Arial" pitchFamily="34" charset="0"/>
                <a:ea typeface="Arial" pitchFamily="34" charset="-122"/>
                <a:cs typeface="Arial" pitchFamily="34" charset="-120"/>
              </a:rPr>
              <a:t>hat mindestens fünf Jahre fotorealistisch gearbeitet.</a:t>
            </a:r>
            <a:endParaRPr lang="de-DE" sz="14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02 · ZUSAMMENFASSENDE MERKMALE</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Woran man Fotorealismus erkennt</a:t>
            </a:r>
            <a:endParaRPr lang="de-DE" sz="3200" dirty="0"/>
          </a:p>
        </p:txBody>
      </p:sp>
      <p:sp>
        <p:nvSpPr>
          <p:cNvPr id="4" name="Shape 2"/>
          <p:cNvSpPr/>
          <p:nvPr/>
        </p:nvSpPr>
        <p:spPr>
          <a:xfrm>
            <a:off x="548640" y="1737360"/>
            <a:ext cx="3515258" cy="2011680"/>
          </a:xfrm>
          <a:prstGeom prst="rect">
            <a:avLst/>
          </a:prstGeom>
          <a:solidFill>
            <a:srgbClr val="2E2E2E"/>
          </a:solidFill>
          <a:ln w="9525">
            <a:solidFill>
              <a:srgbClr val="484848"/>
            </a:solidFill>
            <a:prstDash val="solid"/>
          </a:ln>
        </p:spPr>
      </p:sp>
      <p:sp>
        <p:nvSpPr>
          <p:cNvPr id="5" name="Shape 3"/>
          <p:cNvSpPr/>
          <p:nvPr/>
        </p:nvSpPr>
        <p:spPr>
          <a:xfrm>
            <a:off x="777240" y="1965960"/>
            <a:ext cx="566928" cy="566928"/>
          </a:xfrm>
          <a:prstGeom prst="ellipse">
            <a:avLst/>
          </a:prstGeom>
          <a:solidFill>
            <a:srgbClr val="1C1C1C"/>
          </a:solidFill>
          <a:ln w="15875">
            <a:solidFill>
              <a:srgbClr val="F5B21B"/>
            </a:solidFill>
            <a:prstDash val="solid"/>
          </a:ln>
        </p:spPr>
      </p:sp>
      <p:pic>
        <p:nvPicPr>
          <p:cNvPr id="6" name="Image 0" descr="Symbol Camera">    </p:cNvPr>
          <p:cNvPicPr>
            <a:picLocks noChangeAspect="1"/>
          </p:cNvPicPr>
          <p:nvPr/>
        </p:nvPicPr>
        <p:blipFill>
          <a:blip r:embed="rId1"/>
          <a:stretch>
            <a:fillRect/>
          </a:stretch>
        </p:blipFill>
        <p:spPr>
          <a:xfrm>
            <a:off x="901964" y="2090684"/>
            <a:ext cx="317480" cy="317480"/>
          </a:xfrm>
          <a:prstGeom prst="rect">
            <a:avLst/>
          </a:prstGeom>
        </p:spPr>
      </p:pic>
      <p:sp>
        <p:nvSpPr>
          <p:cNvPr id="7" name="Text 4"/>
          <p:cNvSpPr txBox="1"/>
          <p:nvPr/>
        </p:nvSpPr>
        <p:spPr>
          <a:xfrm>
            <a:off x="1508760" y="1965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Foto als Vorlage</a:t>
            </a:r>
            <a:endParaRPr lang="de-DE" sz="1800" dirty="0"/>
          </a:p>
        </p:txBody>
      </p:sp>
      <p:sp>
        <p:nvSpPr>
          <p:cNvPr id="8" name="Text 5"/>
          <p:cNvSpPr txBox="1"/>
          <p:nvPr/>
        </p:nvSpPr>
        <p:spPr>
          <a:xfrm>
            <a:off x="777240" y="2697480"/>
            <a:ext cx="3058058" cy="91440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Kamera statt Skizzenbuch: Gemalt wird nach Fotos oder Dias, nicht vor dem Motiv.</a:t>
            </a:r>
            <a:endParaRPr lang="de-DE" sz="1600" dirty="0"/>
          </a:p>
        </p:txBody>
      </p:sp>
      <p:sp>
        <p:nvSpPr>
          <p:cNvPr id="9" name="Shape 6"/>
          <p:cNvSpPr/>
          <p:nvPr/>
        </p:nvSpPr>
        <p:spPr>
          <a:xfrm>
            <a:off x="4338218" y="1737360"/>
            <a:ext cx="3515258" cy="2011680"/>
          </a:xfrm>
          <a:prstGeom prst="rect">
            <a:avLst/>
          </a:prstGeom>
          <a:solidFill>
            <a:srgbClr val="2E2E2E"/>
          </a:solidFill>
          <a:ln w="9525">
            <a:solidFill>
              <a:srgbClr val="484848"/>
            </a:solidFill>
            <a:prstDash val="solid"/>
          </a:ln>
        </p:spPr>
      </p:sp>
      <p:sp>
        <p:nvSpPr>
          <p:cNvPr id="10" name="Shape 7"/>
          <p:cNvSpPr/>
          <p:nvPr/>
        </p:nvSpPr>
        <p:spPr>
          <a:xfrm>
            <a:off x="4566818" y="1965960"/>
            <a:ext cx="566928" cy="566928"/>
          </a:xfrm>
          <a:prstGeom prst="ellipse">
            <a:avLst/>
          </a:prstGeom>
          <a:solidFill>
            <a:srgbClr val="1C1C1C"/>
          </a:solidFill>
          <a:ln w="15875">
            <a:solidFill>
              <a:srgbClr val="F5B21B"/>
            </a:solidFill>
            <a:prstDash val="solid"/>
          </a:ln>
        </p:spPr>
      </p:sp>
      <p:pic>
        <p:nvPicPr>
          <p:cNvPr id="11" name="Image 1" descr="Symbol Grid3X3">    </p:cNvPr>
          <p:cNvPicPr>
            <a:picLocks noChangeAspect="1"/>
          </p:cNvPicPr>
          <p:nvPr/>
        </p:nvPicPr>
        <p:blipFill>
          <a:blip r:embed="rId2"/>
          <a:stretch>
            <a:fillRect/>
          </a:stretch>
        </p:blipFill>
        <p:spPr>
          <a:xfrm>
            <a:off x="4691543" y="2090684"/>
            <a:ext cx="317480" cy="317480"/>
          </a:xfrm>
          <a:prstGeom prst="rect">
            <a:avLst/>
          </a:prstGeom>
        </p:spPr>
      </p:pic>
      <p:sp>
        <p:nvSpPr>
          <p:cNvPr id="12" name="Text 8"/>
          <p:cNvSpPr txBox="1"/>
          <p:nvPr/>
        </p:nvSpPr>
        <p:spPr>
          <a:xfrm>
            <a:off x="5298338" y="1965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Mechanische Übertragung</a:t>
            </a:r>
            <a:endParaRPr lang="de-DE" sz="1800" dirty="0"/>
          </a:p>
        </p:txBody>
      </p:sp>
      <p:sp>
        <p:nvSpPr>
          <p:cNvPr id="13" name="Text 9"/>
          <p:cNvSpPr txBox="1"/>
          <p:nvPr/>
        </p:nvSpPr>
        <p:spPr>
          <a:xfrm>
            <a:off x="4566818" y="2697480"/>
            <a:ext cx="3058058" cy="91440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Mit Rasternetz oder Diaprojektor wird das Foto genau übertragen.</a:t>
            </a:r>
            <a:endParaRPr lang="de-DE" sz="1600" dirty="0"/>
          </a:p>
        </p:txBody>
      </p:sp>
      <p:sp>
        <p:nvSpPr>
          <p:cNvPr id="14" name="Shape 10"/>
          <p:cNvSpPr/>
          <p:nvPr/>
        </p:nvSpPr>
        <p:spPr>
          <a:xfrm>
            <a:off x="8127797" y="1737360"/>
            <a:ext cx="3515258" cy="2011680"/>
          </a:xfrm>
          <a:prstGeom prst="rect">
            <a:avLst/>
          </a:prstGeom>
          <a:solidFill>
            <a:srgbClr val="2E2E2E"/>
          </a:solidFill>
          <a:ln w="9525">
            <a:solidFill>
              <a:srgbClr val="484848"/>
            </a:solidFill>
            <a:prstDash val="solid"/>
          </a:ln>
        </p:spPr>
      </p:sp>
      <p:sp>
        <p:nvSpPr>
          <p:cNvPr id="15" name="Shape 11"/>
          <p:cNvSpPr/>
          <p:nvPr/>
        </p:nvSpPr>
        <p:spPr>
          <a:xfrm>
            <a:off x="8356397" y="1965960"/>
            <a:ext cx="566928" cy="566928"/>
          </a:xfrm>
          <a:prstGeom prst="ellipse">
            <a:avLst/>
          </a:prstGeom>
          <a:solidFill>
            <a:srgbClr val="1C1C1C"/>
          </a:solidFill>
          <a:ln w="15875">
            <a:solidFill>
              <a:srgbClr val="F5B21B"/>
            </a:solidFill>
            <a:prstDash val="solid"/>
          </a:ln>
        </p:spPr>
      </p:sp>
      <p:pic>
        <p:nvPicPr>
          <p:cNvPr id="16" name="Image 2" descr="Symbol Spray">    </p:cNvPr>
          <p:cNvPicPr>
            <a:picLocks noChangeAspect="1"/>
          </p:cNvPicPr>
          <p:nvPr/>
        </p:nvPicPr>
        <p:blipFill>
          <a:blip r:embed="rId3"/>
          <a:stretch>
            <a:fillRect/>
          </a:stretch>
        </p:blipFill>
        <p:spPr>
          <a:xfrm>
            <a:off x="8481121" y="2090684"/>
            <a:ext cx="317480" cy="317480"/>
          </a:xfrm>
          <a:prstGeom prst="rect">
            <a:avLst/>
          </a:prstGeom>
        </p:spPr>
      </p:pic>
      <p:sp>
        <p:nvSpPr>
          <p:cNvPr id="17" name="Text 12"/>
          <p:cNvSpPr txBox="1"/>
          <p:nvPr/>
        </p:nvSpPr>
        <p:spPr>
          <a:xfrm>
            <a:off x="9087917" y="1965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Keine Handschrift</a:t>
            </a:r>
            <a:endParaRPr lang="de-DE" sz="1800" dirty="0"/>
          </a:p>
        </p:txBody>
      </p:sp>
      <p:sp>
        <p:nvSpPr>
          <p:cNvPr id="18" name="Text 13"/>
          <p:cNvSpPr txBox="1"/>
          <p:nvPr/>
        </p:nvSpPr>
        <p:spPr>
          <a:xfrm>
            <a:off x="8356397" y="2697480"/>
            <a:ext cx="3058058" cy="91440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Glatte Oberfläche ohne sichtbare Pinselspuren – mit feinem Pinsel oder Airbrush.</a:t>
            </a:r>
            <a:endParaRPr lang="de-DE" sz="1600" dirty="0"/>
          </a:p>
        </p:txBody>
      </p:sp>
      <p:sp>
        <p:nvSpPr>
          <p:cNvPr id="19" name="Shape 14"/>
          <p:cNvSpPr/>
          <p:nvPr/>
        </p:nvSpPr>
        <p:spPr>
          <a:xfrm>
            <a:off x="548640" y="4023360"/>
            <a:ext cx="3515258" cy="2011680"/>
          </a:xfrm>
          <a:prstGeom prst="rect">
            <a:avLst/>
          </a:prstGeom>
          <a:solidFill>
            <a:srgbClr val="2E2E2E"/>
          </a:solidFill>
          <a:ln w="9525">
            <a:solidFill>
              <a:srgbClr val="484848"/>
            </a:solidFill>
            <a:prstDash val="solid"/>
          </a:ln>
        </p:spPr>
      </p:sp>
      <p:sp>
        <p:nvSpPr>
          <p:cNvPr id="20" name="Shape 15"/>
          <p:cNvSpPr/>
          <p:nvPr/>
        </p:nvSpPr>
        <p:spPr>
          <a:xfrm>
            <a:off x="777240" y="4251960"/>
            <a:ext cx="566928" cy="566928"/>
          </a:xfrm>
          <a:prstGeom prst="ellipse">
            <a:avLst/>
          </a:prstGeom>
          <a:solidFill>
            <a:srgbClr val="1C1C1C"/>
          </a:solidFill>
          <a:ln w="15875">
            <a:solidFill>
              <a:srgbClr val="F5B21B"/>
            </a:solidFill>
            <a:prstDash val="solid"/>
          </a:ln>
        </p:spPr>
      </p:sp>
      <p:pic>
        <p:nvPicPr>
          <p:cNvPr id="21" name="Image 3" descr="Symbol Focus2">    </p:cNvPr>
          <p:cNvPicPr>
            <a:picLocks noChangeAspect="1"/>
          </p:cNvPicPr>
          <p:nvPr/>
        </p:nvPicPr>
        <p:blipFill>
          <a:blip r:embed="rId4"/>
          <a:stretch>
            <a:fillRect/>
          </a:stretch>
        </p:blipFill>
        <p:spPr>
          <a:xfrm>
            <a:off x="901964" y="4376684"/>
            <a:ext cx="317480" cy="317480"/>
          </a:xfrm>
          <a:prstGeom prst="rect">
            <a:avLst/>
          </a:prstGeom>
        </p:spPr>
      </p:pic>
      <p:sp>
        <p:nvSpPr>
          <p:cNvPr id="22" name="Text 16"/>
          <p:cNvSpPr txBox="1"/>
          <p:nvPr/>
        </p:nvSpPr>
        <p:spPr>
          <a:xfrm>
            <a:off x="1508760" y="4251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Fotografischer Blick</a:t>
            </a:r>
            <a:endParaRPr lang="de-DE" sz="1800" dirty="0"/>
          </a:p>
        </p:txBody>
      </p:sp>
      <p:sp>
        <p:nvSpPr>
          <p:cNvPr id="23" name="Text 17"/>
          <p:cNvSpPr txBox="1"/>
          <p:nvPr/>
        </p:nvSpPr>
        <p:spPr>
          <a:xfrm>
            <a:off x="777240" y="4983480"/>
            <a:ext cx="3058058" cy="91440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Ausschnitt, Licht und Spiegelungen – manchmal sogar die Unschärfe – stammen aus dem Foto.</a:t>
            </a:r>
            <a:endParaRPr lang="de-DE" sz="1600" dirty="0"/>
          </a:p>
        </p:txBody>
      </p:sp>
      <p:sp>
        <p:nvSpPr>
          <p:cNvPr id="24" name="Shape 18"/>
          <p:cNvSpPr/>
          <p:nvPr/>
        </p:nvSpPr>
        <p:spPr>
          <a:xfrm>
            <a:off x="4338218" y="4023360"/>
            <a:ext cx="3515258" cy="2011680"/>
          </a:xfrm>
          <a:prstGeom prst="rect">
            <a:avLst/>
          </a:prstGeom>
          <a:solidFill>
            <a:srgbClr val="2E2E2E"/>
          </a:solidFill>
          <a:ln w="9525">
            <a:solidFill>
              <a:srgbClr val="484848"/>
            </a:solidFill>
            <a:prstDash val="solid"/>
          </a:ln>
        </p:spPr>
      </p:sp>
      <p:sp>
        <p:nvSpPr>
          <p:cNvPr id="25" name="Shape 19"/>
          <p:cNvSpPr/>
          <p:nvPr/>
        </p:nvSpPr>
        <p:spPr>
          <a:xfrm>
            <a:off x="4566818" y="4251960"/>
            <a:ext cx="566928" cy="566928"/>
          </a:xfrm>
          <a:prstGeom prst="ellipse">
            <a:avLst/>
          </a:prstGeom>
          <a:solidFill>
            <a:srgbClr val="1C1C1C"/>
          </a:solidFill>
          <a:ln w="15875">
            <a:solidFill>
              <a:srgbClr val="F5B21B"/>
            </a:solidFill>
            <a:prstDash val="solid"/>
          </a:ln>
        </p:spPr>
      </p:sp>
      <p:pic>
        <p:nvPicPr>
          <p:cNvPr id="26" name="Image 4" descr="Symbol ArrowsMaximize">    </p:cNvPr>
          <p:cNvPicPr>
            <a:picLocks noChangeAspect="1"/>
          </p:cNvPicPr>
          <p:nvPr/>
        </p:nvPicPr>
        <p:blipFill>
          <a:blip r:embed="rId5"/>
          <a:stretch>
            <a:fillRect/>
          </a:stretch>
        </p:blipFill>
        <p:spPr>
          <a:xfrm>
            <a:off x="4691543" y="4376684"/>
            <a:ext cx="317480" cy="317480"/>
          </a:xfrm>
          <a:prstGeom prst="rect">
            <a:avLst/>
          </a:prstGeom>
        </p:spPr>
      </p:pic>
      <p:sp>
        <p:nvSpPr>
          <p:cNvPr id="27" name="Text 20"/>
          <p:cNvSpPr txBox="1"/>
          <p:nvPr/>
        </p:nvSpPr>
        <p:spPr>
          <a:xfrm>
            <a:off x="5298338" y="4251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Großformat</a:t>
            </a:r>
            <a:endParaRPr lang="de-DE" sz="1800" dirty="0"/>
          </a:p>
        </p:txBody>
      </p:sp>
      <p:sp>
        <p:nvSpPr>
          <p:cNvPr id="28" name="Text 21"/>
          <p:cNvSpPr txBox="1"/>
          <p:nvPr/>
        </p:nvSpPr>
        <p:spPr>
          <a:xfrm>
            <a:off x="4566818" y="4983480"/>
            <a:ext cx="3058058" cy="91440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Oft über 1,5 m groß, manche mehrere Meter (Gertsch: 4 × 6 m).</a:t>
            </a:r>
            <a:endParaRPr lang="de-DE" sz="1600" dirty="0"/>
          </a:p>
        </p:txBody>
      </p:sp>
      <p:sp>
        <p:nvSpPr>
          <p:cNvPr id="29" name="Shape 22"/>
          <p:cNvSpPr/>
          <p:nvPr/>
        </p:nvSpPr>
        <p:spPr>
          <a:xfrm>
            <a:off x="8127797" y="4023360"/>
            <a:ext cx="3515258" cy="2011680"/>
          </a:xfrm>
          <a:prstGeom prst="rect">
            <a:avLst/>
          </a:prstGeom>
          <a:solidFill>
            <a:srgbClr val="2E2E2E"/>
          </a:solidFill>
          <a:ln w="9525">
            <a:solidFill>
              <a:srgbClr val="484848"/>
            </a:solidFill>
            <a:prstDash val="solid"/>
          </a:ln>
        </p:spPr>
      </p:sp>
      <p:sp>
        <p:nvSpPr>
          <p:cNvPr id="30" name="Shape 23"/>
          <p:cNvSpPr/>
          <p:nvPr/>
        </p:nvSpPr>
        <p:spPr>
          <a:xfrm>
            <a:off x="8356397" y="4251960"/>
            <a:ext cx="566928" cy="566928"/>
          </a:xfrm>
          <a:prstGeom prst="ellipse">
            <a:avLst/>
          </a:prstGeom>
          <a:solidFill>
            <a:srgbClr val="1C1C1C"/>
          </a:solidFill>
          <a:ln w="15875">
            <a:solidFill>
              <a:srgbClr val="F5B21B"/>
            </a:solidFill>
            <a:prstDash val="solid"/>
          </a:ln>
        </p:spPr>
      </p:sp>
      <p:pic>
        <p:nvPicPr>
          <p:cNvPr id="31" name="Image 5" descr="Symbol BuildingStore">    </p:cNvPr>
          <p:cNvPicPr>
            <a:picLocks noChangeAspect="1"/>
          </p:cNvPicPr>
          <p:nvPr/>
        </p:nvPicPr>
        <p:blipFill>
          <a:blip r:embed="rId6"/>
          <a:stretch>
            <a:fillRect/>
          </a:stretch>
        </p:blipFill>
        <p:spPr>
          <a:xfrm>
            <a:off x="8481121" y="4376684"/>
            <a:ext cx="317480" cy="317480"/>
          </a:xfrm>
          <a:prstGeom prst="rect">
            <a:avLst/>
          </a:prstGeom>
        </p:spPr>
      </p:pic>
      <p:sp>
        <p:nvSpPr>
          <p:cNvPr id="32" name="Text 24"/>
          <p:cNvSpPr txBox="1"/>
          <p:nvPr/>
        </p:nvSpPr>
        <p:spPr>
          <a:xfrm>
            <a:off x="9087917" y="4251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Alltag &amp; Neutralität</a:t>
            </a:r>
            <a:endParaRPr lang="de-DE" sz="1800" dirty="0"/>
          </a:p>
        </p:txBody>
      </p:sp>
      <p:sp>
        <p:nvSpPr>
          <p:cNvPr id="33" name="Text 25"/>
          <p:cNvSpPr txBox="1"/>
          <p:nvPr/>
        </p:nvSpPr>
        <p:spPr>
          <a:xfrm>
            <a:off x="8356397" y="4983480"/>
            <a:ext cx="3058058" cy="91440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Banale Motive, kühl und ohne erkennbare Wertung dargestellt.</a:t>
            </a:r>
            <a:endParaRPr lang="de-DE"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02 · MERKMALE AM BILDBEISPIEL</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Richard Estes: Spiegelung und Schärfe</a:t>
            </a:r>
            <a:endParaRPr lang="de-DE" sz="3200" dirty="0"/>
          </a:p>
        </p:txBody>
      </p:sp>
      <p:sp>
        <p:nvSpPr>
          <p:cNvPr id="4" name="Bildplatzhalter estes_booths"/>
          <p:cNvSpPr/>
          <p:nvPr/>
        </p:nvSpPr>
        <p:spPr>
          <a:xfrm>
            <a:off x="640080" y="1783080"/>
            <a:ext cx="5387370" cy="374904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3082305" y="3108960"/>
            <a:ext cx="502920" cy="502920"/>
          </a:xfrm>
          <a:prstGeom prst="rect">
            <a:avLst/>
          </a:prstGeom>
        </p:spPr>
      </p:pic>
      <p:sp>
        <p:nvSpPr>
          <p:cNvPr id="6" name="Text 3"/>
          <p:cNvSpPr txBox="1"/>
          <p:nvPr/>
        </p:nvSpPr>
        <p:spPr>
          <a:xfrm>
            <a:off x="777240" y="3675888"/>
            <a:ext cx="5113050"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Richard Estes: Telephone Booths</a:t>
            </a:r>
            <a:endParaRPr lang="de-DE" sz="1100" dirty="0"/>
          </a:p>
        </p:txBody>
      </p:sp>
      <p:sp>
        <p:nvSpPr>
          <p:cNvPr id="7" name="Shape 4"/>
          <p:cNvSpPr/>
          <p:nvPr/>
        </p:nvSpPr>
        <p:spPr>
          <a:xfrm>
            <a:off x="548640" y="1691640"/>
            <a:ext cx="237744" cy="0"/>
          </a:xfrm>
          <a:prstGeom prst="line">
            <a:avLst/>
          </a:prstGeom>
          <a:noFill/>
          <a:ln w="25400">
            <a:solidFill>
              <a:srgbClr val="F5B21B"/>
            </a:solidFill>
            <a:prstDash val="solid"/>
          </a:ln>
        </p:spPr>
      </p:sp>
      <p:sp>
        <p:nvSpPr>
          <p:cNvPr id="8" name="Shape 5"/>
          <p:cNvSpPr/>
          <p:nvPr/>
        </p:nvSpPr>
        <p:spPr>
          <a:xfrm>
            <a:off x="548640" y="1691640"/>
            <a:ext cx="0" cy="237744"/>
          </a:xfrm>
          <a:prstGeom prst="line">
            <a:avLst/>
          </a:prstGeom>
          <a:noFill/>
          <a:ln w="25400">
            <a:solidFill>
              <a:srgbClr val="F5B21B"/>
            </a:solidFill>
            <a:prstDash val="solid"/>
          </a:ln>
        </p:spPr>
      </p:sp>
      <p:sp>
        <p:nvSpPr>
          <p:cNvPr id="9" name="Shape 6"/>
          <p:cNvSpPr/>
          <p:nvPr/>
        </p:nvSpPr>
        <p:spPr>
          <a:xfrm>
            <a:off x="5881146" y="1691640"/>
            <a:ext cx="237744" cy="0"/>
          </a:xfrm>
          <a:prstGeom prst="line">
            <a:avLst/>
          </a:prstGeom>
          <a:noFill/>
          <a:ln w="25400">
            <a:solidFill>
              <a:srgbClr val="F5B21B"/>
            </a:solidFill>
            <a:prstDash val="solid"/>
          </a:ln>
        </p:spPr>
      </p:sp>
      <p:sp>
        <p:nvSpPr>
          <p:cNvPr id="10" name="Shape 7"/>
          <p:cNvSpPr/>
          <p:nvPr/>
        </p:nvSpPr>
        <p:spPr>
          <a:xfrm>
            <a:off x="6118890" y="1691640"/>
            <a:ext cx="0" cy="237744"/>
          </a:xfrm>
          <a:prstGeom prst="line">
            <a:avLst/>
          </a:prstGeom>
          <a:noFill/>
          <a:ln w="25400">
            <a:solidFill>
              <a:srgbClr val="F5B21B"/>
            </a:solidFill>
            <a:prstDash val="solid"/>
          </a:ln>
        </p:spPr>
      </p:sp>
      <p:sp>
        <p:nvSpPr>
          <p:cNvPr id="11" name="Shape 8"/>
          <p:cNvSpPr/>
          <p:nvPr/>
        </p:nvSpPr>
        <p:spPr>
          <a:xfrm>
            <a:off x="548640" y="5623560"/>
            <a:ext cx="237744" cy="0"/>
          </a:xfrm>
          <a:prstGeom prst="line">
            <a:avLst/>
          </a:prstGeom>
          <a:noFill/>
          <a:ln w="25400">
            <a:solidFill>
              <a:srgbClr val="F5B21B"/>
            </a:solidFill>
            <a:prstDash val="solid"/>
          </a:ln>
        </p:spPr>
      </p:sp>
      <p:sp>
        <p:nvSpPr>
          <p:cNvPr id="12" name="Shape 9"/>
          <p:cNvSpPr/>
          <p:nvPr/>
        </p:nvSpPr>
        <p:spPr>
          <a:xfrm>
            <a:off x="548640" y="5385816"/>
            <a:ext cx="0" cy="237744"/>
          </a:xfrm>
          <a:prstGeom prst="line">
            <a:avLst/>
          </a:prstGeom>
          <a:noFill/>
          <a:ln w="25400">
            <a:solidFill>
              <a:srgbClr val="F5B21B"/>
            </a:solidFill>
            <a:prstDash val="solid"/>
          </a:ln>
        </p:spPr>
      </p:sp>
      <p:sp>
        <p:nvSpPr>
          <p:cNvPr id="13" name="Shape 10"/>
          <p:cNvSpPr/>
          <p:nvPr/>
        </p:nvSpPr>
        <p:spPr>
          <a:xfrm>
            <a:off x="5881146" y="5623560"/>
            <a:ext cx="237744" cy="0"/>
          </a:xfrm>
          <a:prstGeom prst="line">
            <a:avLst/>
          </a:prstGeom>
          <a:noFill/>
          <a:ln w="25400">
            <a:solidFill>
              <a:srgbClr val="F5B21B"/>
            </a:solidFill>
            <a:prstDash val="solid"/>
          </a:ln>
        </p:spPr>
      </p:sp>
      <p:sp>
        <p:nvSpPr>
          <p:cNvPr id="14" name="Shape 11"/>
          <p:cNvSpPr/>
          <p:nvPr/>
        </p:nvSpPr>
        <p:spPr>
          <a:xfrm>
            <a:off x="6118890" y="5385816"/>
            <a:ext cx="0" cy="237744"/>
          </a:xfrm>
          <a:prstGeom prst="line">
            <a:avLst/>
          </a:prstGeom>
          <a:noFill/>
          <a:ln w="25400">
            <a:solidFill>
              <a:srgbClr val="F5B21B"/>
            </a:solidFill>
            <a:prstDash val="solid"/>
          </a:ln>
        </p:spPr>
      </p:sp>
      <p:sp>
        <p:nvSpPr>
          <p:cNvPr id="15" name="Text 12"/>
          <p:cNvSpPr txBox="1"/>
          <p:nvPr/>
        </p:nvSpPr>
        <p:spPr>
          <a:xfrm>
            <a:off x="640080" y="5760720"/>
            <a:ext cx="5387370" cy="64008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Richard Estes,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Telephone Booths</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1967</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„Telefonzellen“ · Acryl auf Masonit, 122 × 175,3 cm · Museo Nacional Thyssen-Bornemisza, Madrid</a:t>
            </a:r>
            <a:endParaRPr lang="de-DE" sz="1300" dirty="0"/>
          </a:p>
        </p:txBody>
      </p:sp>
      <p:sp>
        <p:nvSpPr>
          <p:cNvPr id="16" name="Shape 13"/>
          <p:cNvSpPr/>
          <p:nvPr/>
        </p:nvSpPr>
        <p:spPr>
          <a:xfrm>
            <a:off x="6667530" y="1755648"/>
            <a:ext cx="384048" cy="384048"/>
          </a:xfrm>
          <a:prstGeom prst="ellipse">
            <a:avLst/>
          </a:prstGeom>
          <a:solidFill>
            <a:srgbClr val="F5B21B"/>
          </a:solidFill>
          <a:ln w="12700">
            <a:solidFill>
              <a:srgbClr val="F5B21B"/>
            </a:solidFill>
            <a:prstDash val="solid"/>
          </a:ln>
        </p:spPr>
      </p:sp>
      <p:sp>
        <p:nvSpPr>
          <p:cNvPr id="17" name="Text 14"/>
          <p:cNvSpPr txBox="1"/>
          <p:nvPr/>
        </p:nvSpPr>
        <p:spPr>
          <a:xfrm>
            <a:off x="6667530" y="1755648"/>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1</a:t>
            </a:r>
            <a:endParaRPr lang="de-DE" sz="1400" dirty="0"/>
          </a:p>
        </p:txBody>
      </p:sp>
      <p:sp>
        <p:nvSpPr>
          <p:cNvPr id="18" name="Text 15"/>
          <p:cNvSpPr txBox="1"/>
          <p:nvPr/>
        </p:nvSpPr>
        <p:spPr>
          <a:xfrm>
            <a:off x="7216170" y="1737360"/>
            <a:ext cx="4426885" cy="822960"/>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Spiegelungen</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Glas und Metall spiegeln Gebäude, Autos und Schilder – Markenzeichen von Estes.</a:t>
            </a:r>
            <a:endParaRPr lang="de-DE" sz="1600" dirty="0"/>
          </a:p>
        </p:txBody>
      </p:sp>
      <p:sp>
        <p:nvSpPr>
          <p:cNvPr id="19" name="Shape 16"/>
          <p:cNvSpPr/>
          <p:nvPr/>
        </p:nvSpPr>
        <p:spPr>
          <a:xfrm>
            <a:off x="6667530" y="2651760"/>
            <a:ext cx="384048" cy="384048"/>
          </a:xfrm>
          <a:prstGeom prst="ellipse">
            <a:avLst/>
          </a:prstGeom>
          <a:solidFill>
            <a:srgbClr val="F5B21B"/>
          </a:solidFill>
          <a:ln w="12700">
            <a:solidFill>
              <a:srgbClr val="F5B21B"/>
            </a:solidFill>
            <a:prstDash val="solid"/>
          </a:ln>
        </p:spPr>
      </p:sp>
      <p:sp>
        <p:nvSpPr>
          <p:cNvPr id="20" name="Text 17"/>
          <p:cNvSpPr txBox="1"/>
          <p:nvPr/>
        </p:nvSpPr>
        <p:spPr>
          <a:xfrm>
            <a:off x="6667530" y="2651760"/>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2</a:t>
            </a:r>
            <a:endParaRPr lang="de-DE" sz="1400" dirty="0"/>
          </a:p>
        </p:txBody>
      </p:sp>
      <p:sp>
        <p:nvSpPr>
          <p:cNvPr id="21" name="Text 18"/>
          <p:cNvSpPr txBox="1"/>
          <p:nvPr/>
        </p:nvSpPr>
        <p:spPr>
          <a:xfrm>
            <a:off x="7216170" y="2633472"/>
            <a:ext cx="4426885" cy="822960"/>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Durchgehende Schärfe</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Vorder- und Hintergrund sind gleich scharf – mehr, als Auge oder Kamera auf einmal schaffen.</a:t>
            </a:r>
            <a:endParaRPr lang="de-DE" sz="1600" dirty="0"/>
          </a:p>
        </p:txBody>
      </p:sp>
      <p:sp>
        <p:nvSpPr>
          <p:cNvPr id="22" name="Shape 19"/>
          <p:cNvSpPr/>
          <p:nvPr/>
        </p:nvSpPr>
        <p:spPr>
          <a:xfrm>
            <a:off x="6667530" y="3547872"/>
            <a:ext cx="384048" cy="384048"/>
          </a:xfrm>
          <a:prstGeom prst="ellipse">
            <a:avLst/>
          </a:prstGeom>
          <a:solidFill>
            <a:srgbClr val="F5B21B"/>
          </a:solidFill>
          <a:ln w="12700">
            <a:solidFill>
              <a:srgbClr val="F5B21B"/>
            </a:solidFill>
            <a:prstDash val="solid"/>
          </a:ln>
        </p:spPr>
      </p:sp>
      <p:sp>
        <p:nvSpPr>
          <p:cNvPr id="23" name="Text 20"/>
          <p:cNvSpPr txBox="1"/>
          <p:nvPr/>
        </p:nvSpPr>
        <p:spPr>
          <a:xfrm>
            <a:off x="6667530" y="3547872"/>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3</a:t>
            </a:r>
            <a:endParaRPr lang="de-DE" sz="1400" dirty="0"/>
          </a:p>
        </p:txBody>
      </p:sp>
      <p:sp>
        <p:nvSpPr>
          <p:cNvPr id="24" name="Text 21"/>
          <p:cNvSpPr txBox="1"/>
          <p:nvPr/>
        </p:nvSpPr>
        <p:spPr>
          <a:xfrm>
            <a:off x="7216170" y="3529584"/>
            <a:ext cx="4426885" cy="822960"/>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Mehrere Fotos als Vorlage</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Estes malt ohne Projektor und setzt eigene Fotos zusammen.</a:t>
            </a:r>
            <a:endParaRPr lang="de-DE" sz="1600" dirty="0"/>
          </a:p>
        </p:txBody>
      </p:sp>
      <p:sp>
        <p:nvSpPr>
          <p:cNvPr id="25" name="Shape 22"/>
          <p:cNvSpPr/>
          <p:nvPr/>
        </p:nvSpPr>
        <p:spPr>
          <a:xfrm>
            <a:off x="6667530" y="4443984"/>
            <a:ext cx="384048" cy="384048"/>
          </a:xfrm>
          <a:prstGeom prst="ellipse">
            <a:avLst/>
          </a:prstGeom>
          <a:solidFill>
            <a:srgbClr val="F5B21B"/>
          </a:solidFill>
          <a:ln w="12700">
            <a:solidFill>
              <a:srgbClr val="F5B21B"/>
            </a:solidFill>
            <a:prstDash val="solid"/>
          </a:ln>
        </p:spPr>
      </p:sp>
      <p:sp>
        <p:nvSpPr>
          <p:cNvPr id="26" name="Text 23"/>
          <p:cNvSpPr txBox="1"/>
          <p:nvPr/>
        </p:nvSpPr>
        <p:spPr>
          <a:xfrm>
            <a:off x="6667530" y="4443984"/>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4</a:t>
            </a:r>
            <a:endParaRPr lang="de-DE" sz="1400" dirty="0"/>
          </a:p>
        </p:txBody>
      </p:sp>
      <p:sp>
        <p:nvSpPr>
          <p:cNvPr id="27" name="Text 24"/>
          <p:cNvSpPr txBox="1"/>
          <p:nvPr/>
        </p:nvSpPr>
        <p:spPr>
          <a:xfrm>
            <a:off x="7216170" y="4425696"/>
            <a:ext cx="4426885" cy="822960"/>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Keine Handschrift</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Glatte Acrylmalerei ohne sichtbaren Pinselstrich.</a:t>
            </a:r>
            <a:endParaRPr lang="de-DE" sz="1600" dirty="0"/>
          </a:p>
        </p:txBody>
      </p:sp>
      <p:sp>
        <p:nvSpPr>
          <p:cNvPr id="28" name="Shape 25"/>
          <p:cNvSpPr/>
          <p:nvPr/>
        </p:nvSpPr>
        <p:spPr>
          <a:xfrm>
            <a:off x="6667530" y="5340096"/>
            <a:ext cx="384048" cy="384048"/>
          </a:xfrm>
          <a:prstGeom prst="ellipse">
            <a:avLst/>
          </a:prstGeom>
          <a:solidFill>
            <a:srgbClr val="F5B21B"/>
          </a:solidFill>
          <a:ln w="12700">
            <a:solidFill>
              <a:srgbClr val="F5B21B"/>
            </a:solidFill>
            <a:prstDash val="solid"/>
          </a:ln>
        </p:spPr>
      </p:sp>
      <p:sp>
        <p:nvSpPr>
          <p:cNvPr id="29" name="Text 26"/>
          <p:cNvSpPr txBox="1"/>
          <p:nvPr/>
        </p:nvSpPr>
        <p:spPr>
          <a:xfrm>
            <a:off x="6667530" y="5340096"/>
            <a:ext cx="384048" cy="384048"/>
          </a:xfrm>
          <a:prstGeom prst="rect">
            <a:avLst/>
          </a:prstGeom>
          <a:noFill/>
          <a:ln/>
        </p:spPr>
        <p:txBody>
          <a:bodyPr wrap="square" lIns="0" tIns="0" rIns="0" bIns="0" rtlCol="0" anchor="ctr"/>
          <a:lstStyle/>
          <a:p>
            <a:pPr algn="ctr" indent="0" marL="0">
              <a:buNone/>
            </a:pPr>
            <a:r>
              <a:rPr lang="de-DE" altLang="en-US" sz="1400" b="1" dirty="0">
                <a:solidFill>
                  <a:srgbClr val="141414"/>
                </a:solidFill>
                <a:latin typeface="Arial" pitchFamily="34" charset="0"/>
                <a:ea typeface="Arial" pitchFamily="34" charset="-122"/>
                <a:cs typeface="Arial" pitchFamily="34" charset="-120"/>
              </a:rPr>
              <a:t>5</a:t>
            </a:r>
            <a:endParaRPr lang="de-DE" sz="1400" dirty="0"/>
          </a:p>
        </p:txBody>
      </p:sp>
      <p:sp>
        <p:nvSpPr>
          <p:cNvPr id="30" name="Text 27"/>
          <p:cNvSpPr txBox="1"/>
          <p:nvPr/>
        </p:nvSpPr>
        <p:spPr>
          <a:xfrm>
            <a:off x="7216170" y="5321808"/>
            <a:ext cx="4426885" cy="822960"/>
          </a:xfrm>
          <a:prstGeom prst="rect">
            <a:avLst/>
          </a:prstGeom>
          <a:noFill/>
          <a:ln/>
        </p:spPr>
        <p:txBody>
          <a:bodyPr wrap="square" lIns="0" tIns="0" rIns="0" bIns="0" rtlCol="0" anchor="t"/>
          <a:lstStyle/>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Alltag &amp; Neutralität</a:t>
            </a:r>
            <a:endParaRPr lang="de-DE" sz="1600" dirty="0"/>
          </a:p>
          <a:p>
            <a:pPr indent="0" marL="0">
              <a:spcAft>
                <a:spcPts val="200"/>
              </a:spcAft>
              <a:buNone/>
            </a:pPr>
            <a:r>
              <a:rPr lang="de-DE" altLang="en-US" sz="1400" dirty="0">
                <a:solidFill>
                  <a:srgbClr val="A8A8A3"/>
                </a:solidFill>
                <a:latin typeface="Arial" pitchFamily="34" charset="0"/>
                <a:ea typeface="Arial" pitchFamily="34" charset="-122"/>
                <a:cs typeface="Arial" pitchFamily="34" charset="-120"/>
              </a:rPr>
              <a:t>Telefonzellen in New York – banal und kühl beobachtet.</a:t>
            </a:r>
            <a:endParaRPr lang="de-DE"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02 · MERKMALE AM BILDBEISPIEL</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Chuck Close: Großformat und Raster</a:t>
            </a:r>
            <a:endParaRPr lang="de-DE" sz="3200" dirty="0"/>
          </a:p>
        </p:txBody>
      </p:sp>
      <p:sp>
        <p:nvSpPr>
          <p:cNvPr id="4" name="Bildplatzhalter close_big"/>
          <p:cNvSpPr/>
          <p:nvPr/>
        </p:nvSpPr>
        <p:spPr>
          <a:xfrm>
            <a:off x="640080" y="1783080"/>
            <a:ext cx="2913004" cy="374904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1845122" y="3108960"/>
            <a:ext cx="502920" cy="502920"/>
          </a:xfrm>
          <a:prstGeom prst="rect">
            <a:avLst/>
          </a:prstGeom>
        </p:spPr>
      </p:pic>
      <p:sp>
        <p:nvSpPr>
          <p:cNvPr id="6" name="Text 3"/>
          <p:cNvSpPr txBox="1"/>
          <p:nvPr/>
        </p:nvSpPr>
        <p:spPr>
          <a:xfrm>
            <a:off x="777240" y="3675888"/>
            <a:ext cx="2638684"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Chuck Close: Big Self-Portrait</a:t>
            </a:r>
            <a:endParaRPr lang="de-DE" sz="1100" dirty="0"/>
          </a:p>
        </p:txBody>
      </p:sp>
      <p:sp>
        <p:nvSpPr>
          <p:cNvPr id="7" name="Shape 4"/>
          <p:cNvSpPr/>
          <p:nvPr/>
        </p:nvSpPr>
        <p:spPr>
          <a:xfrm>
            <a:off x="548640" y="1691640"/>
            <a:ext cx="237744" cy="0"/>
          </a:xfrm>
          <a:prstGeom prst="line">
            <a:avLst/>
          </a:prstGeom>
          <a:noFill/>
          <a:ln w="25400">
            <a:solidFill>
              <a:srgbClr val="F5B21B"/>
            </a:solidFill>
            <a:prstDash val="solid"/>
          </a:ln>
        </p:spPr>
      </p:sp>
      <p:sp>
        <p:nvSpPr>
          <p:cNvPr id="8" name="Shape 5"/>
          <p:cNvSpPr/>
          <p:nvPr/>
        </p:nvSpPr>
        <p:spPr>
          <a:xfrm>
            <a:off x="548640" y="1691640"/>
            <a:ext cx="0" cy="237744"/>
          </a:xfrm>
          <a:prstGeom prst="line">
            <a:avLst/>
          </a:prstGeom>
          <a:noFill/>
          <a:ln w="25400">
            <a:solidFill>
              <a:srgbClr val="F5B21B"/>
            </a:solidFill>
            <a:prstDash val="solid"/>
          </a:ln>
        </p:spPr>
      </p:sp>
      <p:sp>
        <p:nvSpPr>
          <p:cNvPr id="9" name="Shape 6"/>
          <p:cNvSpPr/>
          <p:nvPr/>
        </p:nvSpPr>
        <p:spPr>
          <a:xfrm>
            <a:off x="3406780" y="1691640"/>
            <a:ext cx="237744" cy="0"/>
          </a:xfrm>
          <a:prstGeom prst="line">
            <a:avLst/>
          </a:prstGeom>
          <a:noFill/>
          <a:ln w="25400">
            <a:solidFill>
              <a:srgbClr val="F5B21B"/>
            </a:solidFill>
            <a:prstDash val="solid"/>
          </a:ln>
        </p:spPr>
      </p:sp>
      <p:sp>
        <p:nvSpPr>
          <p:cNvPr id="10" name="Shape 7"/>
          <p:cNvSpPr/>
          <p:nvPr/>
        </p:nvSpPr>
        <p:spPr>
          <a:xfrm>
            <a:off x="3644524" y="1691640"/>
            <a:ext cx="0" cy="237744"/>
          </a:xfrm>
          <a:prstGeom prst="line">
            <a:avLst/>
          </a:prstGeom>
          <a:noFill/>
          <a:ln w="25400">
            <a:solidFill>
              <a:srgbClr val="F5B21B"/>
            </a:solidFill>
            <a:prstDash val="solid"/>
          </a:ln>
        </p:spPr>
      </p:sp>
      <p:sp>
        <p:nvSpPr>
          <p:cNvPr id="11" name="Shape 8"/>
          <p:cNvSpPr/>
          <p:nvPr/>
        </p:nvSpPr>
        <p:spPr>
          <a:xfrm>
            <a:off x="548640" y="5623560"/>
            <a:ext cx="237744" cy="0"/>
          </a:xfrm>
          <a:prstGeom prst="line">
            <a:avLst/>
          </a:prstGeom>
          <a:noFill/>
          <a:ln w="25400">
            <a:solidFill>
              <a:srgbClr val="F5B21B"/>
            </a:solidFill>
            <a:prstDash val="solid"/>
          </a:ln>
        </p:spPr>
      </p:sp>
      <p:sp>
        <p:nvSpPr>
          <p:cNvPr id="12" name="Shape 9"/>
          <p:cNvSpPr/>
          <p:nvPr/>
        </p:nvSpPr>
        <p:spPr>
          <a:xfrm>
            <a:off x="548640" y="5385816"/>
            <a:ext cx="0" cy="237744"/>
          </a:xfrm>
          <a:prstGeom prst="line">
            <a:avLst/>
          </a:prstGeom>
          <a:noFill/>
          <a:ln w="25400">
            <a:solidFill>
              <a:srgbClr val="F5B21B"/>
            </a:solidFill>
            <a:prstDash val="solid"/>
          </a:ln>
        </p:spPr>
      </p:sp>
      <p:sp>
        <p:nvSpPr>
          <p:cNvPr id="13" name="Shape 10"/>
          <p:cNvSpPr/>
          <p:nvPr/>
        </p:nvSpPr>
        <p:spPr>
          <a:xfrm>
            <a:off x="3406780" y="5623560"/>
            <a:ext cx="237744" cy="0"/>
          </a:xfrm>
          <a:prstGeom prst="line">
            <a:avLst/>
          </a:prstGeom>
          <a:noFill/>
          <a:ln w="25400">
            <a:solidFill>
              <a:srgbClr val="F5B21B"/>
            </a:solidFill>
            <a:prstDash val="solid"/>
          </a:ln>
        </p:spPr>
      </p:sp>
      <p:sp>
        <p:nvSpPr>
          <p:cNvPr id="14" name="Shape 11"/>
          <p:cNvSpPr/>
          <p:nvPr/>
        </p:nvSpPr>
        <p:spPr>
          <a:xfrm>
            <a:off x="3644524" y="5385816"/>
            <a:ext cx="0" cy="237744"/>
          </a:xfrm>
          <a:prstGeom prst="line">
            <a:avLst/>
          </a:prstGeom>
          <a:noFill/>
          <a:ln w="25400">
            <a:solidFill>
              <a:srgbClr val="F5B21B"/>
            </a:solidFill>
            <a:prstDash val="solid"/>
          </a:ln>
        </p:spPr>
      </p:sp>
      <p:sp>
        <p:nvSpPr>
          <p:cNvPr id="15" name="Text 12"/>
          <p:cNvSpPr txBox="1"/>
          <p:nvPr/>
        </p:nvSpPr>
        <p:spPr>
          <a:xfrm>
            <a:off x="640080" y="5760720"/>
            <a:ext cx="5669280" cy="64008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Chuck Close,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Big Self-Portrait</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1967–68</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„Großes Selbstbildnis“ · Acryl auf Leinwand (Airbrush), 273,1 × 212,1 cm · Walker Art Center, Minneapolis</a:t>
            </a:r>
            <a:endParaRPr lang="de-DE" sz="1300" dirty="0"/>
          </a:p>
        </p:txBody>
      </p:sp>
      <p:sp>
        <p:nvSpPr>
          <p:cNvPr id="16" name="Text 13"/>
          <p:cNvSpPr txBox="1"/>
          <p:nvPr/>
        </p:nvSpPr>
        <p:spPr>
          <a:xfrm>
            <a:off x="4238884" y="1691640"/>
            <a:ext cx="3108960" cy="960120"/>
          </a:xfrm>
          <a:prstGeom prst="rect">
            <a:avLst/>
          </a:prstGeom>
          <a:noFill/>
          <a:ln/>
        </p:spPr>
        <p:txBody>
          <a:bodyPr wrap="square" lIns="0" tIns="0" rIns="0" bIns="0" rtlCol="0" anchor="t"/>
          <a:lstStyle/>
          <a:p>
            <a:pPr indent="0" marL="0">
              <a:buNone/>
            </a:pPr>
            <a:r>
              <a:rPr lang="de-DE" altLang="en-US" sz="6000" b="1" dirty="0">
                <a:solidFill>
                  <a:srgbClr val="F5B21B"/>
                </a:solidFill>
                <a:latin typeface="Arial" pitchFamily="34" charset="0"/>
                <a:ea typeface="Arial" pitchFamily="34" charset="-122"/>
                <a:cs typeface="Arial" pitchFamily="34" charset="-120"/>
              </a:rPr>
              <a:t>2,73 m</a:t>
            </a:r>
            <a:endParaRPr lang="de-DE" sz="6000" dirty="0"/>
          </a:p>
        </p:txBody>
      </p:sp>
      <p:sp>
        <p:nvSpPr>
          <p:cNvPr id="17" name="Text 14"/>
          <p:cNvSpPr txBox="1"/>
          <p:nvPr/>
        </p:nvSpPr>
        <p:spPr>
          <a:xfrm>
            <a:off x="7439284" y="1874520"/>
            <a:ext cx="4203771" cy="73152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hoch – ein Gesicht in Monumentalgröße</a:t>
            </a:r>
            <a:endParaRPr lang="de-DE" sz="1600" dirty="0"/>
          </a:p>
        </p:txBody>
      </p:sp>
      <p:sp>
        <p:nvSpPr>
          <p:cNvPr id="18" name="Shape 15"/>
          <p:cNvSpPr/>
          <p:nvPr/>
        </p:nvSpPr>
        <p:spPr>
          <a:xfrm>
            <a:off x="4238884" y="2926080"/>
            <a:ext cx="3564926" cy="1188720"/>
          </a:xfrm>
          <a:prstGeom prst="rect">
            <a:avLst/>
          </a:prstGeom>
          <a:solidFill>
            <a:srgbClr val="2E2E2E"/>
          </a:solidFill>
          <a:ln w="9525">
            <a:solidFill>
              <a:srgbClr val="484848"/>
            </a:solidFill>
            <a:prstDash val="solid"/>
          </a:ln>
        </p:spPr>
      </p:sp>
      <p:sp>
        <p:nvSpPr>
          <p:cNvPr id="19" name="Text 16"/>
          <p:cNvSpPr txBox="1"/>
          <p:nvPr/>
        </p:nvSpPr>
        <p:spPr>
          <a:xfrm>
            <a:off x="4467484" y="3108960"/>
            <a:ext cx="3107726" cy="914400"/>
          </a:xfrm>
          <a:prstGeom prst="rect">
            <a:avLst/>
          </a:prstGeom>
          <a:noFill/>
          <a:ln/>
        </p:spPr>
        <p:txBody>
          <a:bodyPr wrap="square" lIns="0" tIns="0" rIns="0" bIns="0" rtlCol="0" anchor="t"/>
          <a:lstStyle/>
          <a:p>
            <a:pPr indent="0" marL="0">
              <a:spcAft>
                <a:spcPts val="300"/>
              </a:spcAft>
              <a:buNone/>
            </a:pPr>
            <a:r>
              <a:rPr lang="de-DE" altLang="en-US" sz="1600" b="1" dirty="0">
                <a:solidFill>
                  <a:srgbClr val="F5F5F2"/>
                </a:solidFill>
                <a:latin typeface="Arial" pitchFamily="34" charset="0"/>
                <a:ea typeface="Arial" pitchFamily="34" charset="-122"/>
                <a:cs typeface="Arial" pitchFamily="34" charset="-120"/>
              </a:rPr>
              <a:t>Raster</a:t>
            </a:r>
            <a:endParaRPr lang="de-DE" sz="1600" dirty="0"/>
          </a:p>
          <a:p>
            <a:pPr indent="0" marL="0">
              <a:spcAft>
                <a:spcPts val="300"/>
              </a:spcAft>
              <a:buNone/>
            </a:pPr>
            <a:r>
              <a:rPr lang="de-DE" altLang="en-US" sz="1400" dirty="0">
                <a:solidFill>
                  <a:srgbClr val="A8A8A3"/>
                </a:solidFill>
                <a:latin typeface="Arial" pitchFamily="34" charset="0"/>
                <a:ea typeface="Arial" pitchFamily="34" charset="-122"/>
                <a:cs typeface="Arial" pitchFamily="34" charset="-120"/>
              </a:rPr>
              <a:t>Foto und Leinwand werden in Quadrate geteilt und Feld für Feld übertragen.</a:t>
            </a:r>
            <a:endParaRPr lang="de-DE" sz="1600" dirty="0"/>
          </a:p>
        </p:txBody>
      </p:sp>
      <p:sp>
        <p:nvSpPr>
          <p:cNvPr id="20" name="Shape 17"/>
          <p:cNvSpPr/>
          <p:nvPr/>
        </p:nvSpPr>
        <p:spPr>
          <a:xfrm>
            <a:off x="8078130" y="2926080"/>
            <a:ext cx="3564926" cy="1188720"/>
          </a:xfrm>
          <a:prstGeom prst="rect">
            <a:avLst/>
          </a:prstGeom>
          <a:solidFill>
            <a:srgbClr val="2E2E2E"/>
          </a:solidFill>
          <a:ln w="9525">
            <a:solidFill>
              <a:srgbClr val="484848"/>
            </a:solidFill>
            <a:prstDash val="solid"/>
          </a:ln>
        </p:spPr>
      </p:sp>
      <p:sp>
        <p:nvSpPr>
          <p:cNvPr id="21" name="Text 18"/>
          <p:cNvSpPr txBox="1"/>
          <p:nvPr/>
        </p:nvSpPr>
        <p:spPr>
          <a:xfrm>
            <a:off x="8306730" y="3108960"/>
            <a:ext cx="3107726" cy="914400"/>
          </a:xfrm>
          <a:prstGeom prst="rect">
            <a:avLst/>
          </a:prstGeom>
          <a:noFill/>
          <a:ln/>
        </p:spPr>
        <p:txBody>
          <a:bodyPr wrap="square" lIns="0" tIns="0" rIns="0" bIns="0" rtlCol="0" anchor="t"/>
          <a:lstStyle/>
          <a:p>
            <a:pPr indent="0" marL="0">
              <a:spcAft>
                <a:spcPts val="300"/>
              </a:spcAft>
              <a:buNone/>
            </a:pPr>
            <a:r>
              <a:rPr lang="de-DE" altLang="en-US" sz="1600" b="1" dirty="0">
                <a:solidFill>
                  <a:srgbClr val="F5F5F2"/>
                </a:solidFill>
                <a:latin typeface="Arial" pitchFamily="34" charset="0"/>
                <a:ea typeface="Arial" pitchFamily="34" charset="-122"/>
                <a:cs typeface="Arial" pitchFamily="34" charset="-120"/>
              </a:rPr>
              <a:t>Airbrush</a:t>
            </a:r>
            <a:endParaRPr lang="de-DE" sz="1600" dirty="0"/>
          </a:p>
          <a:p>
            <a:pPr indent="0" marL="0">
              <a:spcAft>
                <a:spcPts val="300"/>
              </a:spcAft>
              <a:buNone/>
            </a:pPr>
            <a:r>
              <a:rPr lang="de-DE" altLang="en-US" sz="1400" dirty="0">
                <a:solidFill>
                  <a:srgbClr val="A8A8A3"/>
                </a:solidFill>
                <a:latin typeface="Arial" pitchFamily="34" charset="0"/>
                <a:ea typeface="Arial" pitchFamily="34" charset="-122"/>
                <a:cs typeface="Arial" pitchFamily="34" charset="-120"/>
              </a:rPr>
              <a:t>Mit der Spritzpistole in Schwarz-Weiß gemalt – keine Pinselspur.</a:t>
            </a:r>
            <a:endParaRPr lang="de-DE" sz="1600" dirty="0"/>
          </a:p>
        </p:txBody>
      </p:sp>
      <p:sp>
        <p:nvSpPr>
          <p:cNvPr id="22" name="Shape 19"/>
          <p:cNvSpPr/>
          <p:nvPr/>
        </p:nvSpPr>
        <p:spPr>
          <a:xfrm>
            <a:off x="4238884" y="4343400"/>
            <a:ext cx="3564926" cy="1188720"/>
          </a:xfrm>
          <a:prstGeom prst="rect">
            <a:avLst/>
          </a:prstGeom>
          <a:solidFill>
            <a:srgbClr val="2E2E2E"/>
          </a:solidFill>
          <a:ln w="9525">
            <a:solidFill>
              <a:srgbClr val="484848"/>
            </a:solidFill>
            <a:prstDash val="solid"/>
          </a:ln>
        </p:spPr>
      </p:sp>
      <p:sp>
        <p:nvSpPr>
          <p:cNvPr id="23" name="Text 20"/>
          <p:cNvSpPr txBox="1"/>
          <p:nvPr/>
        </p:nvSpPr>
        <p:spPr>
          <a:xfrm>
            <a:off x="4467484" y="4526280"/>
            <a:ext cx="3107726" cy="914400"/>
          </a:xfrm>
          <a:prstGeom prst="rect">
            <a:avLst/>
          </a:prstGeom>
          <a:noFill/>
          <a:ln/>
        </p:spPr>
        <p:txBody>
          <a:bodyPr wrap="square" lIns="0" tIns="0" rIns="0" bIns="0" rtlCol="0" anchor="t"/>
          <a:lstStyle/>
          <a:p>
            <a:pPr indent="0" marL="0">
              <a:spcAft>
                <a:spcPts val="300"/>
              </a:spcAft>
              <a:buNone/>
            </a:pPr>
            <a:r>
              <a:rPr lang="de-DE" altLang="en-US" sz="1600" b="1" dirty="0">
                <a:solidFill>
                  <a:srgbClr val="F5F5F2"/>
                </a:solidFill>
                <a:latin typeface="Arial" pitchFamily="34" charset="0"/>
                <a:ea typeface="Arial" pitchFamily="34" charset="-122"/>
                <a:cs typeface="Arial" pitchFamily="34" charset="-120"/>
              </a:rPr>
              <a:t>Fotografische Unschärfe</a:t>
            </a:r>
            <a:endParaRPr lang="de-DE" sz="1600" dirty="0"/>
          </a:p>
          <a:p>
            <a:pPr indent="0" marL="0">
              <a:spcAft>
                <a:spcPts val="300"/>
              </a:spcAft>
              <a:buNone/>
            </a:pPr>
            <a:r>
              <a:rPr lang="de-DE" altLang="en-US" sz="1400" dirty="0">
                <a:solidFill>
                  <a:srgbClr val="A8A8A3"/>
                </a:solidFill>
                <a:latin typeface="Arial" pitchFamily="34" charset="0"/>
                <a:ea typeface="Arial" pitchFamily="34" charset="-122"/>
                <a:cs typeface="Arial" pitchFamily="34" charset="-120"/>
              </a:rPr>
              <a:t>Nasenspitze und Ohren verschwimmen – Close malt die Unschärfe der Kamera mit.</a:t>
            </a:r>
            <a:endParaRPr lang="de-DE" sz="1600" dirty="0"/>
          </a:p>
        </p:txBody>
      </p:sp>
      <p:sp>
        <p:nvSpPr>
          <p:cNvPr id="24" name="Shape 21"/>
          <p:cNvSpPr/>
          <p:nvPr/>
        </p:nvSpPr>
        <p:spPr>
          <a:xfrm>
            <a:off x="8078130" y="4343400"/>
            <a:ext cx="3564926" cy="1188720"/>
          </a:xfrm>
          <a:prstGeom prst="rect">
            <a:avLst/>
          </a:prstGeom>
          <a:solidFill>
            <a:srgbClr val="2E2E2E"/>
          </a:solidFill>
          <a:ln w="9525">
            <a:solidFill>
              <a:srgbClr val="484848"/>
            </a:solidFill>
            <a:prstDash val="solid"/>
          </a:ln>
        </p:spPr>
      </p:sp>
      <p:sp>
        <p:nvSpPr>
          <p:cNvPr id="25" name="Text 22"/>
          <p:cNvSpPr txBox="1"/>
          <p:nvPr/>
        </p:nvSpPr>
        <p:spPr>
          <a:xfrm>
            <a:off x="8306730" y="4526280"/>
            <a:ext cx="3107726" cy="914400"/>
          </a:xfrm>
          <a:prstGeom prst="rect">
            <a:avLst/>
          </a:prstGeom>
          <a:noFill/>
          <a:ln/>
        </p:spPr>
        <p:txBody>
          <a:bodyPr wrap="square" lIns="0" tIns="0" rIns="0" bIns="0" rtlCol="0" anchor="t"/>
          <a:lstStyle/>
          <a:p>
            <a:pPr indent="0" marL="0">
              <a:spcAft>
                <a:spcPts val="300"/>
              </a:spcAft>
              <a:buNone/>
            </a:pPr>
            <a:r>
              <a:rPr lang="de-DE" altLang="en-US" sz="1600" b="1" dirty="0">
                <a:solidFill>
                  <a:srgbClr val="F5F5F2"/>
                </a:solidFill>
                <a:latin typeface="Arial" pitchFamily="34" charset="0"/>
                <a:ea typeface="Arial" pitchFamily="34" charset="-122"/>
                <a:cs typeface="Arial" pitchFamily="34" charset="-120"/>
              </a:rPr>
              <a:t>Schnappschuss</a:t>
            </a:r>
            <a:endParaRPr lang="de-DE" sz="1600" dirty="0"/>
          </a:p>
          <a:p>
            <a:pPr indent="0" marL="0">
              <a:spcAft>
                <a:spcPts val="300"/>
              </a:spcAft>
              <a:buNone/>
            </a:pPr>
            <a:r>
              <a:rPr lang="de-DE" altLang="en-US" sz="1400" dirty="0">
                <a:solidFill>
                  <a:srgbClr val="A8A8A3"/>
                </a:solidFill>
                <a:latin typeface="Arial" pitchFamily="34" charset="0"/>
                <a:ea typeface="Arial" pitchFamily="34" charset="-122"/>
                <a:cs typeface="Arial" pitchFamily="34" charset="-120"/>
              </a:rPr>
              <a:t>Zigarette, zerzauste Haare, Bartstoppeln – kein geschöntes Porträt.</a:t>
            </a:r>
            <a:endParaRPr lang="de-DE"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03 · MOTIVE</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Das Alltägliche wird bildwürdig</a:t>
            </a:r>
            <a:endParaRPr lang="de-DE" sz="3200" dirty="0"/>
          </a:p>
        </p:txBody>
      </p:sp>
      <p:sp>
        <p:nvSpPr>
          <p:cNvPr id="4" name="Shape 2"/>
          <p:cNvSpPr/>
          <p:nvPr/>
        </p:nvSpPr>
        <p:spPr>
          <a:xfrm>
            <a:off x="548640" y="1737360"/>
            <a:ext cx="3515258" cy="2011680"/>
          </a:xfrm>
          <a:prstGeom prst="rect">
            <a:avLst/>
          </a:prstGeom>
          <a:solidFill>
            <a:srgbClr val="2E2E2E"/>
          </a:solidFill>
          <a:ln w="9525">
            <a:solidFill>
              <a:srgbClr val="484848"/>
            </a:solidFill>
            <a:prstDash val="solid"/>
          </a:ln>
        </p:spPr>
      </p:sp>
      <p:sp>
        <p:nvSpPr>
          <p:cNvPr id="5" name="Shape 3"/>
          <p:cNvSpPr/>
          <p:nvPr/>
        </p:nvSpPr>
        <p:spPr>
          <a:xfrm>
            <a:off x="777240" y="1965960"/>
            <a:ext cx="566928" cy="566928"/>
          </a:xfrm>
          <a:prstGeom prst="ellipse">
            <a:avLst/>
          </a:prstGeom>
          <a:solidFill>
            <a:srgbClr val="1C1C1C"/>
          </a:solidFill>
          <a:ln w="15875">
            <a:solidFill>
              <a:srgbClr val="F5B21B"/>
            </a:solidFill>
            <a:prstDash val="solid"/>
          </a:ln>
        </p:spPr>
      </p:sp>
      <p:pic>
        <p:nvPicPr>
          <p:cNvPr id="6" name="Image 0" descr="Symbol BuildingSkyscraper">    </p:cNvPr>
          <p:cNvPicPr>
            <a:picLocks noChangeAspect="1"/>
          </p:cNvPicPr>
          <p:nvPr/>
        </p:nvPicPr>
        <p:blipFill>
          <a:blip r:embed="rId1"/>
          <a:stretch>
            <a:fillRect/>
          </a:stretch>
        </p:blipFill>
        <p:spPr>
          <a:xfrm>
            <a:off x="901964" y="2090684"/>
            <a:ext cx="317480" cy="317480"/>
          </a:xfrm>
          <a:prstGeom prst="rect">
            <a:avLst/>
          </a:prstGeom>
        </p:spPr>
      </p:pic>
      <p:sp>
        <p:nvSpPr>
          <p:cNvPr id="7" name="Text 4"/>
          <p:cNvSpPr txBox="1"/>
          <p:nvPr/>
        </p:nvSpPr>
        <p:spPr>
          <a:xfrm>
            <a:off x="1508760" y="1965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Stadt &amp; Schaufenster</a:t>
            </a:r>
            <a:endParaRPr lang="de-DE" sz="1800" dirty="0"/>
          </a:p>
        </p:txBody>
      </p:sp>
      <p:sp>
        <p:nvSpPr>
          <p:cNvPr id="8" name="Text 5"/>
          <p:cNvSpPr txBox="1"/>
          <p:nvPr/>
        </p:nvSpPr>
        <p:spPr>
          <a:xfrm>
            <a:off x="777240" y="2651760"/>
            <a:ext cx="3058058" cy="1005840"/>
          </a:xfrm>
          <a:prstGeom prst="rect">
            <a:avLst/>
          </a:prstGeom>
          <a:noFill/>
          <a:ln/>
        </p:spPr>
        <p:txBody>
          <a:bodyPr wrap="square" lIns="0" tIns="0" rIns="0" bIns="0" rtlCol="0" anchor="t"/>
          <a:lstStyle/>
          <a:p>
            <a:pPr indent="0" marL="0">
              <a:spcAft>
                <a:spcPts val="400"/>
              </a:spcAft>
              <a:buNone/>
            </a:pPr>
            <a:r>
              <a:rPr lang="de-DE" altLang="en-US" sz="1500" dirty="0">
                <a:solidFill>
                  <a:srgbClr val="A8A8A3"/>
                </a:solidFill>
                <a:latin typeface="Arial" pitchFamily="34" charset="0"/>
                <a:ea typeface="Arial" pitchFamily="34" charset="-122"/>
                <a:cs typeface="Arial" pitchFamily="34" charset="-120"/>
              </a:rPr>
              <a:t>Spiegelungen in Glas, Reklame, Leuchtschrift</a:t>
            </a:r>
            <a:endParaRPr lang="de-DE" sz="1500" dirty="0"/>
          </a:p>
          <a:p>
            <a:pPr indent="0" marL="0">
              <a:spcAft>
                <a:spcPts val="400"/>
              </a:spcAft>
              <a:buNone/>
            </a:pPr>
            <a:r>
              <a:rPr lang="de-DE" altLang="en-US" sz="1500" b="1" dirty="0">
                <a:solidFill>
                  <a:srgbClr val="F5B21B"/>
                </a:solidFill>
                <a:latin typeface="Arial" pitchFamily="34" charset="0"/>
                <a:ea typeface="Arial" pitchFamily="34" charset="-122"/>
                <a:cs typeface="Arial" pitchFamily="34" charset="-120"/>
              </a:rPr>
              <a:t>Richard Estes, Don Eddy, Robert Cottingham</a:t>
            </a:r>
            <a:endParaRPr lang="de-DE" sz="1500" dirty="0"/>
          </a:p>
        </p:txBody>
      </p:sp>
      <p:sp>
        <p:nvSpPr>
          <p:cNvPr id="9" name="Shape 6"/>
          <p:cNvSpPr/>
          <p:nvPr/>
        </p:nvSpPr>
        <p:spPr>
          <a:xfrm>
            <a:off x="4338218" y="1737360"/>
            <a:ext cx="3515258" cy="2011680"/>
          </a:xfrm>
          <a:prstGeom prst="rect">
            <a:avLst/>
          </a:prstGeom>
          <a:solidFill>
            <a:srgbClr val="2E2E2E"/>
          </a:solidFill>
          <a:ln w="9525">
            <a:solidFill>
              <a:srgbClr val="484848"/>
            </a:solidFill>
            <a:prstDash val="solid"/>
          </a:ln>
        </p:spPr>
      </p:sp>
      <p:sp>
        <p:nvSpPr>
          <p:cNvPr id="10" name="Shape 7"/>
          <p:cNvSpPr/>
          <p:nvPr/>
        </p:nvSpPr>
        <p:spPr>
          <a:xfrm>
            <a:off x="4566818" y="1965960"/>
            <a:ext cx="566928" cy="566928"/>
          </a:xfrm>
          <a:prstGeom prst="ellipse">
            <a:avLst/>
          </a:prstGeom>
          <a:solidFill>
            <a:srgbClr val="1C1C1C"/>
          </a:solidFill>
          <a:ln w="15875">
            <a:solidFill>
              <a:srgbClr val="F5B21B"/>
            </a:solidFill>
            <a:prstDash val="solid"/>
          </a:ln>
        </p:spPr>
      </p:sp>
      <p:pic>
        <p:nvPicPr>
          <p:cNvPr id="11" name="Image 1" descr="Symbol Car">    </p:cNvPr>
          <p:cNvPicPr>
            <a:picLocks noChangeAspect="1"/>
          </p:cNvPicPr>
          <p:nvPr/>
        </p:nvPicPr>
        <p:blipFill>
          <a:blip r:embed="rId2"/>
          <a:stretch>
            <a:fillRect/>
          </a:stretch>
        </p:blipFill>
        <p:spPr>
          <a:xfrm>
            <a:off x="4691543" y="2090684"/>
            <a:ext cx="317480" cy="317480"/>
          </a:xfrm>
          <a:prstGeom prst="rect">
            <a:avLst/>
          </a:prstGeom>
        </p:spPr>
      </p:pic>
      <p:sp>
        <p:nvSpPr>
          <p:cNvPr id="12" name="Text 8"/>
          <p:cNvSpPr txBox="1"/>
          <p:nvPr/>
        </p:nvSpPr>
        <p:spPr>
          <a:xfrm>
            <a:off x="5298338" y="1965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Autos &amp; Wohnwagen</a:t>
            </a:r>
            <a:endParaRPr lang="de-DE" sz="1800" dirty="0"/>
          </a:p>
        </p:txBody>
      </p:sp>
      <p:sp>
        <p:nvSpPr>
          <p:cNvPr id="13" name="Text 9"/>
          <p:cNvSpPr txBox="1"/>
          <p:nvPr/>
        </p:nvSpPr>
        <p:spPr>
          <a:xfrm>
            <a:off x="4566818" y="2651760"/>
            <a:ext cx="3058058" cy="1005840"/>
          </a:xfrm>
          <a:prstGeom prst="rect">
            <a:avLst/>
          </a:prstGeom>
          <a:noFill/>
          <a:ln/>
        </p:spPr>
        <p:txBody>
          <a:bodyPr wrap="square" lIns="0" tIns="0" rIns="0" bIns="0" rtlCol="0" anchor="t"/>
          <a:lstStyle/>
          <a:p>
            <a:pPr indent="0" marL="0">
              <a:spcAft>
                <a:spcPts val="400"/>
              </a:spcAft>
              <a:buNone/>
            </a:pPr>
            <a:r>
              <a:rPr lang="de-DE" altLang="en-US" sz="1500" dirty="0">
                <a:solidFill>
                  <a:srgbClr val="A8A8A3"/>
                </a:solidFill>
                <a:latin typeface="Arial" pitchFamily="34" charset="0"/>
                <a:ea typeface="Arial" pitchFamily="34" charset="-122"/>
                <a:cs typeface="Arial" pitchFamily="34" charset="-120"/>
              </a:rPr>
              <a:t>Chrom und Lack als Symbole des American Way of Life</a:t>
            </a:r>
            <a:endParaRPr lang="de-DE" sz="1500" dirty="0"/>
          </a:p>
          <a:p>
            <a:pPr indent="0" marL="0">
              <a:spcAft>
                <a:spcPts val="400"/>
              </a:spcAft>
              <a:buNone/>
            </a:pPr>
            <a:r>
              <a:rPr lang="de-DE" altLang="en-US" sz="1500" b="1" dirty="0">
                <a:solidFill>
                  <a:srgbClr val="F5B21B"/>
                </a:solidFill>
                <a:latin typeface="Arial" pitchFamily="34" charset="0"/>
                <a:ea typeface="Arial" pitchFamily="34" charset="-122"/>
                <a:cs typeface="Arial" pitchFamily="34" charset="-120"/>
              </a:rPr>
              <a:t>Robert Bechtle, Ralph Goings, Tom Blackwell</a:t>
            </a:r>
            <a:endParaRPr lang="de-DE" sz="1500" dirty="0"/>
          </a:p>
        </p:txBody>
      </p:sp>
      <p:sp>
        <p:nvSpPr>
          <p:cNvPr id="14" name="Shape 10"/>
          <p:cNvSpPr/>
          <p:nvPr/>
        </p:nvSpPr>
        <p:spPr>
          <a:xfrm>
            <a:off x="8127797" y="1737360"/>
            <a:ext cx="3515258" cy="2011680"/>
          </a:xfrm>
          <a:prstGeom prst="rect">
            <a:avLst/>
          </a:prstGeom>
          <a:solidFill>
            <a:srgbClr val="2E2E2E"/>
          </a:solidFill>
          <a:ln w="9525">
            <a:solidFill>
              <a:srgbClr val="484848"/>
            </a:solidFill>
            <a:prstDash val="solid"/>
          </a:ln>
        </p:spPr>
      </p:sp>
      <p:sp>
        <p:nvSpPr>
          <p:cNvPr id="15" name="Shape 11"/>
          <p:cNvSpPr/>
          <p:nvPr/>
        </p:nvSpPr>
        <p:spPr>
          <a:xfrm>
            <a:off x="8356397" y="1965960"/>
            <a:ext cx="566928" cy="566928"/>
          </a:xfrm>
          <a:prstGeom prst="ellipse">
            <a:avLst/>
          </a:prstGeom>
          <a:solidFill>
            <a:srgbClr val="1C1C1C"/>
          </a:solidFill>
          <a:ln w="15875">
            <a:solidFill>
              <a:srgbClr val="F5B21B"/>
            </a:solidFill>
            <a:prstDash val="solid"/>
          </a:ln>
        </p:spPr>
      </p:sp>
      <p:pic>
        <p:nvPicPr>
          <p:cNvPr id="16" name="Image 2" descr="Symbol ToolsKitchen2">    </p:cNvPr>
          <p:cNvPicPr>
            <a:picLocks noChangeAspect="1"/>
          </p:cNvPicPr>
          <p:nvPr/>
        </p:nvPicPr>
        <p:blipFill>
          <a:blip r:embed="rId3"/>
          <a:stretch>
            <a:fillRect/>
          </a:stretch>
        </p:blipFill>
        <p:spPr>
          <a:xfrm>
            <a:off x="8481121" y="2090684"/>
            <a:ext cx="317480" cy="317480"/>
          </a:xfrm>
          <a:prstGeom prst="rect">
            <a:avLst/>
          </a:prstGeom>
        </p:spPr>
      </p:pic>
      <p:sp>
        <p:nvSpPr>
          <p:cNvPr id="17" name="Text 12"/>
          <p:cNvSpPr txBox="1"/>
          <p:nvPr/>
        </p:nvSpPr>
        <p:spPr>
          <a:xfrm>
            <a:off x="9087917" y="1965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Diners &amp; Imbiss</a:t>
            </a:r>
            <a:endParaRPr lang="de-DE" sz="1800" dirty="0"/>
          </a:p>
        </p:txBody>
      </p:sp>
      <p:sp>
        <p:nvSpPr>
          <p:cNvPr id="18" name="Text 13"/>
          <p:cNvSpPr txBox="1"/>
          <p:nvPr/>
        </p:nvSpPr>
        <p:spPr>
          <a:xfrm>
            <a:off x="8356397" y="2651760"/>
            <a:ext cx="3058058" cy="1005840"/>
          </a:xfrm>
          <a:prstGeom prst="rect">
            <a:avLst/>
          </a:prstGeom>
          <a:noFill/>
          <a:ln/>
        </p:spPr>
        <p:txBody>
          <a:bodyPr wrap="square" lIns="0" tIns="0" rIns="0" bIns="0" rtlCol="0" anchor="t"/>
          <a:lstStyle/>
          <a:p>
            <a:pPr indent="0" marL="0">
              <a:spcAft>
                <a:spcPts val="400"/>
              </a:spcAft>
              <a:buNone/>
            </a:pPr>
            <a:r>
              <a:rPr lang="de-DE" altLang="en-US" sz="1500" dirty="0">
                <a:solidFill>
                  <a:srgbClr val="A8A8A3"/>
                </a:solidFill>
                <a:latin typeface="Arial" pitchFamily="34" charset="0"/>
                <a:ea typeface="Arial" pitchFamily="34" charset="-122"/>
                <a:cs typeface="Arial" pitchFamily="34" charset="-120"/>
              </a:rPr>
              <a:t>Theken, Ketchupflaschen, Kaffeetassen</a:t>
            </a:r>
            <a:endParaRPr lang="de-DE" sz="1500" dirty="0"/>
          </a:p>
          <a:p>
            <a:pPr indent="0" marL="0">
              <a:spcAft>
                <a:spcPts val="400"/>
              </a:spcAft>
              <a:buNone/>
            </a:pPr>
            <a:r>
              <a:rPr lang="de-DE" altLang="en-US" sz="1500" b="1" dirty="0">
                <a:solidFill>
                  <a:srgbClr val="F5B21B"/>
                </a:solidFill>
                <a:latin typeface="Arial" pitchFamily="34" charset="0"/>
                <a:ea typeface="Arial" pitchFamily="34" charset="-122"/>
                <a:cs typeface="Arial" pitchFamily="34" charset="-120"/>
              </a:rPr>
              <a:t>Ralph Goings</a:t>
            </a:r>
            <a:endParaRPr lang="de-DE" sz="1500" dirty="0"/>
          </a:p>
        </p:txBody>
      </p:sp>
      <p:sp>
        <p:nvSpPr>
          <p:cNvPr id="19" name="Shape 14"/>
          <p:cNvSpPr/>
          <p:nvPr/>
        </p:nvSpPr>
        <p:spPr>
          <a:xfrm>
            <a:off x="548640" y="4023360"/>
            <a:ext cx="3515258" cy="2011680"/>
          </a:xfrm>
          <a:prstGeom prst="rect">
            <a:avLst/>
          </a:prstGeom>
          <a:solidFill>
            <a:srgbClr val="2E2E2E"/>
          </a:solidFill>
          <a:ln w="9525">
            <a:solidFill>
              <a:srgbClr val="484848"/>
            </a:solidFill>
            <a:prstDash val="solid"/>
          </a:ln>
        </p:spPr>
      </p:sp>
      <p:sp>
        <p:nvSpPr>
          <p:cNvPr id="20" name="Shape 15"/>
          <p:cNvSpPr/>
          <p:nvPr/>
        </p:nvSpPr>
        <p:spPr>
          <a:xfrm>
            <a:off x="777240" y="4251960"/>
            <a:ext cx="566928" cy="566928"/>
          </a:xfrm>
          <a:prstGeom prst="ellipse">
            <a:avLst/>
          </a:prstGeom>
          <a:solidFill>
            <a:srgbClr val="1C1C1C"/>
          </a:solidFill>
          <a:ln w="15875">
            <a:solidFill>
              <a:srgbClr val="F5B21B"/>
            </a:solidFill>
            <a:prstDash val="solid"/>
          </a:ln>
        </p:spPr>
      </p:sp>
      <p:pic>
        <p:nvPicPr>
          <p:cNvPr id="21" name="Image 3" descr="Symbol User">    </p:cNvPr>
          <p:cNvPicPr>
            <a:picLocks noChangeAspect="1"/>
          </p:cNvPicPr>
          <p:nvPr/>
        </p:nvPicPr>
        <p:blipFill>
          <a:blip r:embed="rId4"/>
          <a:stretch>
            <a:fillRect/>
          </a:stretch>
        </p:blipFill>
        <p:spPr>
          <a:xfrm>
            <a:off x="901964" y="4376684"/>
            <a:ext cx="317480" cy="317480"/>
          </a:xfrm>
          <a:prstGeom prst="rect">
            <a:avLst/>
          </a:prstGeom>
        </p:spPr>
      </p:pic>
      <p:sp>
        <p:nvSpPr>
          <p:cNvPr id="22" name="Text 16"/>
          <p:cNvSpPr txBox="1"/>
          <p:nvPr/>
        </p:nvSpPr>
        <p:spPr>
          <a:xfrm>
            <a:off x="1508760" y="4251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Porträts</a:t>
            </a:r>
            <a:endParaRPr lang="de-DE" sz="1800" dirty="0"/>
          </a:p>
        </p:txBody>
      </p:sp>
      <p:sp>
        <p:nvSpPr>
          <p:cNvPr id="23" name="Text 17"/>
          <p:cNvSpPr txBox="1"/>
          <p:nvPr/>
        </p:nvSpPr>
        <p:spPr>
          <a:xfrm>
            <a:off x="777240" y="4937760"/>
            <a:ext cx="3058058" cy="1005840"/>
          </a:xfrm>
          <a:prstGeom prst="rect">
            <a:avLst/>
          </a:prstGeom>
          <a:noFill/>
          <a:ln/>
        </p:spPr>
        <p:txBody>
          <a:bodyPr wrap="square" lIns="0" tIns="0" rIns="0" bIns="0" rtlCol="0" anchor="t"/>
          <a:lstStyle/>
          <a:p>
            <a:pPr indent="0" marL="0">
              <a:spcAft>
                <a:spcPts val="400"/>
              </a:spcAft>
              <a:buNone/>
            </a:pPr>
            <a:r>
              <a:rPr lang="de-DE" altLang="en-US" sz="1500" dirty="0">
                <a:solidFill>
                  <a:srgbClr val="A8A8A3"/>
                </a:solidFill>
                <a:latin typeface="Arial" pitchFamily="34" charset="0"/>
                <a:ea typeface="Arial" pitchFamily="34" charset="-122"/>
                <a:cs typeface="Arial" pitchFamily="34" charset="-120"/>
              </a:rPr>
              <a:t>Gesichter im Riesenformat</a:t>
            </a:r>
            <a:endParaRPr lang="de-DE" sz="1500" dirty="0"/>
          </a:p>
          <a:p>
            <a:pPr indent="0" marL="0">
              <a:spcAft>
                <a:spcPts val="400"/>
              </a:spcAft>
              <a:buNone/>
            </a:pPr>
            <a:r>
              <a:rPr lang="de-DE" altLang="en-US" sz="1500" b="1" dirty="0">
                <a:solidFill>
                  <a:srgbClr val="F5B21B"/>
                </a:solidFill>
                <a:latin typeface="Arial" pitchFamily="34" charset="0"/>
                <a:ea typeface="Arial" pitchFamily="34" charset="-122"/>
                <a:cs typeface="Arial" pitchFamily="34" charset="-120"/>
              </a:rPr>
              <a:t>Chuck Close, Franz Gertsch</a:t>
            </a:r>
            <a:endParaRPr lang="de-DE" sz="1500" dirty="0"/>
          </a:p>
        </p:txBody>
      </p:sp>
      <p:sp>
        <p:nvSpPr>
          <p:cNvPr id="24" name="Shape 18"/>
          <p:cNvSpPr/>
          <p:nvPr/>
        </p:nvSpPr>
        <p:spPr>
          <a:xfrm>
            <a:off x="4338218" y="4023360"/>
            <a:ext cx="3515258" cy="2011680"/>
          </a:xfrm>
          <a:prstGeom prst="rect">
            <a:avLst/>
          </a:prstGeom>
          <a:solidFill>
            <a:srgbClr val="2E2E2E"/>
          </a:solidFill>
          <a:ln w="9525">
            <a:solidFill>
              <a:srgbClr val="484848"/>
            </a:solidFill>
            <a:prstDash val="solid"/>
          </a:ln>
        </p:spPr>
      </p:sp>
      <p:sp>
        <p:nvSpPr>
          <p:cNvPr id="25" name="Shape 19"/>
          <p:cNvSpPr/>
          <p:nvPr/>
        </p:nvSpPr>
        <p:spPr>
          <a:xfrm>
            <a:off x="4566818" y="4251960"/>
            <a:ext cx="566928" cy="566928"/>
          </a:xfrm>
          <a:prstGeom prst="ellipse">
            <a:avLst/>
          </a:prstGeom>
          <a:solidFill>
            <a:srgbClr val="1C1C1C"/>
          </a:solidFill>
          <a:ln w="15875">
            <a:solidFill>
              <a:srgbClr val="F5B21B"/>
            </a:solidFill>
            <a:prstDash val="solid"/>
          </a:ln>
        </p:spPr>
      </p:sp>
      <p:pic>
        <p:nvPicPr>
          <p:cNvPr id="26" name="Image 4" descr="Symbol Candy">    </p:cNvPr>
          <p:cNvPicPr>
            <a:picLocks noChangeAspect="1"/>
          </p:cNvPicPr>
          <p:nvPr/>
        </p:nvPicPr>
        <p:blipFill>
          <a:blip r:embed="rId5"/>
          <a:stretch>
            <a:fillRect/>
          </a:stretch>
        </p:blipFill>
        <p:spPr>
          <a:xfrm>
            <a:off x="4691543" y="4376684"/>
            <a:ext cx="317480" cy="317480"/>
          </a:xfrm>
          <a:prstGeom prst="rect">
            <a:avLst/>
          </a:prstGeom>
        </p:spPr>
      </p:pic>
      <p:sp>
        <p:nvSpPr>
          <p:cNvPr id="27" name="Text 20"/>
          <p:cNvSpPr txBox="1"/>
          <p:nvPr/>
        </p:nvSpPr>
        <p:spPr>
          <a:xfrm>
            <a:off x="5298338" y="4251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Konsum &amp; Stillleben</a:t>
            </a:r>
            <a:endParaRPr lang="de-DE" sz="1800" dirty="0"/>
          </a:p>
        </p:txBody>
      </p:sp>
      <p:sp>
        <p:nvSpPr>
          <p:cNvPr id="28" name="Text 21"/>
          <p:cNvSpPr txBox="1"/>
          <p:nvPr/>
        </p:nvSpPr>
        <p:spPr>
          <a:xfrm>
            <a:off x="4566818" y="4937760"/>
            <a:ext cx="3058058" cy="1005840"/>
          </a:xfrm>
          <a:prstGeom prst="rect">
            <a:avLst/>
          </a:prstGeom>
          <a:noFill/>
          <a:ln/>
        </p:spPr>
        <p:txBody>
          <a:bodyPr wrap="square" lIns="0" tIns="0" rIns="0" bIns="0" rtlCol="0" anchor="t"/>
          <a:lstStyle/>
          <a:p>
            <a:pPr indent="0" marL="0">
              <a:spcAft>
                <a:spcPts val="400"/>
              </a:spcAft>
              <a:buNone/>
            </a:pPr>
            <a:r>
              <a:rPr lang="de-DE" altLang="en-US" sz="1500" dirty="0">
                <a:solidFill>
                  <a:srgbClr val="A8A8A3"/>
                </a:solidFill>
                <a:latin typeface="Arial" pitchFamily="34" charset="0"/>
                <a:ea typeface="Arial" pitchFamily="34" charset="-122"/>
                <a:cs typeface="Arial" pitchFamily="34" charset="-120"/>
              </a:rPr>
              <a:t>Kaugummiautomaten, Spielzeug, Symbole der Vergänglichkeit</a:t>
            </a:r>
            <a:endParaRPr lang="de-DE" sz="1500" dirty="0"/>
          </a:p>
          <a:p>
            <a:pPr indent="0" marL="0">
              <a:spcAft>
                <a:spcPts val="400"/>
              </a:spcAft>
              <a:buNone/>
            </a:pPr>
            <a:r>
              <a:rPr lang="de-DE" altLang="en-US" sz="1500" b="1" dirty="0">
                <a:solidFill>
                  <a:srgbClr val="F5B21B"/>
                </a:solidFill>
                <a:latin typeface="Arial" pitchFamily="34" charset="0"/>
                <a:ea typeface="Arial" pitchFamily="34" charset="-122"/>
                <a:cs typeface="Arial" pitchFamily="34" charset="-120"/>
              </a:rPr>
              <a:t>Charles Bell, Audrey Flack</a:t>
            </a:r>
            <a:endParaRPr lang="de-DE" sz="1500" dirty="0"/>
          </a:p>
        </p:txBody>
      </p:sp>
      <p:sp>
        <p:nvSpPr>
          <p:cNvPr id="29" name="Shape 22"/>
          <p:cNvSpPr/>
          <p:nvPr/>
        </p:nvSpPr>
        <p:spPr>
          <a:xfrm>
            <a:off x="8127797" y="4023360"/>
            <a:ext cx="3515258" cy="2011680"/>
          </a:xfrm>
          <a:prstGeom prst="rect">
            <a:avLst/>
          </a:prstGeom>
          <a:solidFill>
            <a:srgbClr val="2E2E2E"/>
          </a:solidFill>
          <a:ln w="9525">
            <a:solidFill>
              <a:srgbClr val="484848"/>
            </a:solidFill>
            <a:prstDash val="solid"/>
          </a:ln>
        </p:spPr>
      </p:sp>
      <p:sp>
        <p:nvSpPr>
          <p:cNvPr id="30" name="Shape 23"/>
          <p:cNvSpPr/>
          <p:nvPr/>
        </p:nvSpPr>
        <p:spPr>
          <a:xfrm>
            <a:off x="8356397" y="4251960"/>
            <a:ext cx="566928" cy="566928"/>
          </a:xfrm>
          <a:prstGeom prst="ellipse">
            <a:avLst/>
          </a:prstGeom>
          <a:solidFill>
            <a:srgbClr val="1C1C1C"/>
          </a:solidFill>
          <a:ln w="15875">
            <a:solidFill>
              <a:srgbClr val="F5B21B"/>
            </a:solidFill>
            <a:prstDash val="solid"/>
          </a:ln>
        </p:spPr>
      </p:sp>
      <p:pic>
        <p:nvPicPr>
          <p:cNvPr id="31" name="Image 5" descr="Symbol Man">    </p:cNvPr>
          <p:cNvPicPr>
            <a:picLocks noChangeAspect="1"/>
          </p:cNvPicPr>
          <p:nvPr/>
        </p:nvPicPr>
        <p:blipFill>
          <a:blip r:embed="rId6"/>
          <a:stretch>
            <a:fillRect/>
          </a:stretch>
        </p:blipFill>
        <p:spPr>
          <a:xfrm>
            <a:off x="8481121" y="4376684"/>
            <a:ext cx="317480" cy="317480"/>
          </a:xfrm>
          <a:prstGeom prst="rect">
            <a:avLst/>
          </a:prstGeom>
        </p:spPr>
      </p:pic>
      <p:sp>
        <p:nvSpPr>
          <p:cNvPr id="32" name="Text 24"/>
          <p:cNvSpPr txBox="1"/>
          <p:nvPr/>
        </p:nvSpPr>
        <p:spPr>
          <a:xfrm>
            <a:off x="9087917" y="4251960"/>
            <a:ext cx="2372258" cy="566928"/>
          </a:xfrm>
          <a:prstGeom prst="rect">
            <a:avLst/>
          </a:prstGeom>
          <a:noFill/>
          <a:ln/>
        </p:spPr>
        <p:txBody>
          <a:bodyPr wrap="square" lIns="0" tIns="0" rIns="0" bIns="0" rtlCol="0" anchor="ctr"/>
          <a:lstStyle/>
          <a:p>
            <a:pPr indent="0" marL="0">
              <a:buNone/>
            </a:pPr>
            <a:r>
              <a:rPr lang="de-DE" altLang="en-US" sz="1800" b="1" dirty="0">
                <a:solidFill>
                  <a:srgbClr val="F5F5F2"/>
                </a:solidFill>
                <a:latin typeface="Arial" pitchFamily="34" charset="0"/>
                <a:ea typeface="Arial" pitchFamily="34" charset="-122"/>
                <a:cs typeface="Arial" pitchFamily="34" charset="-120"/>
              </a:rPr>
              <a:t>Mensch &amp; Körper</a:t>
            </a:r>
            <a:endParaRPr lang="de-DE" sz="1800" dirty="0"/>
          </a:p>
        </p:txBody>
      </p:sp>
      <p:sp>
        <p:nvSpPr>
          <p:cNvPr id="33" name="Text 25"/>
          <p:cNvSpPr txBox="1"/>
          <p:nvPr/>
        </p:nvSpPr>
        <p:spPr>
          <a:xfrm>
            <a:off x="8356397" y="4937760"/>
            <a:ext cx="3058058" cy="1005840"/>
          </a:xfrm>
          <a:prstGeom prst="rect">
            <a:avLst/>
          </a:prstGeom>
          <a:noFill/>
          <a:ln/>
        </p:spPr>
        <p:txBody>
          <a:bodyPr wrap="square" lIns="0" tIns="0" rIns="0" bIns="0" rtlCol="0" anchor="t"/>
          <a:lstStyle/>
          <a:p>
            <a:pPr indent="0" marL="0">
              <a:spcAft>
                <a:spcPts val="400"/>
              </a:spcAft>
              <a:buNone/>
            </a:pPr>
            <a:r>
              <a:rPr lang="de-DE" altLang="en-US" sz="1500" dirty="0">
                <a:solidFill>
                  <a:srgbClr val="A8A8A3"/>
                </a:solidFill>
                <a:latin typeface="Arial" pitchFamily="34" charset="0"/>
                <a:ea typeface="Arial" pitchFamily="34" charset="-122"/>
                <a:cs typeface="Arial" pitchFamily="34" charset="-120"/>
              </a:rPr>
              <a:t>Lebensechte Figuren, Haut, Poren, Haare</a:t>
            </a:r>
            <a:endParaRPr lang="de-DE" sz="1500" dirty="0"/>
          </a:p>
          <a:p>
            <a:pPr indent="0" marL="0">
              <a:spcAft>
                <a:spcPts val="400"/>
              </a:spcAft>
              <a:buNone/>
            </a:pPr>
            <a:r>
              <a:rPr lang="de-DE" altLang="en-US" sz="1500" b="1" dirty="0">
                <a:solidFill>
                  <a:srgbClr val="F5B21B"/>
                </a:solidFill>
                <a:latin typeface="Arial" pitchFamily="34" charset="0"/>
                <a:ea typeface="Arial" pitchFamily="34" charset="-122"/>
                <a:cs typeface="Arial" pitchFamily="34" charset="-120"/>
              </a:rPr>
              <a:t>Duane Hanson, Ron Mueck</a:t>
            </a:r>
            <a:endParaRPr lang="de-DE"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04 · HAUPTVERTRETER FOTOREALISMUS</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Die Pioniere: USA und Europa</a:t>
            </a:r>
            <a:endParaRPr lang="de-DE" sz="3200" dirty="0"/>
          </a:p>
        </p:txBody>
      </p:sp>
      <p:sp>
        <p:nvSpPr>
          <p:cNvPr id="4" name="Shape 2"/>
          <p:cNvSpPr/>
          <p:nvPr/>
        </p:nvSpPr>
        <p:spPr>
          <a:xfrm>
            <a:off x="548640" y="1737360"/>
            <a:ext cx="3515258" cy="2011680"/>
          </a:xfrm>
          <a:prstGeom prst="rect">
            <a:avLst/>
          </a:prstGeom>
          <a:solidFill>
            <a:srgbClr val="2E2E2E"/>
          </a:solidFill>
          <a:ln w="9525">
            <a:solidFill>
              <a:srgbClr val="484848"/>
            </a:solidFill>
            <a:prstDash val="solid"/>
          </a:ln>
        </p:spPr>
      </p:sp>
      <p:sp>
        <p:nvSpPr>
          <p:cNvPr id="5" name="Text 3"/>
          <p:cNvSpPr txBox="1"/>
          <p:nvPr/>
        </p:nvSpPr>
        <p:spPr>
          <a:xfrm>
            <a:off x="822960" y="1965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Richard Estes</a:t>
            </a:r>
            <a:endParaRPr lang="de-DE" sz="2100" dirty="0"/>
          </a:p>
        </p:txBody>
      </p:sp>
      <p:sp>
        <p:nvSpPr>
          <p:cNvPr id="6" name="Text 4"/>
          <p:cNvSpPr txBox="1"/>
          <p:nvPr/>
        </p:nvSpPr>
        <p:spPr>
          <a:xfrm>
            <a:off x="822960" y="2423160"/>
            <a:ext cx="2966618" cy="274320"/>
          </a:xfrm>
          <a:prstGeom prst="rect">
            <a:avLst/>
          </a:prstGeom>
          <a:noFill/>
          <a:ln/>
        </p:spPr>
        <p:txBody>
          <a:bodyPr wrap="square" lIns="0" tIns="0" rIns="0" bIns="0" rtlCol="0" anchor="t"/>
          <a:lstStyle/>
          <a:p>
            <a:pPr indent="0" marL="0">
              <a:buNone/>
            </a:pPr>
            <a:r>
              <a:rPr lang="de-DE" altLang="en-US" sz="1300" b="1" dirty="0">
                <a:solidFill>
                  <a:srgbClr val="F5B21B"/>
                </a:solidFill>
                <a:latin typeface="Arial" pitchFamily="34" charset="0"/>
                <a:ea typeface="Arial" pitchFamily="34" charset="-122"/>
                <a:cs typeface="Arial" pitchFamily="34" charset="-120"/>
              </a:rPr>
              <a:t>* 1932 · USA</a:t>
            </a:r>
            <a:endParaRPr lang="de-DE" sz="1300" dirty="0"/>
          </a:p>
        </p:txBody>
      </p:sp>
      <p:sp>
        <p:nvSpPr>
          <p:cNvPr id="7" name="Text 5"/>
          <p:cNvSpPr txBox="1"/>
          <p:nvPr/>
        </p:nvSpPr>
        <p:spPr>
          <a:xfrm>
            <a:off x="822960" y="2788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Mitbegründer; New Yorker Stadtansichten voller Spiegelungen</a:t>
            </a:r>
            <a:endParaRPr lang="de-DE" sz="1600" dirty="0"/>
          </a:p>
        </p:txBody>
      </p:sp>
      <p:sp>
        <p:nvSpPr>
          <p:cNvPr id="8" name="Shape 6"/>
          <p:cNvSpPr/>
          <p:nvPr/>
        </p:nvSpPr>
        <p:spPr>
          <a:xfrm>
            <a:off x="4338218" y="1737360"/>
            <a:ext cx="3515258" cy="2011680"/>
          </a:xfrm>
          <a:prstGeom prst="rect">
            <a:avLst/>
          </a:prstGeom>
          <a:solidFill>
            <a:srgbClr val="2E2E2E"/>
          </a:solidFill>
          <a:ln w="9525">
            <a:solidFill>
              <a:srgbClr val="484848"/>
            </a:solidFill>
            <a:prstDash val="solid"/>
          </a:ln>
        </p:spPr>
      </p:sp>
      <p:sp>
        <p:nvSpPr>
          <p:cNvPr id="9" name="Text 7"/>
          <p:cNvSpPr txBox="1"/>
          <p:nvPr/>
        </p:nvSpPr>
        <p:spPr>
          <a:xfrm>
            <a:off x="4612538" y="1965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Chuck Close</a:t>
            </a:r>
            <a:endParaRPr lang="de-DE" sz="2100" dirty="0"/>
          </a:p>
        </p:txBody>
      </p:sp>
      <p:sp>
        <p:nvSpPr>
          <p:cNvPr id="10" name="Text 8"/>
          <p:cNvSpPr txBox="1"/>
          <p:nvPr/>
        </p:nvSpPr>
        <p:spPr>
          <a:xfrm>
            <a:off x="4612538" y="2423160"/>
            <a:ext cx="2966618" cy="274320"/>
          </a:xfrm>
          <a:prstGeom prst="rect">
            <a:avLst/>
          </a:prstGeom>
          <a:noFill/>
          <a:ln/>
        </p:spPr>
        <p:txBody>
          <a:bodyPr wrap="square" lIns="0" tIns="0" rIns="0" bIns="0" rtlCol="0" anchor="t"/>
          <a:lstStyle/>
          <a:p>
            <a:pPr indent="0" marL="0">
              <a:buNone/>
            </a:pPr>
            <a:r>
              <a:rPr lang="de-DE" altLang="en-US" sz="1300" b="1" dirty="0">
                <a:solidFill>
                  <a:srgbClr val="F5B21B"/>
                </a:solidFill>
                <a:latin typeface="Arial" pitchFamily="34" charset="0"/>
                <a:ea typeface="Arial" pitchFamily="34" charset="-122"/>
                <a:cs typeface="Arial" pitchFamily="34" charset="-120"/>
              </a:rPr>
              <a:t>1940–2021 · USA</a:t>
            </a:r>
            <a:endParaRPr lang="de-DE" sz="1300" dirty="0"/>
          </a:p>
        </p:txBody>
      </p:sp>
      <p:sp>
        <p:nvSpPr>
          <p:cNvPr id="11" name="Text 9"/>
          <p:cNvSpPr txBox="1"/>
          <p:nvPr/>
        </p:nvSpPr>
        <p:spPr>
          <a:xfrm>
            <a:off x="4612538" y="2788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Monumentale Porträts, im Raster übertragen</a:t>
            </a:r>
            <a:endParaRPr lang="de-DE" sz="1600" dirty="0"/>
          </a:p>
        </p:txBody>
      </p:sp>
      <p:sp>
        <p:nvSpPr>
          <p:cNvPr id="12" name="Shape 10"/>
          <p:cNvSpPr/>
          <p:nvPr/>
        </p:nvSpPr>
        <p:spPr>
          <a:xfrm>
            <a:off x="8127797" y="1737360"/>
            <a:ext cx="3515258" cy="2011680"/>
          </a:xfrm>
          <a:prstGeom prst="rect">
            <a:avLst/>
          </a:prstGeom>
          <a:solidFill>
            <a:srgbClr val="2E2E2E"/>
          </a:solidFill>
          <a:ln w="9525">
            <a:solidFill>
              <a:srgbClr val="484848"/>
            </a:solidFill>
            <a:prstDash val="solid"/>
          </a:ln>
        </p:spPr>
      </p:sp>
      <p:sp>
        <p:nvSpPr>
          <p:cNvPr id="13" name="Text 11"/>
          <p:cNvSpPr txBox="1"/>
          <p:nvPr/>
        </p:nvSpPr>
        <p:spPr>
          <a:xfrm>
            <a:off x="8402117" y="1965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Ralph Goings</a:t>
            </a:r>
            <a:endParaRPr lang="de-DE" sz="2100" dirty="0"/>
          </a:p>
        </p:txBody>
      </p:sp>
      <p:sp>
        <p:nvSpPr>
          <p:cNvPr id="14" name="Text 12"/>
          <p:cNvSpPr txBox="1"/>
          <p:nvPr/>
        </p:nvSpPr>
        <p:spPr>
          <a:xfrm>
            <a:off x="8402117" y="2423160"/>
            <a:ext cx="2966618" cy="274320"/>
          </a:xfrm>
          <a:prstGeom prst="rect">
            <a:avLst/>
          </a:prstGeom>
          <a:noFill/>
          <a:ln/>
        </p:spPr>
        <p:txBody>
          <a:bodyPr wrap="square" lIns="0" tIns="0" rIns="0" bIns="0" rtlCol="0" anchor="t"/>
          <a:lstStyle/>
          <a:p>
            <a:pPr indent="0" marL="0">
              <a:buNone/>
            </a:pPr>
            <a:r>
              <a:rPr lang="de-DE" altLang="en-US" sz="1300" b="1" dirty="0">
                <a:solidFill>
                  <a:srgbClr val="F5B21B"/>
                </a:solidFill>
                <a:latin typeface="Arial" pitchFamily="34" charset="0"/>
                <a:ea typeface="Arial" pitchFamily="34" charset="-122"/>
                <a:cs typeface="Arial" pitchFamily="34" charset="-120"/>
              </a:rPr>
              <a:t>1928–2016 · USA</a:t>
            </a:r>
            <a:endParaRPr lang="de-DE" sz="1300" dirty="0"/>
          </a:p>
        </p:txBody>
      </p:sp>
      <p:sp>
        <p:nvSpPr>
          <p:cNvPr id="15" name="Text 13"/>
          <p:cNvSpPr txBox="1"/>
          <p:nvPr/>
        </p:nvSpPr>
        <p:spPr>
          <a:xfrm>
            <a:off x="8402117" y="2788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Diners, Pick-ups und Wohnwagen</a:t>
            </a:r>
            <a:endParaRPr lang="de-DE" sz="1600" dirty="0"/>
          </a:p>
        </p:txBody>
      </p:sp>
      <p:sp>
        <p:nvSpPr>
          <p:cNvPr id="16" name="Shape 14"/>
          <p:cNvSpPr/>
          <p:nvPr/>
        </p:nvSpPr>
        <p:spPr>
          <a:xfrm>
            <a:off x="548640" y="4023360"/>
            <a:ext cx="3515258" cy="2011680"/>
          </a:xfrm>
          <a:prstGeom prst="rect">
            <a:avLst/>
          </a:prstGeom>
          <a:solidFill>
            <a:srgbClr val="2E2E2E"/>
          </a:solidFill>
          <a:ln w="9525">
            <a:solidFill>
              <a:srgbClr val="484848"/>
            </a:solidFill>
            <a:prstDash val="solid"/>
          </a:ln>
        </p:spPr>
      </p:sp>
      <p:sp>
        <p:nvSpPr>
          <p:cNvPr id="17" name="Text 15"/>
          <p:cNvSpPr txBox="1"/>
          <p:nvPr/>
        </p:nvSpPr>
        <p:spPr>
          <a:xfrm>
            <a:off x="822960" y="4251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Audrey Flack</a:t>
            </a:r>
            <a:endParaRPr lang="de-DE" sz="2100" dirty="0"/>
          </a:p>
        </p:txBody>
      </p:sp>
      <p:sp>
        <p:nvSpPr>
          <p:cNvPr id="18" name="Text 16"/>
          <p:cNvSpPr txBox="1"/>
          <p:nvPr/>
        </p:nvSpPr>
        <p:spPr>
          <a:xfrm>
            <a:off x="822960" y="4709160"/>
            <a:ext cx="2966618" cy="274320"/>
          </a:xfrm>
          <a:prstGeom prst="rect">
            <a:avLst/>
          </a:prstGeom>
          <a:noFill/>
          <a:ln/>
        </p:spPr>
        <p:txBody>
          <a:bodyPr wrap="square" lIns="0" tIns="0" rIns="0" bIns="0" rtlCol="0" anchor="t"/>
          <a:lstStyle/>
          <a:p>
            <a:pPr indent="0" marL="0">
              <a:buNone/>
            </a:pPr>
            <a:r>
              <a:rPr lang="de-DE" altLang="en-US" sz="1300" b="1" dirty="0">
                <a:solidFill>
                  <a:srgbClr val="F5B21B"/>
                </a:solidFill>
                <a:latin typeface="Arial" pitchFamily="34" charset="0"/>
                <a:ea typeface="Arial" pitchFamily="34" charset="-122"/>
                <a:cs typeface="Arial" pitchFamily="34" charset="-120"/>
              </a:rPr>
              <a:t>1931–2024 · USA</a:t>
            </a:r>
            <a:endParaRPr lang="de-DE" sz="1300" dirty="0"/>
          </a:p>
        </p:txBody>
      </p:sp>
      <p:sp>
        <p:nvSpPr>
          <p:cNvPr id="19" name="Text 17"/>
          <p:cNvSpPr txBox="1"/>
          <p:nvPr/>
        </p:nvSpPr>
        <p:spPr>
          <a:xfrm>
            <a:off x="822960" y="5074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Wichtigste Künstlerin der ersten Generation; Vanitas-Stillleben</a:t>
            </a:r>
            <a:endParaRPr lang="de-DE" sz="1600" dirty="0"/>
          </a:p>
        </p:txBody>
      </p:sp>
      <p:sp>
        <p:nvSpPr>
          <p:cNvPr id="20" name="Shape 18"/>
          <p:cNvSpPr/>
          <p:nvPr/>
        </p:nvSpPr>
        <p:spPr>
          <a:xfrm>
            <a:off x="4338218" y="4023360"/>
            <a:ext cx="3515258" cy="2011680"/>
          </a:xfrm>
          <a:prstGeom prst="rect">
            <a:avLst/>
          </a:prstGeom>
          <a:solidFill>
            <a:srgbClr val="2E2E2E"/>
          </a:solidFill>
          <a:ln w="9525">
            <a:solidFill>
              <a:srgbClr val="484848"/>
            </a:solidFill>
            <a:prstDash val="solid"/>
          </a:ln>
        </p:spPr>
      </p:sp>
      <p:sp>
        <p:nvSpPr>
          <p:cNvPr id="21" name="Text 19"/>
          <p:cNvSpPr txBox="1"/>
          <p:nvPr/>
        </p:nvSpPr>
        <p:spPr>
          <a:xfrm>
            <a:off x="4612538" y="4251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Robert Bechtle</a:t>
            </a:r>
            <a:endParaRPr lang="de-DE" sz="2100" dirty="0"/>
          </a:p>
        </p:txBody>
      </p:sp>
      <p:sp>
        <p:nvSpPr>
          <p:cNvPr id="22" name="Text 20"/>
          <p:cNvSpPr txBox="1"/>
          <p:nvPr/>
        </p:nvSpPr>
        <p:spPr>
          <a:xfrm>
            <a:off x="4612538" y="4709160"/>
            <a:ext cx="2966618" cy="274320"/>
          </a:xfrm>
          <a:prstGeom prst="rect">
            <a:avLst/>
          </a:prstGeom>
          <a:noFill/>
          <a:ln/>
        </p:spPr>
        <p:txBody>
          <a:bodyPr wrap="square" lIns="0" tIns="0" rIns="0" bIns="0" rtlCol="0" anchor="t"/>
          <a:lstStyle/>
          <a:p>
            <a:pPr indent="0" marL="0">
              <a:buNone/>
            </a:pPr>
            <a:r>
              <a:rPr lang="de-DE" altLang="en-US" sz="1300" b="1" dirty="0">
                <a:solidFill>
                  <a:srgbClr val="F5B21B"/>
                </a:solidFill>
                <a:latin typeface="Arial" pitchFamily="34" charset="0"/>
                <a:ea typeface="Arial" pitchFamily="34" charset="-122"/>
                <a:cs typeface="Arial" pitchFamily="34" charset="-120"/>
              </a:rPr>
              <a:t>1932–2020 · USA</a:t>
            </a:r>
            <a:endParaRPr lang="de-DE" sz="1300" dirty="0"/>
          </a:p>
        </p:txBody>
      </p:sp>
      <p:sp>
        <p:nvSpPr>
          <p:cNvPr id="23" name="Text 21"/>
          <p:cNvSpPr txBox="1"/>
          <p:nvPr/>
        </p:nvSpPr>
        <p:spPr>
          <a:xfrm>
            <a:off x="4612538" y="5074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Kalifornische Vorstadt: Autos, Häuser, Familien</a:t>
            </a:r>
            <a:endParaRPr lang="de-DE" sz="1600" dirty="0"/>
          </a:p>
        </p:txBody>
      </p:sp>
      <p:sp>
        <p:nvSpPr>
          <p:cNvPr id="24" name="Shape 22"/>
          <p:cNvSpPr/>
          <p:nvPr/>
        </p:nvSpPr>
        <p:spPr>
          <a:xfrm>
            <a:off x="8127797" y="4023360"/>
            <a:ext cx="3515258" cy="2011680"/>
          </a:xfrm>
          <a:prstGeom prst="rect">
            <a:avLst/>
          </a:prstGeom>
          <a:solidFill>
            <a:srgbClr val="2E2E2E"/>
          </a:solidFill>
          <a:ln w="9525">
            <a:solidFill>
              <a:srgbClr val="484848"/>
            </a:solidFill>
            <a:prstDash val="solid"/>
          </a:ln>
        </p:spPr>
      </p:sp>
      <p:sp>
        <p:nvSpPr>
          <p:cNvPr id="25" name="Text 23"/>
          <p:cNvSpPr txBox="1"/>
          <p:nvPr/>
        </p:nvSpPr>
        <p:spPr>
          <a:xfrm>
            <a:off x="8402117" y="4251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Franz Gertsch</a:t>
            </a:r>
            <a:endParaRPr lang="de-DE" sz="2100" dirty="0"/>
          </a:p>
        </p:txBody>
      </p:sp>
      <p:sp>
        <p:nvSpPr>
          <p:cNvPr id="26" name="Text 24"/>
          <p:cNvSpPr txBox="1"/>
          <p:nvPr/>
        </p:nvSpPr>
        <p:spPr>
          <a:xfrm>
            <a:off x="8402117" y="4709160"/>
            <a:ext cx="2966618" cy="274320"/>
          </a:xfrm>
          <a:prstGeom prst="rect">
            <a:avLst/>
          </a:prstGeom>
          <a:noFill/>
          <a:ln/>
        </p:spPr>
        <p:txBody>
          <a:bodyPr wrap="square" lIns="0" tIns="0" rIns="0" bIns="0" rtlCol="0" anchor="t"/>
          <a:lstStyle/>
          <a:p>
            <a:pPr indent="0" marL="0">
              <a:buNone/>
            </a:pPr>
            <a:r>
              <a:rPr lang="de-DE" altLang="en-US" sz="1300" b="1" dirty="0">
                <a:solidFill>
                  <a:srgbClr val="F5B21B"/>
                </a:solidFill>
                <a:latin typeface="Arial" pitchFamily="34" charset="0"/>
                <a:ea typeface="Arial" pitchFamily="34" charset="-122"/>
                <a:cs typeface="Arial" pitchFamily="34" charset="-120"/>
              </a:rPr>
              <a:t>1930–2022 · Schweiz</a:t>
            </a:r>
            <a:endParaRPr lang="de-DE" sz="1300" dirty="0"/>
          </a:p>
        </p:txBody>
      </p:sp>
      <p:sp>
        <p:nvSpPr>
          <p:cNvPr id="27" name="Text 25"/>
          <p:cNvSpPr txBox="1"/>
          <p:nvPr/>
        </p:nvSpPr>
        <p:spPr>
          <a:xfrm>
            <a:off x="8402117" y="5074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Gilt als wichtigster europäischer Fotorealist</a:t>
            </a:r>
            <a:endParaRPr lang="de-DE"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04 · HAUPTVERTRETER HYPERREALISMUS</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Skulptur und Malerei bis heute</a:t>
            </a:r>
            <a:endParaRPr lang="de-DE" sz="3200" dirty="0"/>
          </a:p>
        </p:txBody>
      </p:sp>
      <p:sp>
        <p:nvSpPr>
          <p:cNvPr id="4" name="Shape 2"/>
          <p:cNvSpPr/>
          <p:nvPr/>
        </p:nvSpPr>
        <p:spPr>
          <a:xfrm>
            <a:off x="548640" y="1737360"/>
            <a:ext cx="3515258" cy="2011680"/>
          </a:xfrm>
          <a:prstGeom prst="rect">
            <a:avLst/>
          </a:prstGeom>
          <a:solidFill>
            <a:srgbClr val="2E2E2E"/>
          </a:solidFill>
          <a:ln w="9525">
            <a:solidFill>
              <a:srgbClr val="484848"/>
            </a:solidFill>
            <a:prstDash val="solid"/>
          </a:ln>
        </p:spPr>
      </p:sp>
      <p:sp>
        <p:nvSpPr>
          <p:cNvPr id="5" name="Text 3"/>
          <p:cNvSpPr txBox="1"/>
          <p:nvPr/>
        </p:nvSpPr>
        <p:spPr>
          <a:xfrm>
            <a:off x="822960" y="1965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Duane Hanson</a:t>
            </a:r>
            <a:endParaRPr lang="de-DE" sz="2100" dirty="0"/>
          </a:p>
        </p:txBody>
      </p:sp>
      <p:sp>
        <p:nvSpPr>
          <p:cNvPr id="6" name="Text 4"/>
          <p:cNvSpPr txBox="1"/>
          <p:nvPr/>
        </p:nvSpPr>
        <p:spPr>
          <a:xfrm>
            <a:off x="822960" y="2423160"/>
            <a:ext cx="2966618" cy="274320"/>
          </a:xfrm>
          <a:prstGeom prst="rect">
            <a:avLst/>
          </a:prstGeom>
          <a:noFill/>
          <a:ln/>
        </p:spPr>
        <p:txBody>
          <a:bodyPr wrap="square" lIns="0" tIns="0" rIns="0" bIns="0" rtlCol="0" anchor="t"/>
          <a:lstStyle/>
          <a:p>
            <a:pPr indent="0" marL="0">
              <a:buNone/>
            </a:pPr>
            <a:r>
              <a:rPr lang="de-DE" altLang="en-US" sz="1300" b="1" dirty="0">
                <a:solidFill>
                  <a:srgbClr val="8CC4D6"/>
                </a:solidFill>
                <a:latin typeface="Arial" pitchFamily="34" charset="0"/>
                <a:ea typeface="Arial" pitchFamily="34" charset="-122"/>
                <a:cs typeface="Arial" pitchFamily="34" charset="-120"/>
              </a:rPr>
              <a:t>1925–1996 · USA</a:t>
            </a:r>
            <a:endParaRPr lang="de-DE" sz="1300" dirty="0"/>
          </a:p>
        </p:txBody>
      </p:sp>
      <p:sp>
        <p:nvSpPr>
          <p:cNvPr id="7" name="Text 5"/>
          <p:cNvSpPr txBox="1"/>
          <p:nvPr/>
        </p:nvSpPr>
        <p:spPr>
          <a:xfrm>
            <a:off x="822960" y="2788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Lebensgroße Figuren aus Kunstharz mit echter Kleidung</a:t>
            </a:r>
            <a:endParaRPr lang="de-DE" sz="1600" dirty="0"/>
          </a:p>
        </p:txBody>
      </p:sp>
      <p:sp>
        <p:nvSpPr>
          <p:cNvPr id="8" name="Shape 6"/>
          <p:cNvSpPr/>
          <p:nvPr/>
        </p:nvSpPr>
        <p:spPr>
          <a:xfrm>
            <a:off x="4338218" y="1737360"/>
            <a:ext cx="3515258" cy="2011680"/>
          </a:xfrm>
          <a:prstGeom prst="rect">
            <a:avLst/>
          </a:prstGeom>
          <a:solidFill>
            <a:srgbClr val="2E2E2E"/>
          </a:solidFill>
          <a:ln w="9525">
            <a:solidFill>
              <a:srgbClr val="484848"/>
            </a:solidFill>
            <a:prstDash val="solid"/>
          </a:ln>
        </p:spPr>
      </p:sp>
      <p:sp>
        <p:nvSpPr>
          <p:cNvPr id="9" name="Text 7"/>
          <p:cNvSpPr txBox="1"/>
          <p:nvPr/>
        </p:nvSpPr>
        <p:spPr>
          <a:xfrm>
            <a:off x="4612538" y="1965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John De Andrea</a:t>
            </a:r>
            <a:endParaRPr lang="de-DE" sz="2100" dirty="0"/>
          </a:p>
        </p:txBody>
      </p:sp>
      <p:sp>
        <p:nvSpPr>
          <p:cNvPr id="10" name="Text 8"/>
          <p:cNvSpPr txBox="1"/>
          <p:nvPr/>
        </p:nvSpPr>
        <p:spPr>
          <a:xfrm>
            <a:off x="4612538" y="2423160"/>
            <a:ext cx="2966618" cy="274320"/>
          </a:xfrm>
          <a:prstGeom prst="rect">
            <a:avLst/>
          </a:prstGeom>
          <a:noFill/>
          <a:ln/>
        </p:spPr>
        <p:txBody>
          <a:bodyPr wrap="square" lIns="0" tIns="0" rIns="0" bIns="0" rtlCol="0" anchor="t"/>
          <a:lstStyle/>
          <a:p>
            <a:pPr indent="0" marL="0">
              <a:buNone/>
            </a:pPr>
            <a:r>
              <a:rPr lang="de-DE" altLang="en-US" sz="1300" b="1" dirty="0">
                <a:solidFill>
                  <a:srgbClr val="8CC4D6"/>
                </a:solidFill>
                <a:latin typeface="Arial" pitchFamily="34" charset="0"/>
                <a:ea typeface="Arial" pitchFamily="34" charset="-122"/>
                <a:cs typeface="Arial" pitchFamily="34" charset="-120"/>
              </a:rPr>
              <a:t>* 1941 · USA</a:t>
            </a:r>
            <a:endParaRPr lang="de-DE" sz="1300" dirty="0"/>
          </a:p>
        </p:txBody>
      </p:sp>
      <p:sp>
        <p:nvSpPr>
          <p:cNvPr id="11" name="Text 9"/>
          <p:cNvSpPr txBox="1"/>
          <p:nvPr/>
        </p:nvSpPr>
        <p:spPr>
          <a:xfrm>
            <a:off x="4612538" y="2788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Lebensechte Aktfiguren aus bemaltem Kunststoff</a:t>
            </a:r>
            <a:endParaRPr lang="de-DE" sz="1600" dirty="0"/>
          </a:p>
        </p:txBody>
      </p:sp>
      <p:sp>
        <p:nvSpPr>
          <p:cNvPr id="12" name="Shape 10"/>
          <p:cNvSpPr/>
          <p:nvPr/>
        </p:nvSpPr>
        <p:spPr>
          <a:xfrm>
            <a:off x="8127797" y="1737360"/>
            <a:ext cx="3515258" cy="2011680"/>
          </a:xfrm>
          <a:prstGeom prst="rect">
            <a:avLst/>
          </a:prstGeom>
          <a:solidFill>
            <a:srgbClr val="2E2E2E"/>
          </a:solidFill>
          <a:ln w="9525">
            <a:solidFill>
              <a:srgbClr val="484848"/>
            </a:solidFill>
            <a:prstDash val="solid"/>
          </a:ln>
        </p:spPr>
      </p:sp>
      <p:sp>
        <p:nvSpPr>
          <p:cNvPr id="13" name="Text 11"/>
          <p:cNvSpPr txBox="1"/>
          <p:nvPr/>
        </p:nvSpPr>
        <p:spPr>
          <a:xfrm>
            <a:off x="8402117" y="1965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Ron Mueck</a:t>
            </a:r>
            <a:endParaRPr lang="de-DE" sz="2100" dirty="0"/>
          </a:p>
        </p:txBody>
      </p:sp>
      <p:sp>
        <p:nvSpPr>
          <p:cNvPr id="14" name="Text 12"/>
          <p:cNvSpPr txBox="1"/>
          <p:nvPr/>
        </p:nvSpPr>
        <p:spPr>
          <a:xfrm>
            <a:off x="8402117" y="2423160"/>
            <a:ext cx="2966618" cy="274320"/>
          </a:xfrm>
          <a:prstGeom prst="rect">
            <a:avLst/>
          </a:prstGeom>
          <a:noFill/>
          <a:ln/>
        </p:spPr>
        <p:txBody>
          <a:bodyPr wrap="square" lIns="0" tIns="0" rIns="0" bIns="0" rtlCol="0" anchor="t"/>
          <a:lstStyle/>
          <a:p>
            <a:pPr indent="0" marL="0">
              <a:buNone/>
            </a:pPr>
            <a:r>
              <a:rPr lang="de-DE" altLang="en-US" sz="1300" b="1" dirty="0">
                <a:solidFill>
                  <a:srgbClr val="8CC4D6"/>
                </a:solidFill>
                <a:latin typeface="Arial" pitchFamily="34" charset="0"/>
                <a:ea typeface="Arial" pitchFamily="34" charset="-122"/>
                <a:cs typeface="Arial" pitchFamily="34" charset="-120"/>
              </a:rPr>
              <a:t>* 1958 · Australien, lebt in London</a:t>
            </a:r>
            <a:endParaRPr lang="de-DE" sz="1300" dirty="0"/>
          </a:p>
        </p:txBody>
      </p:sp>
      <p:sp>
        <p:nvSpPr>
          <p:cNvPr id="15" name="Text 13"/>
          <p:cNvSpPr txBox="1"/>
          <p:nvPr/>
        </p:nvSpPr>
        <p:spPr>
          <a:xfrm>
            <a:off x="8402117" y="2788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Silikonskulpturen mit verändertem Maßstab</a:t>
            </a:r>
            <a:endParaRPr lang="de-DE" sz="1600" dirty="0"/>
          </a:p>
        </p:txBody>
      </p:sp>
      <p:sp>
        <p:nvSpPr>
          <p:cNvPr id="16" name="Shape 14"/>
          <p:cNvSpPr/>
          <p:nvPr/>
        </p:nvSpPr>
        <p:spPr>
          <a:xfrm>
            <a:off x="548640" y="4023360"/>
            <a:ext cx="3515258" cy="2011680"/>
          </a:xfrm>
          <a:prstGeom prst="rect">
            <a:avLst/>
          </a:prstGeom>
          <a:solidFill>
            <a:srgbClr val="2E2E2E"/>
          </a:solidFill>
          <a:ln w="9525">
            <a:solidFill>
              <a:srgbClr val="484848"/>
            </a:solidFill>
            <a:prstDash val="solid"/>
          </a:ln>
        </p:spPr>
      </p:sp>
      <p:sp>
        <p:nvSpPr>
          <p:cNvPr id="17" name="Text 15"/>
          <p:cNvSpPr txBox="1"/>
          <p:nvPr/>
        </p:nvSpPr>
        <p:spPr>
          <a:xfrm>
            <a:off x="822960" y="4251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Gottfried Helnwein</a:t>
            </a:r>
            <a:endParaRPr lang="de-DE" sz="2100" dirty="0"/>
          </a:p>
        </p:txBody>
      </p:sp>
      <p:sp>
        <p:nvSpPr>
          <p:cNvPr id="18" name="Text 16"/>
          <p:cNvSpPr txBox="1"/>
          <p:nvPr/>
        </p:nvSpPr>
        <p:spPr>
          <a:xfrm>
            <a:off x="822960" y="4709160"/>
            <a:ext cx="2966618" cy="274320"/>
          </a:xfrm>
          <a:prstGeom prst="rect">
            <a:avLst/>
          </a:prstGeom>
          <a:noFill/>
          <a:ln/>
        </p:spPr>
        <p:txBody>
          <a:bodyPr wrap="square" lIns="0" tIns="0" rIns="0" bIns="0" rtlCol="0" anchor="t"/>
          <a:lstStyle/>
          <a:p>
            <a:pPr indent="0" marL="0">
              <a:buNone/>
            </a:pPr>
            <a:r>
              <a:rPr lang="de-DE" altLang="en-US" sz="1300" b="1" dirty="0">
                <a:solidFill>
                  <a:srgbClr val="8CC4D6"/>
                </a:solidFill>
                <a:latin typeface="Arial" pitchFamily="34" charset="0"/>
                <a:ea typeface="Arial" pitchFamily="34" charset="-122"/>
                <a:cs typeface="Arial" pitchFamily="34" charset="-120"/>
              </a:rPr>
              <a:t>* 1948 · Österreich/Irland</a:t>
            </a:r>
            <a:endParaRPr lang="de-DE" sz="1300" dirty="0"/>
          </a:p>
        </p:txBody>
      </p:sp>
      <p:sp>
        <p:nvSpPr>
          <p:cNvPr id="19" name="Text 17"/>
          <p:cNvSpPr txBox="1"/>
          <p:nvPr/>
        </p:nvSpPr>
        <p:spPr>
          <a:xfrm>
            <a:off x="822960" y="5074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Verletzte Kinder, NS-Geschichte – Malerei als Provokation</a:t>
            </a:r>
            <a:endParaRPr lang="de-DE" sz="1600" dirty="0"/>
          </a:p>
        </p:txBody>
      </p:sp>
      <p:sp>
        <p:nvSpPr>
          <p:cNvPr id="20" name="Shape 18"/>
          <p:cNvSpPr/>
          <p:nvPr/>
        </p:nvSpPr>
        <p:spPr>
          <a:xfrm>
            <a:off x="4338218" y="4023360"/>
            <a:ext cx="3515258" cy="2011680"/>
          </a:xfrm>
          <a:prstGeom prst="rect">
            <a:avLst/>
          </a:prstGeom>
          <a:solidFill>
            <a:srgbClr val="2E2E2E"/>
          </a:solidFill>
          <a:ln w="9525">
            <a:solidFill>
              <a:srgbClr val="484848"/>
            </a:solidFill>
            <a:prstDash val="solid"/>
          </a:ln>
        </p:spPr>
      </p:sp>
      <p:sp>
        <p:nvSpPr>
          <p:cNvPr id="21" name="Text 19"/>
          <p:cNvSpPr txBox="1"/>
          <p:nvPr/>
        </p:nvSpPr>
        <p:spPr>
          <a:xfrm>
            <a:off x="4612538" y="4251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Roberto Bernardi</a:t>
            </a:r>
            <a:endParaRPr lang="de-DE" sz="2100" dirty="0"/>
          </a:p>
        </p:txBody>
      </p:sp>
      <p:sp>
        <p:nvSpPr>
          <p:cNvPr id="22" name="Text 20"/>
          <p:cNvSpPr txBox="1"/>
          <p:nvPr/>
        </p:nvSpPr>
        <p:spPr>
          <a:xfrm>
            <a:off x="4612538" y="4709160"/>
            <a:ext cx="2966618" cy="274320"/>
          </a:xfrm>
          <a:prstGeom prst="rect">
            <a:avLst/>
          </a:prstGeom>
          <a:noFill/>
          <a:ln/>
        </p:spPr>
        <p:txBody>
          <a:bodyPr wrap="square" lIns="0" tIns="0" rIns="0" bIns="0" rtlCol="0" anchor="t"/>
          <a:lstStyle/>
          <a:p>
            <a:pPr indent="0" marL="0">
              <a:buNone/>
            </a:pPr>
            <a:r>
              <a:rPr lang="de-DE" altLang="en-US" sz="1300" b="1" dirty="0">
                <a:solidFill>
                  <a:srgbClr val="8CC4D6"/>
                </a:solidFill>
                <a:latin typeface="Arial" pitchFamily="34" charset="0"/>
                <a:ea typeface="Arial" pitchFamily="34" charset="-122"/>
                <a:cs typeface="Arial" pitchFamily="34" charset="-120"/>
              </a:rPr>
              <a:t>* 1974 · Italien</a:t>
            </a:r>
            <a:endParaRPr lang="de-DE" sz="1300" dirty="0"/>
          </a:p>
        </p:txBody>
      </p:sp>
      <p:sp>
        <p:nvSpPr>
          <p:cNvPr id="23" name="Text 21"/>
          <p:cNvSpPr txBox="1"/>
          <p:nvPr/>
        </p:nvSpPr>
        <p:spPr>
          <a:xfrm>
            <a:off x="4612538" y="5074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Glas, Süßes und Spiegelungen in Öl</a:t>
            </a:r>
            <a:endParaRPr lang="de-DE" sz="1600" dirty="0"/>
          </a:p>
        </p:txBody>
      </p:sp>
      <p:sp>
        <p:nvSpPr>
          <p:cNvPr id="24" name="Shape 22"/>
          <p:cNvSpPr/>
          <p:nvPr/>
        </p:nvSpPr>
        <p:spPr>
          <a:xfrm>
            <a:off x="8127797" y="4023360"/>
            <a:ext cx="3515258" cy="2011680"/>
          </a:xfrm>
          <a:prstGeom prst="rect">
            <a:avLst/>
          </a:prstGeom>
          <a:solidFill>
            <a:srgbClr val="2E2E2E"/>
          </a:solidFill>
          <a:ln w="9525">
            <a:solidFill>
              <a:srgbClr val="484848"/>
            </a:solidFill>
            <a:prstDash val="solid"/>
          </a:ln>
        </p:spPr>
      </p:sp>
      <p:sp>
        <p:nvSpPr>
          <p:cNvPr id="25" name="Text 23"/>
          <p:cNvSpPr txBox="1"/>
          <p:nvPr/>
        </p:nvSpPr>
        <p:spPr>
          <a:xfrm>
            <a:off x="8402117" y="4251960"/>
            <a:ext cx="2966618" cy="411480"/>
          </a:xfrm>
          <a:prstGeom prst="rect">
            <a:avLst/>
          </a:prstGeom>
          <a:noFill/>
          <a:ln/>
        </p:spPr>
        <p:txBody>
          <a:bodyPr wrap="square" lIns="0" tIns="0" rIns="0" bIns="0" rtlCol="0" anchor="t"/>
          <a:lstStyle/>
          <a:p>
            <a:pPr indent="0" marL="0">
              <a:buNone/>
            </a:pPr>
            <a:r>
              <a:rPr lang="de-DE" altLang="en-US" sz="2100" b="1" dirty="0">
                <a:solidFill>
                  <a:srgbClr val="F5F5F2"/>
                </a:solidFill>
                <a:latin typeface="Georgia" pitchFamily="34" charset="0"/>
                <a:ea typeface="Georgia" pitchFamily="34" charset="-122"/>
                <a:cs typeface="Georgia" pitchFamily="34" charset="-120"/>
              </a:rPr>
              <a:t>Robin Eley</a:t>
            </a:r>
            <a:endParaRPr lang="de-DE" sz="2100" dirty="0"/>
          </a:p>
        </p:txBody>
      </p:sp>
      <p:sp>
        <p:nvSpPr>
          <p:cNvPr id="26" name="Text 24"/>
          <p:cNvSpPr txBox="1"/>
          <p:nvPr/>
        </p:nvSpPr>
        <p:spPr>
          <a:xfrm>
            <a:off x="8402117" y="4709160"/>
            <a:ext cx="2966618" cy="274320"/>
          </a:xfrm>
          <a:prstGeom prst="rect">
            <a:avLst/>
          </a:prstGeom>
          <a:noFill/>
          <a:ln/>
        </p:spPr>
        <p:txBody>
          <a:bodyPr wrap="square" lIns="0" tIns="0" rIns="0" bIns="0" rtlCol="0" anchor="t"/>
          <a:lstStyle/>
          <a:p>
            <a:pPr indent="0" marL="0">
              <a:buNone/>
            </a:pPr>
            <a:r>
              <a:rPr lang="de-DE" altLang="en-US" sz="1300" b="1" dirty="0">
                <a:solidFill>
                  <a:srgbClr val="8CC4D6"/>
                </a:solidFill>
                <a:latin typeface="Arial" pitchFamily="34" charset="0"/>
                <a:ea typeface="Arial" pitchFamily="34" charset="-122"/>
                <a:cs typeface="Arial" pitchFamily="34" charset="-120"/>
              </a:rPr>
              <a:t>* 1978 · Großbritannien/Australien</a:t>
            </a:r>
            <a:endParaRPr lang="de-DE" sz="1300" dirty="0"/>
          </a:p>
        </p:txBody>
      </p:sp>
      <p:sp>
        <p:nvSpPr>
          <p:cNvPr id="27" name="Text 25"/>
          <p:cNvSpPr txBox="1"/>
          <p:nvPr/>
        </p:nvSpPr>
        <p:spPr>
          <a:xfrm>
            <a:off x="8402117" y="5074920"/>
            <a:ext cx="2966618" cy="822960"/>
          </a:xfrm>
          <a:prstGeom prst="rect">
            <a:avLst/>
          </a:prstGeom>
          <a:noFill/>
          <a:ln/>
        </p:spPr>
        <p:txBody>
          <a:bodyPr wrap="square" lIns="0" tIns="0" rIns="0" bIns="0" rtlCol="0" anchor="t"/>
          <a:lstStyle/>
          <a:p>
            <a:pPr indent="0" marL="0">
              <a:buNone/>
            </a:pPr>
            <a:r>
              <a:rPr lang="de-DE" altLang="en-US" sz="1600" dirty="0">
                <a:solidFill>
                  <a:srgbClr val="A8A8A3"/>
                </a:solidFill>
                <a:latin typeface="Arial" pitchFamily="34" charset="0"/>
                <a:ea typeface="Arial" pitchFamily="34" charset="-122"/>
                <a:cs typeface="Arial" pitchFamily="34" charset="-120"/>
              </a:rPr>
              <a:t>Menschen in Plastikfolie – die Folie ist nur gemalt</a:t>
            </a:r>
            <a:endParaRPr lang="de-DE"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05 · WERKBEISPIELE</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Pioniere: Die Vorlage wird zum Bild</a:t>
            </a:r>
            <a:endParaRPr lang="de-DE" sz="3200" dirty="0"/>
          </a:p>
        </p:txBody>
      </p:sp>
      <p:sp>
        <p:nvSpPr>
          <p:cNvPr id="4" name="Bildplatzhalter morley_amsterdam"/>
          <p:cNvSpPr/>
          <p:nvPr/>
        </p:nvSpPr>
        <p:spPr>
          <a:xfrm>
            <a:off x="1000582" y="1783080"/>
            <a:ext cx="4414723" cy="324612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2956484" y="2857500"/>
            <a:ext cx="502920" cy="502920"/>
          </a:xfrm>
          <a:prstGeom prst="rect">
            <a:avLst/>
          </a:prstGeom>
        </p:spPr>
      </p:pic>
      <p:sp>
        <p:nvSpPr>
          <p:cNvPr id="6" name="Text 3"/>
          <p:cNvSpPr txBox="1"/>
          <p:nvPr/>
        </p:nvSpPr>
        <p:spPr>
          <a:xfrm>
            <a:off x="1137742" y="3424428"/>
            <a:ext cx="4140403"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Malcolm Morley: SS Amsterdam in Front of Rotterdam</a:t>
            </a:r>
            <a:endParaRPr lang="de-DE" sz="1100" dirty="0"/>
          </a:p>
        </p:txBody>
      </p:sp>
      <p:sp>
        <p:nvSpPr>
          <p:cNvPr id="7" name="Shape 4"/>
          <p:cNvSpPr/>
          <p:nvPr/>
        </p:nvSpPr>
        <p:spPr>
          <a:xfrm>
            <a:off x="909142" y="1691640"/>
            <a:ext cx="237744" cy="0"/>
          </a:xfrm>
          <a:prstGeom prst="line">
            <a:avLst/>
          </a:prstGeom>
          <a:noFill/>
          <a:ln w="25400">
            <a:solidFill>
              <a:srgbClr val="F5B21B"/>
            </a:solidFill>
            <a:prstDash val="solid"/>
          </a:ln>
        </p:spPr>
      </p:sp>
      <p:sp>
        <p:nvSpPr>
          <p:cNvPr id="8" name="Shape 5"/>
          <p:cNvSpPr/>
          <p:nvPr/>
        </p:nvSpPr>
        <p:spPr>
          <a:xfrm>
            <a:off x="909142" y="1691640"/>
            <a:ext cx="0" cy="237744"/>
          </a:xfrm>
          <a:prstGeom prst="line">
            <a:avLst/>
          </a:prstGeom>
          <a:noFill/>
          <a:ln w="25400">
            <a:solidFill>
              <a:srgbClr val="F5B21B"/>
            </a:solidFill>
            <a:prstDash val="solid"/>
          </a:ln>
        </p:spPr>
      </p:sp>
      <p:sp>
        <p:nvSpPr>
          <p:cNvPr id="9" name="Shape 6"/>
          <p:cNvSpPr/>
          <p:nvPr/>
        </p:nvSpPr>
        <p:spPr>
          <a:xfrm>
            <a:off x="5269001" y="1691640"/>
            <a:ext cx="237744" cy="0"/>
          </a:xfrm>
          <a:prstGeom prst="line">
            <a:avLst/>
          </a:prstGeom>
          <a:noFill/>
          <a:ln w="25400">
            <a:solidFill>
              <a:srgbClr val="F5B21B"/>
            </a:solidFill>
            <a:prstDash val="solid"/>
          </a:ln>
        </p:spPr>
      </p:sp>
      <p:sp>
        <p:nvSpPr>
          <p:cNvPr id="10" name="Shape 7"/>
          <p:cNvSpPr/>
          <p:nvPr/>
        </p:nvSpPr>
        <p:spPr>
          <a:xfrm>
            <a:off x="5506745" y="1691640"/>
            <a:ext cx="0" cy="237744"/>
          </a:xfrm>
          <a:prstGeom prst="line">
            <a:avLst/>
          </a:prstGeom>
          <a:noFill/>
          <a:ln w="25400">
            <a:solidFill>
              <a:srgbClr val="F5B21B"/>
            </a:solidFill>
            <a:prstDash val="solid"/>
          </a:ln>
        </p:spPr>
      </p:sp>
      <p:sp>
        <p:nvSpPr>
          <p:cNvPr id="11" name="Shape 8"/>
          <p:cNvSpPr/>
          <p:nvPr/>
        </p:nvSpPr>
        <p:spPr>
          <a:xfrm>
            <a:off x="909142" y="5120640"/>
            <a:ext cx="237744" cy="0"/>
          </a:xfrm>
          <a:prstGeom prst="line">
            <a:avLst/>
          </a:prstGeom>
          <a:noFill/>
          <a:ln w="25400">
            <a:solidFill>
              <a:srgbClr val="F5B21B"/>
            </a:solidFill>
            <a:prstDash val="solid"/>
          </a:ln>
        </p:spPr>
      </p:sp>
      <p:sp>
        <p:nvSpPr>
          <p:cNvPr id="12" name="Shape 9"/>
          <p:cNvSpPr/>
          <p:nvPr/>
        </p:nvSpPr>
        <p:spPr>
          <a:xfrm>
            <a:off x="909142" y="4882896"/>
            <a:ext cx="0" cy="237744"/>
          </a:xfrm>
          <a:prstGeom prst="line">
            <a:avLst/>
          </a:prstGeom>
          <a:noFill/>
          <a:ln w="25400">
            <a:solidFill>
              <a:srgbClr val="F5B21B"/>
            </a:solidFill>
            <a:prstDash val="solid"/>
          </a:ln>
        </p:spPr>
      </p:sp>
      <p:sp>
        <p:nvSpPr>
          <p:cNvPr id="13" name="Shape 10"/>
          <p:cNvSpPr/>
          <p:nvPr/>
        </p:nvSpPr>
        <p:spPr>
          <a:xfrm>
            <a:off x="5269001" y="5120640"/>
            <a:ext cx="237744" cy="0"/>
          </a:xfrm>
          <a:prstGeom prst="line">
            <a:avLst/>
          </a:prstGeom>
          <a:noFill/>
          <a:ln w="25400">
            <a:solidFill>
              <a:srgbClr val="F5B21B"/>
            </a:solidFill>
            <a:prstDash val="solid"/>
          </a:ln>
        </p:spPr>
      </p:sp>
      <p:sp>
        <p:nvSpPr>
          <p:cNvPr id="14" name="Shape 11"/>
          <p:cNvSpPr/>
          <p:nvPr/>
        </p:nvSpPr>
        <p:spPr>
          <a:xfrm>
            <a:off x="5506745" y="4882896"/>
            <a:ext cx="0" cy="237744"/>
          </a:xfrm>
          <a:prstGeom prst="line">
            <a:avLst/>
          </a:prstGeom>
          <a:noFill/>
          <a:ln w="25400">
            <a:solidFill>
              <a:srgbClr val="F5B21B"/>
            </a:solidFill>
            <a:prstDash val="solid"/>
          </a:ln>
        </p:spPr>
      </p:sp>
      <p:sp>
        <p:nvSpPr>
          <p:cNvPr id="15" name="Text 12"/>
          <p:cNvSpPr txBox="1"/>
          <p:nvPr/>
        </p:nvSpPr>
        <p:spPr>
          <a:xfrm>
            <a:off x="1000582" y="5257800"/>
            <a:ext cx="4866665"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Malcolm Morley,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SS Amsterdam in Front of Rotterdam</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1966</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„Die SS Amsterdam vor Rotterdam“ · Acryl auf Leinwand, ca. 158 × 214 cm · Privatsammlung</a:t>
            </a:r>
            <a:endParaRPr lang="de-DE" sz="1300" dirty="0"/>
          </a:p>
          <a:p>
            <a:pPr indent="0" marL="0">
              <a:spcAft>
                <a:spcPts val="300"/>
              </a:spcAft>
              <a:buNone/>
            </a:pPr>
            <a:r>
              <a:rPr lang="de-DE" altLang="en-US" sz="1300" dirty="0">
                <a:solidFill>
                  <a:srgbClr val="F5B21B"/>
                </a:solidFill>
                <a:latin typeface="Arial" pitchFamily="34" charset="0"/>
                <a:ea typeface="Arial" pitchFamily="34" charset="-122"/>
                <a:cs typeface="Arial" pitchFamily="34" charset="-120"/>
              </a:rPr>
              <a:t>→ Werbebild als Vorlage – per Raster Feld für Feld übertragen</a:t>
            </a:r>
            <a:endParaRPr lang="de-DE" sz="1300" dirty="0"/>
          </a:p>
        </p:txBody>
      </p:sp>
      <p:sp>
        <p:nvSpPr>
          <p:cNvPr id="16" name="Bildplatzhalter gertsch_medici"/>
          <p:cNvSpPr/>
          <p:nvPr/>
        </p:nvSpPr>
        <p:spPr>
          <a:xfrm>
            <a:off x="6549161" y="1783080"/>
            <a:ext cx="4869180" cy="3246120"/>
          </a:xfrm>
          <a:prstGeom prst="rect">
            <a:avLst/>
          </a:prstGeom>
          <a:solidFill>
            <a:srgbClr val="2E2E2E"/>
          </a:solidFill>
          <a:ln w="12700">
            <a:solidFill>
              <a:srgbClr val="484848"/>
            </a:solidFill>
            <a:prstDash val="dash"/>
          </a:ln>
        </p:spPr>
      </p:sp>
      <p:pic>
        <p:nvPicPr>
          <p:cNvPr id="17" name="Image 1" descr="Platzhalter-Symbol">    </p:cNvPr>
          <p:cNvPicPr>
            <a:picLocks noChangeAspect="1"/>
          </p:cNvPicPr>
          <p:nvPr/>
        </p:nvPicPr>
        <p:blipFill>
          <a:blip r:embed="rId2"/>
          <a:stretch>
            <a:fillRect/>
          </a:stretch>
        </p:blipFill>
        <p:spPr>
          <a:xfrm>
            <a:off x="8732291" y="2857500"/>
            <a:ext cx="502920" cy="502920"/>
          </a:xfrm>
          <a:prstGeom prst="rect">
            <a:avLst/>
          </a:prstGeom>
        </p:spPr>
      </p:pic>
      <p:sp>
        <p:nvSpPr>
          <p:cNvPr id="18" name="Text 14"/>
          <p:cNvSpPr txBox="1"/>
          <p:nvPr/>
        </p:nvSpPr>
        <p:spPr>
          <a:xfrm>
            <a:off x="6686321" y="3424428"/>
            <a:ext cx="4594860"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Franz Gertsch: Medici</a:t>
            </a:r>
            <a:endParaRPr lang="de-DE" sz="1100" dirty="0"/>
          </a:p>
        </p:txBody>
      </p:sp>
      <p:sp>
        <p:nvSpPr>
          <p:cNvPr id="19" name="Shape 15"/>
          <p:cNvSpPr/>
          <p:nvPr/>
        </p:nvSpPr>
        <p:spPr>
          <a:xfrm>
            <a:off x="6457721" y="1691640"/>
            <a:ext cx="237744" cy="0"/>
          </a:xfrm>
          <a:prstGeom prst="line">
            <a:avLst/>
          </a:prstGeom>
          <a:noFill/>
          <a:ln w="25400">
            <a:solidFill>
              <a:srgbClr val="F5B21B"/>
            </a:solidFill>
            <a:prstDash val="solid"/>
          </a:ln>
        </p:spPr>
      </p:sp>
      <p:sp>
        <p:nvSpPr>
          <p:cNvPr id="20" name="Shape 16"/>
          <p:cNvSpPr/>
          <p:nvPr/>
        </p:nvSpPr>
        <p:spPr>
          <a:xfrm>
            <a:off x="6457721" y="1691640"/>
            <a:ext cx="0" cy="237744"/>
          </a:xfrm>
          <a:prstGeom prst="line">
            <a:avLst/>
          </a:prstGeom>
          <a:noFill/>
          <a:ln w="25400">
            <a:solidFill>
              <a:srgbClr val="F5B21B"/>
            </a:solidFill>
            <a:prstDash val="solid"/>
          </a:ln>
        </p:spPr>
      </p:sp>
      <p:sp>
        <p:nvSpPr>
          <p:cNvPr id="21" name="Shape 17"/>
          <p:cNvSpPr/>
          <p:nvPr/>
        </p:nvSpPr>
        <p:spPr>
          <a:xfrm>
            <a:off x="11272037" y="1691640"/>
            <a:ext cx="237744" cy="0"/>
          </a:xfrm>
          <a:prstGeom prst="line">
            <a:avLst/>
          </a:prstGeom>
          <a:noFill/>
          <a:ln w="25400">
            <a:solidFill>
              <a:srgbClr val="F5B21B"/>
            </a:solidFill>
            <a:prstDash val="solid"/>
          </a:ln>
        </p:spPr>
      </p:sp>
      <p:sp>
        <p:nvSpPr>
          <p:cNvPr id="22" name="Shape 18"/>
          <p:cNvSpPr/>
          <p:nvPr/>
        </p:nvSpPr>
        <p:spPr>
          <a:xfrm>
            <a:off x="11509781" y="1691640"/>
            <a:ext cx="0" cy="237744"/>
          </a:xfrm>
          <a:prstGeom prst="line">
            <a:avLst/>
          </a:prstGeom>
          <a:noFill/>
          <a:ln w="25400">
            <a:solidFill>
              <a:srgbClr val="F5B21B"/>
            </a:solidFill>
            <a:prstDash val="solid"/>
          </a:ln>
        </p:spPr>
      </p:sp>
      <p:sp>
        <p:nvSpPr>
          <p:cNvPr id="23" name="Shape 19"/>
          <p:cNvSpPr/>
          <p:nvPr/>
        </p:nvSpPr>
        <p:spPr>
          <a:xfrm>
            <a:off x="6457721" y="5120640"/>
            <a:ext cx="237744" cy="0"/>
          </a:xfrm>
          <a:prstGeom prst="line">
            <a:avLst/>
          </a:prstGeom>
          <a:noFill/>
          <a:ln w="25400">
            <a:solidFill>
              <a:srgbClr val="F5B21B"/>
            </a:solidFill>
            <a:prstDash val="solid"/>
          </a:ln>
        </p:spPr>
      </p:sp>
      <p:sp>
        <p:nvSpPr>
          <p:cNvPr id="24" name="Shape 20"/>
          <p:cNvSpPr/>
          <p:nvPr/>
        </p:nvSpPr>
        <p:spPr>
          <a:xfrm>
            <a:off x="6457721" y="4882896"/>
            <a:ext cx="0" cy="237744"/>
          </a:xfrm>
          <a:prstGeom prst="line">
            <a:avLst/>
          </a:prstGeom>
          <a:noFill/>
          <a:ln w="25400">
            <a:solidFill>
              <a:srgbClr val="F5B21B"/>
            </a:solidFill>
            <a:prstDash val="solid"/>
          </a:ln>
        </p:spPr>
      </p:sp>
      <p:sp>
        <p:nvSpPr>
          <p:cNvPr id="25" name="Shape 21"/>
          <p:cNvSpPr/>
          <p:nvPr/>
        </p:nvSpPr>
        <p:spPr>
          <a:xfrm>
            <a:off x="11272037" y="5120640"/>
            <a:ext cx="237744" cy="0"/>
          </a:xfrm>
          <a:prstGeom prst="line">
            <a:avLst/>
          </a:prstGeom>
          <a:noFill/>
          <a:ln w="25400">
            <a:solidFill>
              <a:srgbClr val="F5B21B"/>
            </a:solidFill>
            <a:prstDash val="solid"/>
          </a:ln>
        </p:spPr>
      </p:sp>
      <p:sp>
        <p:nvSpPr>
          <p:cNvPr id="26" name="Shape 22"/>
          <p:cNvSpPr/>
          <p:nvPr/>
        </p:nvSpPr>
        <p:spPr>
          <a:xfrm>
            <a:off x="11509781" y="4882896"/>
            <a:ext cx="0" cy="237744"/>
          </a:xfrm>
          <a:prstGeom prst="line">
            <a:avLst/>
          </a:prstGeom>
          <a:noFill/>
          <a:ln w="25400">
            <a:solidFill>
              <a:srgbClr val="F5B21B"/>
            </a:solidFill>
            <a:prstDash val="solid"/>
          </a:ln>
        </p:spPr>
      </p:sp>
      <p:sp>
        <p:nvSpPr>
          <p:cNvPr id="27" name="Text 23"/>
          <p:cNvSpPr txBox="1"/>
          <p:nvPr/>
        </p:nvSpPr>
        <p:spPr>
          <a:xfrm>
            <a:off x="6549161" y="5257800"/>
            <a:ext cx="5093894"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Franz Gertsch,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Medici</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1971/72</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Dispersion auf ungrundiertem Halbleinen, 400 × 600 cm · Ludwig Forum Aachen (Dauerleihgabe)</a:t>
            </a:r>
            <a:endParaRPr lang="de-DE" sz="1300" dirty="0"/>
          </a:p>
          <a:p>
            <a:pPr indent="0" marL="0">
              <a:spcAft>
                <a:spcPts val="300"/>
              </a:spcAft>
              <a:buNone/>
            </a:pPr>
            <a:r>
              <a:rPr lang="de-DE" altLang="en-US" sz="1300" dirty="0">
                <a:solidFill>
                  <a:srgbClr val="F5B21B"/>
                </a:solidFill>
                <a:latin typeface="Arial" pitchFamily="34" charset="0"/>
                <a:ea typeface="Arial" pitchFamily="34" charset="-122"/>
                <a:cs typeface="Arial" pitchFamily="34" charset="-120"/>
              </a:rPr>
              <a:t>→ 4 × 6 m nach einem Schnappschuss – Durchbruch auf der documenta 5</a:t>
            </a:r>
            <a:endParaRPr lang="de-DE"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05 · WERKBEISPIELE</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Amerikanischer Alltag: Auto und Schaufenster</a:t>
            </a:r>
            <a:endParaRPr lang="de-DE" sz="3200" dirty="0"/>
          </a:p>
        </p:txBody>
      </p:sp>
      <p:sp>
        <p:nvSpPr>
          <p:cNvPr id="4" name="Bildplatzhalter bechtle_pontiac"/>
          <p:cNvSpPr/>
          <p:nvPr/>
        </p:nvSpPr>
        <p:spPr>
          <a:xfrm>
            <a:off x="919429" y="1783080"/>
            <a:ext cx="4577029" cy="324612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2956484" y="2857500"/>
            <a:ext cx="502920" cy="502920"/>
          </a:xfrm>
          <a:prstGeom prst="rect">
            <a:avLst/>
          </a:prstGeom>
        </p:spPr>
      </p:pic>
      <p:sp>
        <p:nvSpPr>
          <p:cNvPr id="6" name="Text 3"/>
          <p:cNvSpPr txBox="1"/>
          <p:nvPr/>
        </p:nvSpPr>
        <p:spPr>
          <a:xfrm>
            <a:off x="1056589" y="3424428"/>
            <a:ext cx="4302709"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Robert Bechtle: ’61 Pontiac</a:t>
            </a:r>
            <a:endParaRPr lang="de-DE" sz="1100" dirty="0"/>
          </a:p>
        </p:txBody>
      </p:sp>
      <p:sp>
        <p:nvSpPr>
          <p:cNvPr id="7" name="Shape 4"/>
          <p:cNvSpPr/>
          <p:nvPr/>
        </p:nvSpPr>
        <p:spPr>
          <a:xfrm>
            <a:off x="827989" y="1691640"/>
            <a:ext cx="237744" cy="0"/>
          </a:xfrm>
          <a:prstGeom prst="line">
            <a:avLst/>
          </a:prstGeom>
          <a:noFill/>
          <a:ln w="25400">
            <a:solidFill>
              <a:srgbClr val="F5B21B"/>
            </a:solidFill>
            <a:prstDash val="solid"/>
          </a:ln>
        </p:spPr>
      </p:sp>
      <p:sp>
        <p:nvSpPr>
          <p:cNvPr id="8" name="Shape 5"/>
          <p:cNvSpPr/>
          <p:nvPr/>
        </p:nvSpPr>
        <p:spPr>
          <a:xfrm>
            <a:off x="827989" y="1691640"/>
            <a:ext cx="0" cy="237744"/>
          </a:xfrm>
          <a:prstGeom prst="line">
            <a:avLst/>
          </a:prstGeom>
          <a:noFill/>
          <a:ln w="25400">
            <a:solidFill>
              <a:srgbClr val="F5B21B"/>
            </a:solidFill>
            <a:prstDash val="solid"/>
          </a:ln>
        </p:spPr>
      </p:sp>
      <p:sp>
        <p:nvSpPr>
          <p:cNvPr id="9" name="Shape 6"/>
          <p:cNvSpPr/>
          <p:nvPr/>
        </p:nvSpPr>
        <p:spPr>
          <a:xfrm>
            <a:off x="5350154" y="1691640"/>
            <a:ext cx="237744" cy="0"/>
          </a:xfrm>
          <a:prstGeom prst="line">
            <a:avLst/>
          </a:prstGeom>
          <a:noFill/>
          <a:ln w="25400">
            <a:solidFill>
              <a:srgbClr val="F5B21B"/>
            </a:solidFill>
            <a:prstDash val="solid"/>
          </a:ln>
        </p:spPr>
      </p:sp>
      <p:sp>
        <p:nvSpPr>
          <p:cNvPr id="10" name="Shape 7"/>
          <p:cNvSpPr/>
          <p:nvPr/>
        </p:nvSpPr>
        <p:spPr>
          <a:xfrm>
            <a:off x="5587898" y="1691640"/>
            <a:ext cx="0" cy="237744"/>
          </a:xfrm>
          <a:prstGeom prst="line">
            <a:avLst/>
          </a:prstGeom>
          <a:noFill/>
          <a:ln w="25400">
            <a:solidFill>
              <a:srgbClr val="F5B21B"/>
            </a:solidFill>
            <a:prstDash val="solid"/>
          </a:ln>
        </p:spPr>
      </p:sp>
      <p:sp>
        <p:nvSpPr>
          <p:cNvPr id="11" name="Shape 8"/>
          <p:cNvSpPr/>
          <p:nvPr/>
        </p:nvSpPr>
        <p:spPr>
          <a:xfrm>
            <a:off x="827989" y="5120640"/>
            <a:ext cx="237744" cy="0"/>
          </a:xfrm>
          <a:prstGeom prst="line">
            <a:avLst/>
          </a:prstGeom>
          <a:noFill/>
          <a:ln w="25400">
            <a:solidFill>
              <a:srgbClr val="F5B21B"/>
            </a:solidFill>
            <a:prstDash val="solid"/>
          </a:ln>
        </p:spPr>
      </p:sp>
      <p:sp>
        <p:nvSpPr>
          <p:cNvPr id="12" name="Shape 9"/>
          <p:cNvSpPr/>
          <p:nvPr/>
        </p:nvSpPr>
        <p:spPr>
          <a:xfrm>
            <a:off x="827989" y="4882896"/>
            <a:ext cx="0" cy="237744"/>
          </a:xfrm>
          <a:prstGeom prst="line">
            <a:avLst/>
          </a:prstGeom>
          <a:noFill/>
          <a:ln w="25400">
            <a:solidFill>
              <a:srgbClr val="F5B21B"/>
            </a:solidFill>
            <a:prstDash val="solid"/>
          </a:ln>
        </p:spPr>
      </p:sp>
      <p:sp>
        <p:nvSpPr>
          <p:cNvPr id="13" name="Shape 10"/>
          <p:cNvSpPr/>
          <p:nvPr/>
        </p:nvSpPr>
        <p:spPr>
          <a:xfrm>
            <a:off x="5350154" y="5120640"/>
            <a:ext cx="237744" cy="0"/>
          </a:xfrm>
          <a:prstGeom prst="line">
            <a:avLst/>
          </a:prstGeom>
          <a:noFill/>
          <a:ln w="25400">
            <a:solidFill>
              <a:srgbClr val="F5B21B"/>
            </a:solidFill>
            <a:prstDash val="solid"/>
          </a:ln>
        </p:spPr>
      </p:sp>
      <p:sp>
        <p:nvSpPr>
          <p:cNvPr id="14" name="Shape 11"/>
          <p:cNvSpPr/>
          <p:nvPr/>
        </p:nvSpPr>
        <p:spPr>
          <a:xfrm>
            <a:off x="5587898" y="4882896"/>
            <a:ext cx="0" cy="237744"/>
          </a:xfrm>
          <a:prstGeom prst="line">
            <a:avLst/>
          </a:prstGeom>
          <a:noFill/>
          <a:ln w="25400">
            <a:solidFill>
              <a:srgbClr val="F5B21B"/>
            </a:solidFill>
            <a:prstDash val="solid"/>
          </a:ln>
        </p:spPr>
      </p:sp>
      <p:sp>
        <p:nvSpPr>
          <p:cNvPr id="15" name="Text 12"/>
          <p:cNvSpPr txBox="1"/>
          <p:nvPr/>
        </p:nvSpPr>
        <p:spPr>
          <a:xfrm>
            <a:off x="919429" y="5257800"/>
            <a:ext cx="4947818"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Robert Bechtle,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’61 Pontiac</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1968–69</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Öl auf Leinwand, 151,8 × 214 cm · Whitney Museum of American Art, New York</a:t>
            </a:r>
            <a:endParaRPr lang="de-DE" sz="1300" dirty="0"/>
          </a:p>
          <a:p>
            <a:pPr indent="0" marL="0">
              <a:spcAft>
                <a:spcPts val="300"/>
              </a:spcAft>
              <a:buNone/>
            </a:pPr>
            <a:r>
              <a:rPr lang="de-DE" altLang="en-US" sz="1300" dirty="0">
                <a:solidFill>
                  <a:srgbClr val="F5B21B"/>
                </a:solidFill>
                <a:latin typeface="Arial" pitchFamily="34" charset="0"/>
                <a:ea typeface="Arial" pitchFamily="34" charset="-122"/>
                <a:cs typeface="Arial" pitchFamily="34" charset="-120"/>
              </a:rPr>
              <a:t>→ Familienschnappschuss als Vorlage – Chrom und Lack glänzen</a:t>
            </a:r>
            <a:endParaRPr lang="de-DE" sz="1300" dirty="0"/>
          </a:p>
        </p:txBody>
      </p:sp>
      <p:sp>
        <p:nvSpPr>
          <p:cNvPr id="16" name="Bildplatzhalter eddy_shoes"/>
          <p:cNvSpPr/>
          <p:nvPr/>
        </p:nvSpPr>
        <p:spPr>
          <a:xfrm>
            <a:off x="7214616" y="1783080"/>
            <a:ext cx="3538271" cy="3246120"/>
          </a:xfrm>
          <a:prstGeom prst="rect">
            <a:avLst/>
          </a:prstGeom>
          <a:solidFill>
            <a:srgbClr val="2E2E2E"/>
          </a:solidFill>
          <a:ln w="12700">
            <a:solidFill>
              <a:srgbClr val="484848"/>
            </a:solidFill>
            <a:prstDash val="dash"/>
          </a:ln>
        </p:spPr>
      </p:sp>
      <p:pic>
        <p:nvPicPr>
          <p:cNvPr id="17" name="Image 1" descr="Platzhalter-Symbol">    </p:cNvPr>
          <p:cNvPicPr>
            <a:picLocks noChangeAspect="1"/>
          </p:cNvPicPr>
          <p:nvPr/>
        </p:nvPicPr>
        <p:blipFill>
          <a:blip r:embed="rId2"/>
          <a:stretch>
            <a:fillRect/>
          </a:stretch>
        </p:blipFill>
        <p:spPr>
          <a:xfrm>
            <a:off x="8732291" y="2857500"/>
            <a:ext cx="502920" cy="502920"/>
          </a:xfrm>
          <a:prstGeom prst="rect">
            <a:avLst/>
          </a:prstGeom>
        </p:spPr>
      </p:pic>
      <p:sp>
        <p:nvSpPr>
          <p:cNvPr id="18" name="Text 14"/>
          <p:cNvSpPr txBox="1"/>
          <p:nvPr/>
        </p:nvSpPr>
        <p:spPr>
          <a:xfrm>
            <a:off x="7351776" y="3424428"/>
            <a:ext cx="3263951"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Don Eddy: New Shoes for H</a:t>
            </a:r>
            <a:endParaRPr lang="de-DE" sz="1100" dirty="0"/>
          </a:p>
        </p:txBody>
      </p:sp>
      <p:sp>
        <p:nvSpPr>
          <p:cNvPr id="19" name="Shape 15"/>
          <p:cNvSpPr/>
          <p:nvPr/>
        </p:nvSpPr>
        <p:spPr>
          <a:xfrm>
            <a:off x="7123176" y="1691640"/>
            <a:ext cx="237744" cy="0"/>
          </a:xfrm>
          <a:prstGeom prst="line">
            <a:avLst/>
          </a:prstGeom>
          <a:noFill/>
          <a:ln w="25400">
            <a:solidFill>
              <a:srgbClr val="F5B21B"/>
            </a:solidFill>
            <a:prstDash val="solid"/>
          </a:ln>
        </p:spPr>
      </p:sp>
      <p:sp>
        <p:nvSpPr>
          <p:cNvPr id="20" name="Shape 16"/>
          <p:cNvSpPr/>
          <p:nvPr/>
        </p:nvSpPr>
        <p:spPr>
          <a:xfrm>
            <a:off x="7123176" y="1691640"/>
            <a:ext cx="0" cy="237744"/>
          </a:xfrm>
          <a:prstGeom prst="line">
            <a:avLst/>
          </a:prstGeom>
          <a:noFill/>
          <a:ln w="25400">
            <a:solidFill>
              <a:srgbClr val="F5B21B"/>
            </a:solidFill>
            <a:prstDash val="solid"/>
          </a:ln>
        </p:spPr>
      </p:sp>
      <p:sp>
        <p:nvSpPr>
          <p:cNvPr id="21" name="Shape 17"/>
          <p:cNvSpPr/>
          <p:nvPr/>
        </p:nvSpPr>
        <p:spPr>
          <a:xfrm>
            <a:off x="10606583" y="1691640"/>
            <a:ext cx="237744" cy="0"/>
          </a:xfrm>
          <a:prstGeom prst="line">
            <a:avLst/>
          </a:prstGeom>
          <a:noFill/>
          <a:ln w="25400">
            <a:solidFill>
              <a:srgbClr val="F5B21B"/>
            </a:solidFill>
            <a:prstDash val="solid"/>
          </a:ln>
        </p:spPr>
      </p:sp>
      <p:sp>
        <p:nvSpPr>
          <p:cNvPr id="22" name="Shape 18"/>
          <p:cNvSpPr/>
          <p:nvPr/>
        </p:nvSpPr>
        <p:spPr>
          <a:xfrm>
            <a:off x="10844327" y="1691640"/>
            <a:ext cx="0" cy="237744"/>
          </a:xfrm>
          <a:prstGeom prst="line">
            <a:avLst/>
          </a:prstGeom>
          <a:noFill/>
          <a:ln w="25400">
            <a:solidFill>
              <a:srgbClr val="F5B21B"/>
            </a:solidFill>
            <a:prstDash val="solid"/>
          </a:ln>
        </p:spPr>
      </p:sp>
      <p:sp>
        <p:nvSpPr>
          <p:cNvPr id="23" name="Shape 19"/>
          <p:cNvSpPr/>
          <p:nvPr/>
        </p:nvSpPr>
        <p:spPr>
          <a:xfrm>
            <a:off x="7123176" y="5120640"/>
            <a:ext cx="237744" cy="0"/>
          </a:xfrm>
          <a:prstGeom prst="line">
            <a:avLst/>
          </a:prstGeom>
          <a:noFill/>
          <a:ln w="25400">
            <a:solidFill>
              <a:srgbClr val="F5B21B"/>
            </a:solidFill>
            <a:prstDash val="solid"/>
          </a:ln>
        </p:spPr>
      </p:sp>
      <p:sp>
        <p:nvSpPr>
          <p:cNvPr id="24" name="Shape 20"/>
          <p:cNvSpPr/>
          <p:nvPr/>
        </p:nvSpPr>
        <p:spPr>
          <a:xfrm>
            <a:off x="7123176" y="4882896"/>
            <a:ext cx="0" cy="237744"/>
          </a:xfrm>
          <a:prstGeom prst="line">
            <a:avLst/>
          </a:prstGeom>
          <a:noFill/>
          <a:ln w="25400">
            <a:solidFill>
              <a:srgbClr val="F5B21B"/>
            </a:solidFill>
            <a:prstDash val="solid"/>
          </a:ln>
        </p:spPr>
      </p:sp>
      <p:sp>
        <p:nvSpPr>
          <p:cNvPr id="25" name="Shape 21"/>
          <p:cNvSpPr/>
          <p:nvPr/>
        </p:nvSpPr>
        <p:spPr>
          <a:xfrm>
            <a:off x="10606583" y="5120640"/>
            <a:ext cx="237744" cy="0"/>
          </a:xfrm>
          <a:prstGeom prst="line">
            <a:avLst/>
          </a:prstGeom>
          <a:noFill/>
          <a:ln w="25400">
            <a:solidFill>
              <a:srgbClr val="F5B21B"/>
            </a:solidFill>
            <a:prstDash val="solid"/>
          </a:ln>
        </p:spPr>
      </p:sp>
      <p:sp>
        <p:nvSpPr>
          <p:cNvPr id="26" name="Shape 22"/>
          <p:cNvSpPr/>
          <p:nvPr/>
        </p:nvSpPr>
        <p:spPr>
          <a:xfrm>
            <a:off x="10844327" y="4882896"/>
            <a:ext cx="0" cy="237744"/>
          </a:xfrm>
          <a:prstGeom prst="line">
            <a:avLst/>
          </a:prstGeom>
          <a:noFill/>
          <a:ln w="25400">
            <a:solidFill>
              <a:srgbClr val="F5B21B"/>
            </a:solidFill>
            <a:prstDash val="solid"/>
          </a:ln>
        </p:spPr>
      </p:sp>
      <p:sp>
        <p:nvSpPr>
          <p:cNvPr id="27" name="Text 23"/>
          <p:cNvSpPr txBox="1"/>
          <p:nvPr/>
        </p:nvSpPr>
        <p:spPr>
          <a:xfrm>
            <a:off x="7214616" y="5257800"/>
            <a:ext cx="4428439"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Don Eddy,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New Shoes for H</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1973–74</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„Neue Schuhe für H“ · Acryl auf Leinwand, 111,7 × 121,9 cm · Cleveland Museum of Art</a:t>
            </a:r>
            <a:endParaRPr lang="de-DE" sz="1300" dirty="0"/>
          </a:p>
          <a:p>
            <a:pPr indent="0" marL="0">
              <a:spcAft>
                <a:spcPts val="300"/>
              </a:spcAft>
              <a:buNone/>
            </a:pPr>
            <a:r>
              <a:rPr lang="de-DE" altLang="en-US" sz="1300" dirty="0">
                <a:solidFill>
                  <a:srgbClr val="F5B21B"/>
                </a:solidFill>
                <a:latin typeface="Arial" pitchFamily="34" charset="0"/>
                <a:ea typeface="Arial" pitchFamily="34" charset="-122"/>
                <a:cs typeface="Arial" pitchFamily="34" charset="-120"/>
              </a:rPr>
              <a:t>→ Schaufenster: Spiegelung und Durchblick überlagern sich</a:t>
            </a:r>
            <a:endParaRPr lang="de-DE"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05 · WERKBEISPIELE</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Konsum und Vergänglichkeit</a:t>
            </a:r>
            <a:endParaRPr lang="de-DE" sz="3200" dirty="0"/>
          </a:p>
        </p:txBody>
      </p:sp>
      <p:sp>
        <p:nvSpPr>
          <p:cNvPr id="4" name="Bildplatzhalter bell_gumball"/>
          <p:cNvSpPr/>
          <p:nvPr/>
        </p:nvSpPr>
        <p:spPr>
          <a:xfrm>
            <a:off x="1584884" y="1783080"/>
            <a:ext cx="3246120" cy="324612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2956484" y="2857500"/>
            <a:ext cx="502920" cy="502920"/>
          </a:xfrm>
          <a:prstGeom prst="rect">
            <a:avLst/>
          </a:prstGeom>
        </p:spPr>
      </p:pic>
      <p:sp>
        <p:nvSpPr>
          <p:cNvPr id="6" name="Text 3"/>
          <p:cNvSpPr txBox="1"/>
          <p:nvPr/>
        </p:nvSpPr>
        <p:spPr>
          <a:xfrm>
            <a:off x="1722044" y="3424428"/>
            <a:ext cx="2971800"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Charles Bell: Gum Ball No. 10: „Sugar Daddy“</a:t>
            </a:r>
            <a:endParaRPr lang="de-DE" sz="1100" dirty="0"/>
          </a:p>
        </p:txBody>
      </p:sp>
      <p:sp>
        <p:nvSpPr>
          <p:cNvPr id="7" name="Shape 4"/>
          <p:cNvSpPr/>
          <p:nvPr/>
        </p:nvSpPr>
        <p:spPr>
          <a:xfrm>
            <a:off x="1493444" y="1691640"/>
            <a:ext cx="237744" cy="0"/>
          </a:xfrm>
          <a:prstGeom prst="line">
            <a:avLst/>
          </a:prstGeom>
          <a:noFill/>
          <a:ln w="25400">
            <a:solidFill>
              <a:srgbClr val="F5B21B"/>
            </a:solidFill>
            <a:prstDash val="solid"/>
          </a:ln>
        </p:spPr>
      </p:sp>
      <p:sp>
        <p:nvSpPr>
          <p:cNvPr id="8" name="Shape 5"/>
          <p:cNvSpPr/>
          <p:nvPr/>
        </p:nvSpPr>
        <p:spPr>
          <a:xfrm>
            <a:off x="1493444" y="1691640"/>
            <a:ext cx="0" cy="237744"/>
          </a:xfrm>
          <a:prstGeom prst="line">
            <a:avLst/>
          </a:prstGeom>
          <a:noFill/>
          <a:ln w="25400">
            <a:solidFill>
              <a:srgbClr val="F5B21B"/>
            </a:solidFill>
            <a:prstDash val="solid"/>
          </a:ln>
        </p:spPr>
      </p:sp>
      <p:sp>
        <p:nvSpPr>
          <p:cNvPr id="9" name="Shape 6"/>
          <p:cNvSpPr/>
          <p:nvPr/>
        </p:nvSpPr>
        <p:spPr>
          <a:xfrm>
            <a:off x="4684700" y="1691640"/>
            <a:ext cx="237744" cy="0"/>
          </a:xfrm>
          <a:prstGeom prst="line">
            <a:avLst/>
          </a:prstGeom>
          <a:noFill/>
          <a:ln w="25400">
            <a:solidFill>
              <a:srgbClr val="F5B21B"/>
            </a:solidFill>
            <a:prstDash val="solid"/>
          </a:ln>
        </p:spPr>
      </p:sp>
      <p:sp>
        <p:nvSpPr>
          <p:cNvPr id="10" name="Shape 7"/>
          <p:cNvSpPr/>
          <p:nvPr/>
        </p:nvSpPr>
        <p:spPr>
          <a:xfrm>
            <a:off x="4922444" y="1691640"/>
            <a:ext cx="0" cy="237744"/>
          </a:xfrm>
          <a:prstGeom prst="line">
            <a:avLst/>
          </a:prstGeom>
          <a:noFill/>
          <a:ln w="25400">
            <a:solidFill>
              <a:srgbClr val="F5B21B"/>
            </a:solidFill>
            <a:prstDash val="solid"/>
          </a:ln>
        </p:spPr>
      </p:sp>
      <p:sp>
        <p:nvSpPr>
          <p:cNvPr id="11" name="Shape 8"/>
          <p:cNvSpPr/>
          <p:nvPr/>
        </p:nvSpPr>
        <p:spPr>
          <a:xfrm>
            <a:off x="1493444" y="5120640"/>
            <a:ext cx="237744" cy="0"/>
          </a:xfrm>
          <a:prstGeom prst="line">
            <a:avLst/>
          </a:prstGeom>
          <a:noFill/>
          <a:ln w="25400">
            <a:solidFill>
              <a:srgbClr val="F5B21B"/>
            </a:solidFill>
            <a:prstDash val="solid"/>
          </a:ln>
        </p:spPr>
      </p:sp>
      <p:sp>
        <p:nvSpPr>
          <p:cNvPr id="12" name="Shape 9"/>
          <p:cNvSpPr/>
          <p:nvPr/>
        </p:nvSpPr>
        <p:spPr>
          <a:xfrm>
            <a:off x="1493444" y="4882896"/>
            <a:ext cx="0" cy="237744"/>
          </a:xfrm>
          <a:prstGeom prst="line">
            <a:avLst/>
          </a:prstGeom>
          <a:noFill/>
          <a:ln w="25400">
            <a:solidFill>
              <a:srgbClr val="F5B21B"/>
            </a:solidFill>
            <a:prstDash val="solid"/>
          </a:ln>
        </p:spPr>
      </p:sp>
      <p:sp>
        <p:nvSpPr>
          <p:cNvPr id="13" name="Shape 10"/>
          <p:cNvSpPr/>
          <p:nvPr/>
        </p:nvSpPr>
        <p:spPr>
          <a:xfrm>
            <a:off x="4684700" y="5120640"/>
            <a:ext cx="237744" cy="0"/>
          </a:xfrm>
          <a:prstGeom prst="line">
            <a:avLst/>
          </a:prstGeom>
          <a:noFill/>
          <a:ln w="25400">
            <a:solidFill>
              <a:srgbClr val="F5B21B"/>
            </a:solidFill>
            <a:prstDash val="solid"/>
          </a:ln>
        </p:spPr>
      </p:sp>
      <p:sp>
        <p:nvSpPr>
          <p:cNvPr id="14" name="Shape 11"/>
          <p:cNvSpPr/>
          <p:nvPr/>
        </p:nvSpPr>
        <p:spPr>
          <a:xfrm>
            <a:off x="4922444" y="4882896"/>
            <a:ext cx="0" cy="237744"/>
          </a:xfrm>
          <a:prstGeom prst="line">
            <a:avLst/>
          </a:prstGeom>
          <a:noFill/>
          <a:ln w="25400">
            <a:solidFill>
              <a:srgbClr val="F5B21B"/>
            </a:solidFill>
            <a:prstDash val="solid"/>
          </a:ln>
        </p:spPr>
      </p:sp>
      <p:sp>
        <p:nvSpPr>
          <p:cNvPr id="15" name="Text 12"/>
          <p:cNvSpPr txBox="1"/>
          <p:nvPr/>
        </p:nvSpPr>
        <p:spPr>
          <a:xfrm>
            <a:off x="1584884" y="5257800"/>
            <a:ext cx="4282364"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Charles Bell,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Gum Ball No. 10: „Sugar Daddy“</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1975</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„Kaugummiautomat Nr. 10“ · Öl auf Leinwand, 167,6 × 167,6 cm · Solomon R. Guggenheim Museum, New York</a:t>
            </a:r>
            <a:endParaRPr lang="de-DE" sz="1300" dirty="0"/>
          </a:p>
          <a:p>
            <a:pPr indent="0" marL="0">
              <a:spcAft>
                <a:spcPts val="300"/>
              </a:spcAft>
              <a:buNone/>
            </a:pPr>
            <a:r>
              <a:rPr lang="de-DE" altLang="en-US" sz="1300" dirty="0">
                <a:solidFill>
                  <a:srgbClr val="F5B21B"/>
                </a:solidFill>
                <a:latin typeface="Arial" pitchFamily="34" charset="0"/>
                <a:ea typeface="Arial" pitchFamily="34" charset="-122"/>
                <a:cs typeface="Arial" pitchFamily="34" charset="-120"/>
              </a:rPr>
              <a:t>→ Kaugummiautomat auf 1,68 m vergrößert – Licht in Glas</a:t>
            </a:r>
            <a:endParaRPr lang="de-DE" sz="1300" dirty="0"/>
          </a:p>
        </p:txBody>
      </p:sp>
      <p:sp>
        <p:nvSpPr>
          <p:cNvPr id="16" name="Bildplatzhalter flack_marilyn"/>
          <p:cNvSpPr/>
          <p:nvPr/>
        </p:nvSpPr>
        <p:spPr>
          <a:xfrm>
            <a:off x="7360691" y="1783080"/>
            <a:ext cx="3246120" cy="3246120"/>
          </a:xfrm>
          <a:prstGeom prst="rect">
            <a:avLst/>
          </a:prstGeom>
          <a:solidFill>
            <a:srgbClr val="2E2E2E"/>
          </a:solidFill>
          <a:ln w="12700">
            <a:solidFill>
              <a:srgbClr val="484848"/>
            </a:solidFill>
            <a:prstDash val="dash"/>
          </a:ln>
        </p:spPr>
      </p:sp>
      <p:pic>
        <p:nvPicPr>
          <p:cNvPr id="17" name="Image 1" descr="Platzhalter-Symbol">    </p:cNvPr>
          <p:cNvPicPr>
            <a:picLocks noChangeAspect="1"/>
          </p:cNvPicPr>
          <p:nvPr/>
        </p:nvPicPr>
        <p:blipFill>
          <a:blip r:embed="rId2"/>
          <a:stretch>
            <a:fillRect/>
          </a:stretch>
        </p:blipFill>
        <p:spPr>
          <a:xfrm>
            <a:off x="8732291" y="2857500"/>
            <a:ext cx="502920" cy="502920"/>
          </a:xfrm>
          <a:prstGeom prst="rect">
            <a:avLst/>
          </a:prstGeom>
        </p:spPr>
      </p:pic>
      <p:sp>
        <p:nvSpPr>
          <p:cNvPr id="18" name="Text 14"/>
          <p:cNvSpPr txBox="1"/>
          <p:nvPr/>
        </p:nvSpPr>
        <p:spPr>
          <a:xfrm>
            <a:off x="7497851" y="3424428"/>
            <a:ext cx="2971800"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Audrey Flack: Marilyn (Vanitas)</a:t>
            </a:r>
            <a:endParaRPr lang="de-DE" sz="1100" dirty="0"/>
          </a:p>
        </p:txBody>
      </p:sp>
      <p:sp>
        <p:nvSpPr>
          <p:cNvPr id="19" name="Shape 15"/>
          <p:cNvSpPr/>
          <p:nvPr/>
        </p:nvSpPr>
        <p:spPr>
          <a:xfrm>
            <a:off x="7269251" y="1691640"/>
            <a:ext cx="237744" cy="0"/>
          </a:xfrm>
          <a:prstGeom prst="line">
            <a:avLst/>
          </a:prstGeom>
          <a:noFill/>
          <a:ln w="25400">
            <a:solidFill>
              <a:srgbClr val="F5B21B"/>
            </a:solidFill>
            <a:prstDash val="solid"/>
          </a:ln>
        </p:spPr>
      </p:sp>
      <p:sp>
        <p:nvSpPr>
          <p:cNvPr id="20" name="Shape 16"/>
          <p:cNvSpPr/>
          <p:nvPr/>
        </p:nvSpPr>
        <p:spPr>
          <a:xfrm>
            <a:off x="7269251" y="1691640"/>
            <a:ext cx="0" cy="237744"/>
          </a:xfrm>
          <a:prstGeom prst="line">
            <a:avLst/>
          </a:prstGeom>
          <a:noFill/>
          <a:ln w="25400">
            <a:solidFill>
              <a:srgbClr val="F5B21B"/>
            </a:solidFill>
            <a:prstDash val="solid"/>
          </a:ln>
        </p:spPr>
      </p:sp>
      <p:sp>
        <p:nvSpPr>
          <p:cNvPr id="21" name="Shape 17"/>
          <p:cNvSpPr/>
          <p:nvPr/>
        </p:nvSpPr>
        <p:spPr>
          <a:xfrm>
            <a:off x="10460507" y="1691640"/>
            <a:ext cx="237744" cy="0"/>
          </a:xfrm>
          <a:prstGeom prst="line">
            <a:avLst/>
          </a:prstGeom>
          <a:noFill/>
          <a:ln w="25400">
            <a:solidFill>
              <a:srgbClr val="F5B21B"/>
            </a:solidFill>
            <a:prstDash val="solid"/>
          </a:ln>
        </p:spPr>
      </p:sp>
      <p:sp>
        <p:nvSpPr>
          <p:cNvPr id="22" name="Shape 18"/>
          <p:cNvSpPr/>
          <p:nvPr/>
        </p:nvSpPr>
        <p:spPr>
          <a:xfrm>
            <a:off x="10698251" y="1691640"/>
            <a:ext cx="0" cy="237744"/>
          </a:xfrm>
          <a:prstGeom prst="line">
            <a:avLst/>
          </a:prstGeom>
          <a:noFill/>
          <a:ln w="25400">
            <a:solidFill>
              <a:srgbClr val="F5B21B"/>
            </a:solidFill>
            <a:prstDash val="solid"/>
          </a:ln>
        </p:spPr>
      </p:sp>
      <p:sp>
        <p:nvSpPr>
          <p:cNvPr id="23" name="Shape 19"/>
          <p:cNvSpPr/>
          <p:nvPr/>
        </p:nvSpPr>
        <p:spPr>
          <a:xfrm>
            <a:off x="7269251" y="5120640"/>
            <a:ext cx="237744" cy="0"/>
          </a:xfrm>
          <a:prstGeom prst="line">
            <a:avLst/>
          </a:prstGeom>
          <a:noFill/>
          <a:ln w="25400">
            <a:solidFill>
              <a:srgbClr val="F5B21B"/>
            </a:solidFill>
            <a:prstDash val="solid"/>
          </a:ln>
        </p:spPr>
      </p:sp>
      <p:sp>
        <p:nvSpPr>
          <p:cNvPr id="24" name="Shape 20"/>
          <p:cNvSpPr/>
          <p:nvPr/>
        </p:nvSpPr>
        <p:spPr>
          <a:xfrm>
            <a:off x="7269251" y="4882896"/>
            <a:ext cx="0" cy="237744"/>
          </a:xfrm>
          <a:prstGeom prst="line">
            <a:avLst/>
          </a:prstGeom>
          <a:noFill/>
          <a:ln w="25400">
            <a:solidFill>
              <a:srgbClr val="F5B21B"/>
            </a:solidFill>
            <a:prstDash val="solid"/>
          </a:ln>
        </p:spPr>
      </p:sp>
      <p:sp>
        <p:nvSpPr>
          <p:cNvPr id="25" name="Shape 21"/>
          <p:cNvSpPr/>
          <p:nvPr/>
        </p:nvSpPr>
        <p:spPr>
          <a:xfrm>
            <a:off x="10460507" y="5120640"/>
            <a:ext cx="237744" cy="0"/>
          </a:xfrm>
          <a:prstGeom prst="line">
            <a:avLst/>
          </a:prstGeom>
          <a:noFill/>
          <a:ln w="25400">
            <a:solidFill>
              <a:srgbClr val="F5B21B"/>
            </a:solidFill>
            <a:prstDash val="solid"/>
          </a:ln>
        </p:spPr>
      </p:sp>
      <p:sp>
        <p:nvSpPr>
          <p:cNvPr id="26" name="Shape 22"/>
          <p:cNvSpPr/>
          <p:nvPr/>
        </p:nvSpPr>
        <p:spPr>
          <a:xfrm>
            <a:off x="10698251" y="4882896"/>
            <a:ext cx="0" cy="237744"/>
          </a:xfrm>
          <a:prstGeom prst="line">
            <a:avLst/>
          </a:prstGeom>
          <a:noFill/>
          <a:ln w="25400">
            <a:solidFill>
              <a:srgbClr val="F5B21B"/>
            </a:solidFill>
            <a:prstDash val="solid"/>
          </a:ln>
        </p:spPr>
      </p:sp>
      <p:sp>
        <p:nvSpPr>
          <p:cNvPr id="27" name="Text 23"/>
          <p:cNvSpPr txBox="1"/>
          <p:nvPr/>
        </p:nvSpPr>
        <p:spPr>
          <a:xfrm>
            <a:off x="7360691" y="5257800"/>
            <a:ext cx="4282364"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Audrey Flack,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Marilyn (Vanitas)</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1977</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Öl über Acryl auf Leinwand, 243,8 × 243,8 cm · University of Arizona Museum of Art, Tucson</a:t>
            </a:r>
            <a:endParaRPr lang="de-DE" sz="1300" dirty="0"/>
          </a:p>
          <a:p>
            <a:pPr indent="0" marL="0">
              <a:spcAft>
                <a:spcPts val="300"/>
              </a:spcAft>
              <a:buNone/>
            </a:pPr>
            <a:r>
              <a:rPr lang="de-DE" altLang="en-US" sz="1300" dirty="0">
                <a:solidFill>
                  <a:srgbClr val="F5B21B"/>
                </a:solidFill>
                <a:latin typeface="Arial" pitchFamily="34" charset="0"/>
                <a:ea typeface="Arial" pitchFamily="34" charset="-122"/>
                <a:cs typeface="Arial" pitchFamily="34" charset="-120"/>
              </a:rPr>
              <a:t>→ Vanitas-Stillleben – Dia direkt auf die Leinwand projiziert</a:t>
            </a:r>
            <a:endParaRPr lang="de-DE"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05 · WERKBEISPIELE · HYPERREALISMUS</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Der Mensch als Skulptur</a:t>
            </a:r>
            <a:endParaRPr lang="de-DE" sz="3200" dirty="0"/>
          </a:p>
        </p:txBody>
      </p:sp>
      <p:sp>
        <p:nvSpPr>
          <p:cNvPr id="4" name="Bildplatzhalter hanson_supermarket"/>
          <p:cNvSpPr/>
          <p:nvPr/>
        </p:nvSpPr>
        <p:spPr>
          <a:xfrm>
            <a:off x="1909496" y="1783080"/>
            <a:ext cx="2596896" cy="324612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2956484" y="2857500"/>
            <a:ext cx="502920" cy="502920"/>
          </a:xfrm>
          <a:prstGeom prst="rect">
            <a:avLst/>
          </a:prstGeom>
        </p:spPr>
      </p:pic>
      <p:sp>
        <p:nvSpPr>
          <p:cNvPr id="6" name="Text 3"/>
          <p:cNvSpPr txBox="1"/>
          <p:nvPr/>
        </p:nvSpPr>
        <p:spPr>
          <a:xfrm>
            <a:off x="2046656" y="3424428"/>
            <a:ext cx="2322576"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Duane Hanson: Supermarket Lady</a:t>
            </a:r>
            <a:endParaRPr lang="de-DE" sz="1100" dirty="0"/>
          </a:p>
        </p:txBody>
      </p:sp>
      <p:sp>
        <p:nvSpPr>
          <p:cNvPr id="7" name="Shape 4"/>
          <p:cNvSpPr/>
          <p:nvPr/>
        </p:nvSpPr>
        <p:spPr>
          <a:xfrm>
            <a:off x="1818056" y="1691640"/>
            <a:ext cx="237744" cy="0"/>
          </a:xfrm>
          <a:prstGeom prst="line">
            <a:avLst/>
          </a:prstGeom>
          <a:noFill/>
          <a:ln w="25400">
            <a:solidFill>
              <a:srgbClr val="8CC4D6"/>
            </a:solidFill>
            <a:prstDash val="solid"/>
          </a:ln>
        </p:spPr>
      </p:sp>
      <p:sp>
        <p:nvSpPr>
          <p:cNvPr id="8" name="Shape 5"/>
          <p:cNvSpPr/>
          <p:nvPr/>
        </p:nvSpPr>
        <p:spPr>
          <a:xfrm>
            <a:off x="1818056" y="1691640"/>
            <a:ext cx="0" cy="237744"/>
          </a:xfrm>
          <a:prstGeom prst="line">
            <a:avLst/>
          </a:prstGeom>
          <a:noFill/>
          <a:ln w="25400">
            <a:solidFill>
              <a:srgbClr val="8CC4D6"/>
            </a:solidFill>
            <a:prstDash val="solid"/>
          </a:ln>
        </p:spPr>
      </p:sp>
      <p:sp>
        <p:nvSpPr>
          <p:cNvPr id="9" name="Shape 6"/>
          <p:cNvSpPr/>
          <p:nvPr/>
        </p:nvSpPr>
        <p:spPr>
          <a:xfrm>
            <a:off x="4360088" y="1691640"/>
            <a:ext cx="237744" cy="0"/>
          </a:xfrm>
          <a:prstGeom prst="line">
            <a:avLst/>
          </a:prstGeom>
          <a:noFill/>
          <a:ln w="25400">
            <a:solidFill>
              <a:srgbClr val="8CC4D6"/>
            </a:solidFill>
            <a:prstDash val="solid"/>
          </a:ln>
        </p:spPr>
      </p:sp>
      <p:sp>
        <p:nvSpPr>
          <p:cNvPr id="10" name="Shape 7"/>
          <p:cNvSpPr/>
          <p:nvPr/>
        </p:nvSpPr>
        <p:spPr>
          <a:xfrm>
            <a:off x="4597832" y="1691640"/>
            <a:ext cx="0" cy="237744"/>
          </a:xfrm>
          <a:prstGeom prst="line">
            <a:avLst/>
          </a:prstGeom>
          <a:noFill/>
          <a:ln w="25400">
            <a:solidFill>
              <a:srgbClr val="8CC4D6"/>
            </a:solidFill>
            <a:prstDash val="solid"/>
          </a:ln>
        </p:spPr>
      </p:sp>
      <p:sp>
        <p:nvSpPr>
          <p:cNvPr id="11" name="Shape 8"/>
          <p:cNvSpPr/>
          <p:nvPr/>
        </p:nvSpPr>
        <p:spPr>
          <a:xfrm>
            <a:off x="1818056" y="5120640"/>
            <a:ext cx="237744" cy="0"/>
          </a:xfrm>
          <a:prstGeom prst="line">
            <a:avLst/>
          </a:prstGeom>
          <a:noFill/>
          <a:ln w="25400">
            <a:solidFill>
              <a:srgbClr val="8CC4D6"/>
            </a:solidFill>
            <a:prstDash val="solid"/>
          </a:ln>
        </p:spPr>
      </p:sp>
      <p:sp>
        <p:nvSpPr>
          <p:cNvPr id="12" name="Shape 9"/>
          <p:cNvSpPr/>
          <p:nvPr/>
        </p:nvSpPr>
        <p:spPr>
          <a:xfrm>
            <a:off x="1818056" y="4882896"/>
            <a:ext cx="0" cy="237744"/>
          </a:xfrm>
          <a:prstGeom prst="line">
            <a:avLst/>
          </a:prstGeom>
          <a:noFill/>
          <a:ln w="25400">
            <a:solidFill>
              <a:srgbClr val="8CC4D6"/>
            </a:solidFill>
            <a:prstDash val="solid"/>
          </a:ln>
        </p:spPr>
      </p:sp>
      <p:sp>
        <p:nvSpPr>
          <p:cNvPr id="13" name="Shape 10"/>
          <p:cNvSpPr/>
          <p:nvPr/>
        </p:nvSpPr>
        <p:spPr>
          <a:xfrm>
            <a:off x="4360088" y="5120640"/>
            <a:ext cx="237744" cy="0"/>
          </a:xfrm>
          <a:prstGeom prst="line">
            <a:avLst/>
          </a:prstGeom>
          <a:noFill/>
          <a:ln w="25400">
            <a:solidFill>
              <a:srgbClr val="8CC4D6"/>
            </a:solidFill>
            <a:prstDash val="solid"/>
          </a:ln>
        </p:spPr>
      </p:sp>
      <p:sp>
        <p:nvSpPr>
          <p:cNvPr id="14" name="Shape 11"/>
          <p:cNvSpPr/>
          <p:nvPr/>
        </p:nvSpPr>
        <p:spPr>
          <a:xfrm>
            <a:off x="4597832" y="4882896"/>
            <a:ext cx="0" cy="237744"/>
          </a:xfrm>
          <a:prstGeom prst="line">
            <a:avLst/>
          </a:prstGeom>
          <a:noFill/>
          <a:ln w="25400">
            <a:solidFill>
              <a:srgbClr val="8CC4D6"/>
            </a:solidFill>
            <a:prstDash val="solid"/>
          </a:ln>
        </p:spPr>
      </p:sp>
      <p:sp>
        <p:nvSpPr>
          <p:cNvPr id="15" name="Text 12"/>
          <p:cNvSpPr txBox="1"/>
          <p:nvPr/>
        </p:nvSpPr>
        <p:spPr>
          <a:xfrm>
            <a:off x="1909496" y="5257800"/>
            <a:ext cx="3957752"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Duane Hanson,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Supermarket Lady</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1969/70</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Polyesterharz, bemalt; echte Kleidung und Waren, lebensgroß · Ludwig Forum Aachen</a:t>
            </a:r>
            <a:endParaRPr lang="de-DE" sz="1300" dirty="0"/>
          </a:p>
          <a:p>
            <a:pPr indent="0" marL="0">
              <a:spcAft>
                <a:spcPts val="300"/>
              </a:spcAft>
              <a:buNone/>
            </a:pPr>
            <a:r>
              <a:rPr lang="de-DE" altLang="en-US" sz="1300" dirty="0">
                <a:solidFill>
                  <a:srgbClr val="8CC4D6"/>
                </a:solidFill>
                <a:latin typeface="Arial" pitchFamily="34" charset="0"/>
                <a:ea typeface="Arial" pitchFamily="34" charset="-122"/>
                <a:cs typeface="Arial" pitchFamily="34" charset="-120"/>
              </a:rPr>
              <a:t>→ Abguss vom lebenden Modell – echte Kleidung, echte Waren</a:t>
            </a:r>
            <a:endParaRPr lang="de-DE" sz="1300" dirty="0"/>
          </a:p>
        </p:txBody>
      </p:sp>
      <p:sp>
        <p:nvSpPr>
          <p:cNvPr id="16" name="Bildplatzhalter mueck_mask"/>
          <p:cNvSpPr/>
          <p:nvPr/>
        </p:nvSpPr>
        <p:spPr>
          <a:xfrm>
            <a:off x="6500470" y="1783080"/>
            <a:ext cx="4966564" cy="3246120"/>
          </a:xfrm>
          <a:prstGeom prst="rect">
            <a:avLst/>
          </a:prstGeom>
          <a:solidFill>
            <a:srgbClr val="2E2E2E"/>
          </a:solidFill>
          <a:ln w="12700">
            <a:solidFill>
              <a:srgbClr val="484848"/>
            </a:solidFill>
            <a:prstDash val="dash"/>
          </a:ln>
        </p:spPr>
      </p:sp>
      <p:pic>
        <p:nvPicPr>
          <p:cNvPr id="17" name="Image 1" descr="Platzhalter-Symbol">    </p:cNvPr>
          <p:cNvPicPr>
            <a:picLocks noChangeAspect="1"/>
          </p:cNvPicPr>
          <p:nvPr/>
        </p:nvPicPr>
        <p:blipFill>
          <a:blip r:embed="rId2"/>
          <a:stretch>
            <a:fillRect/>
          </a:stretch>
        </p:blipFill>
        <p:spPr>
          <a:xfrm>
            <a:off x="8732291" y="2857500"/>
            <a:ext cx="502920" cy="502920"/>
          </a:xfrm>
          <a:prstGeom prst="rect">
            <a:avLst/>
          </a:prstGeom>
        </p:spPr>
      </p:pic>
      <p:sp>
        <p:nvSpPr>
          <p:cNvPr id="18" name="Text 14"/>
          <p:cNvSpPr txBox="1"/>
          <p:nvPr/>
        </p:nvSpPr>
        <p:spPr>
          <a:xfrm>
            <a:off x="6637630" y="3424428"/>
            <a:ext cx="4692244"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Ron Mueck: Mask II</a:t>
            </a:r>
            <a:endParaRPr lang="de-DE" sz="1100" dirty="0"/>
          </a:p>
        </p:txBody>
      </p:sp>
      <p:sp>
        <p:nvSpPr>
          <p:cNvPr id="19" name="Shape 15"/>
          <p:cNvSpPr/>
          <p:nvPr/>
        </p:nvSpPr>
        <p:spPr>
          <a:xfrm>
            <a:off x="6409030" y="1691640"/>
            <a:ext cx="237744" cy="0"/>
          </a:xfrm>
          <a:prstGeom prst="line">
            <a:avLst/>
          </a:prstGeom>
          <a:noFill/>
          <a:ln w="25400">
            <a:solidFill>
              <a:srgbClr val="8CC4D6"/>
            </a:solidFill>
            <a:prstDash val="solid"/>
          </a:ln>
        </p:spPr>
      </p:sp>
      <p:sp>
        <p:nvSpPr>
          <p:cNvPr id="20" name="Shape 16"/>
          <p:cNvSpPr/>
          <p:nvPr/>
        </p:nvSpPr>
        <p:spPr>
          <a:xfrm>
            <a:off x="6409030" y="1691640"/>
            <a:ext cx="0" cy="237744"/>
          </a:xfrm>
          <a:prstGeom prst="line">
            <a:avLst/>
          </a:prstGeom>
          <a:noFill/>
          <a:ln w="25400">
            <a:solidFill>
              <a:srgbClr val="8CC4D6"/>
            </a:solidFill>
            <a:prstDash val="solid"/>
          </a:ln>
        </p:spPr>
      </p:sp>
      <p:sp>
        <p:nvSpPr>
          <p:cNvPr id="21" name="Shape 17"/>
          <p:cNvSpPr/>
          <p:nvPr/>
        </p:nvSpPr>
        <p:spPr>
          <a:xfrm>
            <a:off x="11320729" y="1691640"/>
            <a:ext cx="237744" cy="0"/>
          </a:xfrm>
          <a:prstGeom prst="line">
            <a:avLst/>
          </a:prstGeom>
          <a:noFill/>
          <a:ln w="25400">
            <a:solidFill>
              <a:srgbClr val="8CC4D6"/>
            </a:solidFill>
            <a:prstDash val="solid"/>
          </a:ln>
        </p:spPr>
      </p:sp>
      <p:sp>
        <p:nvSpPr>
          <p:cNvPr id="22" name="Shape 18"/>
          <p:cNvSpPr/>
          <p:nvPr/>
        </p:nvSpPr>
        <p:spPr>
          <a:xfrm>
            <a:off x="11558473" y="1691640"/>
            <a:ext cx="0" cy="237744"/>
          </a:xfrm>
          <a:prstGeom prst="line">
            <a:avLst/>
          </a:prstGeom>
          <a:noFill/>
          <a:ln w="25400">
            <a:solidFill>
              <a:srgbClr val="8CC4D6"/>
            </a:solidFill>
            <a:prstDash val="solid"/>
          </a:ln>
        </p:spPr>
      </p:sp>
      <p:sp>
        <p:nvSpPr>
          <p:cNvPr id="23" name="Shape 19"/>
          <p:cNvSpPr/>
          <p:nvPr/>
        </p:nvSpPr>
        <p:spPr>
          <a:xfrm>
            <a:off x="6409030" y="5120640"/>
            <a:ext cx="237744" cy="0"/>
          </a:xfrm>
          <a:prstGeom prst="line">
            <a:avLst/>
          </a:prstGeom>
          <a:noFill/>
          <a:ln w="25400">
            <a:solidFill>
              <a:srgbClr val="8CC4D6"/>
            </a:solidFill>
            <a:prstDash val="solid"/>
          </a:ln>
        </p:spPr>
      </p:sp>
      <p:sp>
        <p:nvSpPr>
          <p:cNvPr id="24" name="Shape 20"/>
          <p:cNvSpPr/>
          <p:nvPr/>
        </p:nvSpPr>
        <p:spPr>
          <a:xfrm>
            <a:off x="6409030" y="4882896"/>
            <a:ext cx="0" cy="237744"/>
          </a:xfrm>
          <a:prstGeom prst="line">
            <a:avLst/>
          </a:prstGeom>
          <a:noFill/>
          <a:ln w="25400">
            <a:solidFill>
              <a:srgbClr val="8CC4D6"/>
            </a:solidFill>
            <a:prstDash val="solid"/>
          </a:ln>
        </p:spPr>
      </p:sp>
      <p:sp>
        <p:nvSpPr>
          <p:cNvPr id="25" name="Shape 21"/>
          <p:cNvSpPr/>
          <p:nvPr/>
        </p:nvSpPr>
        <p:spPr>
          <a:xfrm>
            <a:off x="11320729" y="5120640"/>
            <a:ext cx="237744" cy="0"/>
          </a:xfrm>
          <a:prstGeom prst="line">
            <a:avLst/>
          </a:prstGeom>
          <a:noFill/>
          <a:ln w="25400">
            <a:solidFill>
              <a:srgbClr val="8CC4D6"/>
            </a:solidFill>
            <a:prstDash val="solid"/>
          </a:ln>
        </p:spPr>
      </p:sp>
      <p:sp>
        <p:nvSpPr>
          <p:cNvPr id="26" name="Shape 22"/>
          <p:cNvSpPr/>
          <p:nvPr/>
        </p:nvSpPr>
        <p:spPr>
          <a:xfrm>
            <a:off x="11558473" y="4882896"/>
            <a:ext cx="0" cy="237744"/>
          </a:xfrm>
          <a:prstGeom prst="line">
            <a:avLst/>
          </a:prstGeom>
          <a:noFill/>
          <a:ln w="25400">
            <a:solidFill>
              <a:srgbClr val="8CC4D6"/>
            </a:solidFill>
            <a:prstDash val="solid"/>
          </a:ln>
        </p:spPr>
      </p:sp>
      <p:sp>
        <p:nvSpPr>
          <p:cNvPr id="27" name="Text 23"/>
          <p:cNvSpPr txBox="1"/>
          <p:nvPr/>
        </p:nvSpPr>
        <p:spPr>
          <a:xfrm>
            <a:off x="6500470" y="5257800"/>
            <a:ext cx="5142586"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Ron Mueck,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Mask II</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2001–02</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„Maske II“ · Mischtechnik (u. a. Polyesterharz, Glasfaser, Kunsthaar), 77,2 × 118,1 × 85,1 cm · San Francisco Museum of Modern Art</a:t>
            </a:r>
            <a:endParaRPr lang="de-DE" sz="1300" dirty="0"/>
          </a:p>
          <a:p>
            <a:pPr indent="0" marL="0">
              <a:spcAft>
                <a:spcPts val="300"/>
              </a:spcAft>
              <a:buNone/>
            </a:pPr>
            <a:r>
              <a:rPr lang="de-DE" altLang="en-US" sz="1300" dirty="0">
                <a:solidFill>
                  <a:srgbClr val="8CC4D6"/>
                </a:solidFill>
                <a:latin typeface="Arial" pitchFamily="34" charset="0"/>
                <a:ea typeface="Arial" pitchFamily="34" charset="-122"/>
                <a:cs typeface="Arial" pitchFamily="34" charset="-120"/>
              </a:rPr>
              <a:t>→ Kopf in etwa vierfacher Größe – jede Pore sichtbar</a:t>
            </a:r>
            <a:endParaRPr lang="de-DE"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05 · WERKBEISPIELE · HYPERREALISMUS</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Provokation und Wahrnehmung</a:t>
            </a:r>
            <a:endParaRPr lang="de-DE" sz="3200" dirty="0"/>
          </a:p>
        </p:txBody>
      </p:sp>
      <p:sp>
        <p:nvSpPr>
          <p:cNvPr id="4" name="Bildplatzhalter helnwein_epiphany"/>
          <p:cNvSpPr/>
          <p:nvPr/>
        </p:nvSpPr>
        <p:spPr>
          <a:xfrm>
            <a:off x="1033043" y="1783080"/>
            <a:ext cx="4349801" cy="3246120"/>
          </a:xfrm>
          <a:prstGeom prst="rect">
            <a:avLst/>
          </a:prstGeom>
          <a:solidFill>
            <a:srgbClr val="2E2E2E"/>
          </a:solidFill>
          <a:ln w="12700">
            <a:solidFill>
              <a:srgbClr val="484848"/>
            </a:solidFill>
            <a:prstDash val="dash"/>
          </a:ln>
        </p:spPr>
      </p:sp>
      <p:pic>
        <p:nvPicPr>
          <p:cNvPr id="5" name="Image 0" descr="Platzhalter-Symbol">    </p:cNvPr>
          <p:cNvPicPr>
            <a:picLocks noChangeAspect="1"/>
          </p:cNvPicPr>
          <p:nvPr/>
        </p:nvPicPr>
        <p:blipFill>
          <a:blip r:embed="rId1"/>
          <a:stretch>
            <a:fillRect/>
          </a:stretch>
        </p:blipFill>
        <p:spPr>
          <a:xfrm>
            <a:off x="2956484" y="2857500"/>
            <a:ext cx="502920" cy="502920"/>
          </a:xfrm>
          <a:prstGeom prst="rect">
            <a:avLst/>
          </a:prstGeom>
        </p:spPr>
      </p:pic>
      <p:sp>
        <p:nvSpPr>
          <p:cNvPr id="6" name="Text 3"/>
          <p:cNvSpPr txBox="1"/>
          <p:nvPr/>
        </p:nvSpPr>
        <p:spPr>
          <a:xfrm>
            <a:off x="1170203" y="3424428"/>
            <a:ext cx="4075481"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Gottfried Helnwein: Epiphany II (Adoration of the Shepherds)</a:t>
            </a:r>
            <a:endParaRPr lang="de-DE" sz="1100" dirty="0"/>
          </a:p>
        </p:txBody>
      </p:sp>
      <p:sp>
        <p:nvSpPr>
          <p:cNvPr id="7" name="Shape 4"/>
          <p:cNvSpPr/>
          <p:nvPr/>
        </p:nvSpPr>
        <p:spPr>
          <a:xfrm>
            <a:off x="941603" y="1691640"/>
            <a:ext cx="237744" cy="0"/>
          </a:xfrm>
          <a:prstGeom prst="line">
            <a:avLst/>
          </a:prstGeom>
          <a:noFill/>
          <a:ln w="25400">
            <a:solidFill>
              <a:srgbClr val="8CC4D6"/>
            </a:solidFill>
            <a:prstDash val="solid"/>
          </a:ln>
        </p:spPr>
      </p:sp>
      <p:sp>
        <p:nvSpPr>
          <p:cNvPr id="8" name="Shape 5"/>
          <p:cNvSpPr/>
          <p:nvPr/>
        </p:nvSpPr>
        <p:spPr>
          <a:xfrm>
            <a:off x="941603" y="1691640"/>
            <a:ext cx="0" cy="237744"/>
          </a:xfrm>
          <a:prstGeom prst="line">
            <a:avLst/>
          </a:prstGeom>
          <a:noFill/>
          <a:ln w="25400">
            <a:solidFill>
              <a:srgbClr val="8CC4D6"/>
            </a:solidFill>
            <a:prstDash val="solid"/>
          </a:ln>
        </p:spPr>
      </p:sp>
      <p:sp>
        <p:nvSpPr>
          <p:cNvPr id="9" name="Shape 6"/>
          <p:cNvSpPr/>
          <p:nvPr/>
        </p:nvSpPr>
        <p:spPr>
          <a:xfrm>
            <a:off x="5236540" y="1691640"/>
            <a:ext cx="237744" cy="0"/>
          </a:xfrm>
          <a:prstGeom prst="line">
            <a:avLst/>
          </a:prstGeom>
          <a:noFill/>
          <a:ln w="25400">
            <a:solidFill>
              <a:srgbClr val="8CC4D6"/>
            </a:solidFill>
            <a:prstDash val="solid"/>
          </a:ln>
        </p:spPr>
      </p:sp>
      <p:sp>
        <p:nvSpPr>
          <p:cNvPr id="10" name="Shape 7"/>
          <p:cNvSpPr/>
          <p:nvPr/>
        </p:nvSpPr>
        <p:spPr>
          <a:xfrm>
            <a:off x="5474284" y="1691640"/>
            <a:ext cx="0" cy="237744"/>
          </a:xfrm>
          <a:prstGeom prst="line">
            <a:avLst/>
          </a:prstGeom>
          <a:noFill/>
          <a:ln w="25400">
            <a:solidFill>
              <a:srgbClr val="8CC4D6"/>
            </a:solidFill>
            <a:prstDash val="solid"/>
          </a:ln>
        </p:spPr>
      </p:sp>
      <p:sp>
        <p:nvSpPr>
          <p:cNvPr id="11" name="Shape 8"/>
          <p:cNvSpPr/>
          <p:nvPr/>
        </p:nvSpPr>
        <p:spPr>
          <a:xfrm>
            <a:off x="941603" y="5120640"/>
            <a:ext cx="237744" cy="0"/>
          </a:xfrm>
          <a:prstGeom prst="line">
            <a:avLst/>
          </a:prstGeom>
          <a:noFill/>
          <a:ln w="25400">
            <a:solidFill>
              <a:srgbClr val="8CC4D6"/>
            </a:solidFill>
            <a:prstDash val="solid"/>
          </a:ln>
        </p:spPr>
      </p:sp>
      <p:sp>
        <p:nvSpPr>
          <p:cNvPr id="12" name="Shape 9"/>
          <p:cNvSpPr/>
          <p:nvPr/>
        </p:nvSpPr>
        <p:spPr>
          <a:xfrm>
            <a:off x="941603" y="4882896"/>
            <a:ext cx="0" cy="237744"/>
          </a:xfrm>
          <a:prstGeom prst="line">
            <a:avLst/>
          </a:prstGeom>
          <a:noFill/>
          <a:ln w="25400">
            <a:solidFill>
              <a:srgbClr val="8CC4D6"/>
            </a:solidFill>
            <a:prstDash val="solid"/>
          </a:ln>
        </p:spPr>
      </p:sp>
      <p:sp>
        <p:nvSpPr>
          <p:cNvPr id="13" name="Shape 10"/>
          <p:cNvSpPr/>
          <p:nvPr/>
        </p:nvSpPr>
        <p:spPr>
          <a:xfrm>
            <a:off x="5236540" y="5120640"/>
            <a:ext cx="237744" cy="0"/>
          </a:xfrm>
          <a:prstGeom prst="line">
            <a:avLst/>
          </a:prstGeom>
          <a:noFill/>
          <a:ln w="25400">
            <a:solidFill>
              <a:srgbClr val="8CC4D6"/>
            </a:solidFill>
            <a:prstDash val="solid"/>
          </a:ln>
        </p:spPr>
      </p:sp>
      <p:sp>
        <p:nvSpPr>
          <p:cNvPr id="14" name="Shape 11"/>
          <p:cNvSpPr/>
          <p:nvPr/>
        </p:nvSpPr>
        <p:spPr>
          <a:xfrm>
            <a:off x="5474284" y="4882896"/>
            <a:ext cx="0" cy="237744"/>
          </a:xfrm>
          <a:prstGeom prst="line">
            <a:avLst/>
          </a:prstGeom>
          <a:noFill/>
          <a:ln w="25400">
            <a:solidFill>
              <a:srgbClr val="8CC4D6"/>
            </a:solidFill>
            <a:prstDash val="solid"/>
          </a:ln>
        </p:spPr>
      </p:sp>
      <p:sp>
        <p:nvSpPr>
          <p:cNvPr id="15" name="Text 12"/>
          <p:cNvSpPr txBox="1"/>
          <p:nvPr/>
        </p:nvSpPr>
        <p:spPr>
          <a:xfrm>
            <a:off x="1033043" y="5257800"/>
            <a:ext cx="4834204"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Gottfried Helnwein,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Epiphany II (Adoration of the Shepherds)</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1998</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„Epiphanie II (Anbetung der Hirten)“ · Öl und Acryl auf Leinwand, 249,6 × 334 cm · de Young Museum, San Francisco</a:t>
            </a:r>
            <a:endParaRPr lang="de-DE" sz="1300" dirty="0"/>
          </a:p>
          <a:p>
            <a:pPr indent="0" marL="0">
              <a:spcAft>
                <a:spcPts val="300"/>
              </a:spcAft>
              <a:buNone/>
            </a:pPr>
            <a:r>
              <a:rPr lang="de-DE" altLang="en-US" sz="1300" dirty="0">
                <a:solidFill>
                  <a:srgbClr val="8CC4D6"/>
                </a:solidFill>
                <a:latin typeface="Arial" pitchFamily="34" charset="0"/>
                <a:ea typeface="Arial" pitchFamily="34" charset="-122"/>
                <a:cs typeface="Arial" pitchFamily="34" charset="-120"/>
              </a:rPr>
              <a:t>→ Christliches Bildthema trifft NS-Bildwelt – Hyperrealismus als Provokation</a:t>
            </a:r>
            <a:endParaRPr lang="de-DE" sz="1300" dirty="0"/>
          </a:p>
        </p:txBody>
      </p:sp>
      <p:sp>
        <p:nvSpPr>
          <p:cNvPr id="16" name="Bildplatzhalter thielker_exhale"/>
          <p:cNvSpPr/>
          <p:nvPr/>
        </p:nvSpPr>
        <p:spPr>
          <a:xfrm>
            <a:off x="6549161" y="1783080"/>
            <a:ext cx="4869180" cy="3246120"/>
          </a:xfrm>
          <a:prstGeom prst="rect">
            <a:avLst/>
          </a:prstGeom>
          <a:solidFill>
            <a:srgbClr val="2E2E2E"/>
          </a:solidFill>
          <a:ln w="12700">
            <a:solidFill>
              <a:srgbClr val="484848"/>
            </a:solidFill>
            <a:prstDash val="dash"/>
          </a:ln>
        </p:spPr>
      </p:sp>
      <p:pic>
        <p:nvPicPr>
          <p:cNvPr id="17" name="Image 1" descr="Platzhalter-Symbol">    </p:cNvPr>
          <p:cNvPicPr>
            <a:picLocks noChangeAspect="1"/>
          </p:cNvPicPr>
          <p:nvPr/>
        </p:nvPicPr>
        <p:blipFill>
          <a:blip r:embed="rId2"/>
          <a:stretch>
            <a:fillRect/>
          </a:stretch>
        </p:blipFill>
        <p:spPr>
          <a:xfrm>
            <a:off x="8732291" y="2857500"/>
            <a:ext cx="502920" cy="502920"/>
          </a:xfrm>
          <a:prstGeom prst="rect">
            <a:avLst/>
          </a:prstGeom>
        </p:spPr>
      </p:pic>
      <p:sp>
        <p:nvSpPr>
          <p:cNvPr id="18" name="Text 14"/>
          <p:cNvSpPr txBox="1"/>
          <p:nvPr/>
        </p:nvSpPr>
        <p:spPr>
          <a:xfrm>
            <a:off x="6686321" y="3424428"/>
            <a:ext cx="4594860" cy="731520"/>
          </a:xfrm>
          <a:prstGeom prst="rect">
            <a:avLst/>
          </a:prstGeom>
          <a:noFill/>
          <a:ln/>
        </p:spPr>
        <p:txBody>
          <a:bodyPr wrap="square" lIns="0" tIns="0" rIns="0" bIns="0" rtlCol="0" anchor="t">
            <a:normAutofit/>
          </a:bodyPr>
          <a:lstStyle/>
          <a:p>
            <a:pPr algn="ctr" indent="0" marL="0">
              <a:buNone/>
            </a:pPr>
            <a:r>
              <a:rPr lang="de-DE" altLang="en-US" sz="1100" b="1" dirty="0">
                <a:solidFill>
                  <a:srgbClr val="A8A8A3"/>
                </a:solidFill>
                <a:latin typeface="Arial" pitchFamily="34" charset="0"/>
                <a:ea typeface="Arial" pitchFamily="34" charset="-122"/>
                <a:cs typeface="Arial" pitchFamily="34" charset="-120"/>
              </a:rPr>
              <a:t>Abbildung einfügen</a:t>
            </a:r>
            <a:endParaRPr lang="de-DE" sz="1100" dirty="0"/>
          </a:p>
          <a:p>
            <a:pPr algn="ctr" indent="0" marL="0">
              <a:buNone/>
            </a:pPr>
            <a:r>
              <a:rPr lang="de-DE" altLang="en-US" sz="1100" dirty="0">
                <a:solidFill>
                  <a:srgbClr val="A8A8A3"/>
                </a:solidFill>
                <a:latin typeface="Arial" pitchFamily="34" charset="0"/>
                <a:ea typeface="Arial" pitchFamily="34" charset="-122"/>
                <a:cs typeface="Arial" pitchFamily="34" charset="-120"/>
              </a:rPr>
              <a:t>Gregory Thielker: Exhale</a:t>
            </a:r>
            <a:endParaRPr lang="de-DE" sz="1100" dirty="0"/>
          </a:p>
        </p:txBody>
      </p:sp>
      <p:sp>
        <p:nvSpPr>
          <p:cNvPr id="19" name="Shape 15"/>
          <p:cNvSpPr/>
          <p:nvPr/>
        </p:nvSpPr>
        <p:spPr>
          <a:xfrm>
            <a:off x="6457721" y="1691640"/>
            <a:ext cx="237744" cy="0"/>
          </a:xfrm>
          <a:prstGeom prst="line">
            <a:avLst/>
          </a:prstGeom>
          <a:noFill/>
          <a:ln w="25400">
            <a:solidFill>
              <a:srgbClr val="8CC4D6"/>
            </a:solidFill>
            <a:prstDash val="solid"/>
          </a:ln>
        </p:spPr>
      </p:sp>
      <p:sp>
        <p:nvSpPr>
          <p:cNvPr id="20" name="Shape 16"/>
          <p:cNvSpPr/>
          <p:nvPr/>
        </p:nvSpPr>
        <p:spPr>
          <a:xfrm>
            <a:off x="6457721" y="1691640"/>
            <a:ext cx="0" cy="237744"/>
          </a:xfrm>
          <a:prstGeom prst="line">
            <a:avLst/>
          </a:prstGeom>
          <a:noFill/>
          <a:ln w="25400">
            <a:solidFill>
              <a:srgbClr val="8CC4D6"/>
            </a:solidFill>
            <a:prstDash val="solid"/>
          </a:ln>
        </p:spPr>
      </p:sp>
      <p:sp>
        <p:nvSpPr>
          <p:cNvPr id="21" name="Shape 17"/>
          <p:cNvSpPr/>
          <p:nvPr/>
        </p:nvSpPr>
        <p:spPr>
          <a:xfrm>
            <a:off x="11272037" y="1691640"/>
            <a:ext cx="237744" cy="0"/>
          </a:xfrm>
          <a:prstGeom prst="line">
            <a:avLst/>
          </a:prstGeom>
          <a:noFill/>
          <a:ln w="25400">
            <a:solidFill>
              <a:srgbClr val="8CC4D6"/>
            </a:solidFill>
            <a:prstDash val="solid"/>
          </a:ln>
        </p:spPr>
      </p:sp>
      <p:sp>
        <p:nvSpPr>
          <p:cNvPr id="22" name="Shape 18"/>
          <p:cNvSpPr/>
          <p:nvPr/>
        </p:nvSpPr>
        <p:spPr>
          <a:xfrm>
            <a:off x="11509781" y="1691640"/>
            <a:ext cx="0" cy="237744"/>
          </a:xfrm>
          <a:prstGeom prst="line">
            <a:avLst/>
          </a:prstGeom>
          <a:noFill/>
          <a:ln w="25400">
            <a:solidFill>
              <a:srgbClr val="8CC4D6"/>
            </a:solidFill>
            <a:prstDash val="solid"/>
          </a:ln>
        </p:spPr>
      </p:sp>
      <p:sp>
        <p:nvSpPr>
          <p:cNvPr id="23" name="Shape 19"/>
          <p:cNvSpPr/>
          <p:nvPr/>
        </p:nvSpPr>
        <p:spPr>
          <a:xfrm>
            <a:off x="6457721" y="5120640"/>
            <a:ext cx="237744" cy="0"/>
          </a:xfrm>
          <a:prstGeom prst="line">
            <a:avLst/>
          </a:prstGeom>
          <a:noFill/>
          <a:ln w="25400">
            <a:solidFill>
              <a:srgbClr val="8CC4D6"/>
            </a:solidFill>
            <a:prstDash val="solid"/>
          </a:ln>
        </p:spPr>
      </p:sp>
      <p:sp>
        <p:nvSpPr>
          <p:cNvPr id="24" name="Shape 20"/>
          <p:cNvSpPr/>
          <p:nvPr/>
        </p:nvSpPr>
        <p:spPr>
          <a:xfrm>
            <a:off x="6457721" y="4882896"/>
            <a:ext cx="0" cy="237744"/>
          </a:xfrm>
          <a:prstGeom prst="line">
            <a:avLst/>
          </a:prstGeom>
          <a:noFill/>
          <a:ln w="25400">
            <a:solidFill>
              <a:srgbClr val="8CC4D6"/>
            </a:solidFill>
            <a:prstDash val="solid"/>
          </a:ln>
        </p:spPr>
      </p:sp>
      <p:sp>
        <p:nvSpPr>
          <p:cNvPr id="25" name="Shape 21"/>
          <p:cNvSpPr/>
          <p:nvPr/>
        </p:nvSpPr>
        <p:spPr>
          <a:xfrm>
            <a:off x="11272037" y="5120640"/>
            <a:ext cx="237744" cy="0"/>
          </a:xfrm>
          <a:prstGeom prst="line">
            <a:avLst/>
          </a:prstGeom>
          <a:noFill/>
          <a:ln w="25400">
            <a:solidFill>
              <a:srgbClr val="8CC4D6"/>
            </a:solidFill>
            <a:prstDash val="solid"/>
          </a:ln>
        </p:spPr>
      </p:sp>
      <p:sp>
        <p:nvSpPr>
          <p:cNvPr id="26" name="Shape 22"/>
          <p:cNvSpPr/>
          <p:nvPr/>
        </p:nvSpPr>
        <p:spPr>
          <a:xfrm>
            <a:off x="11509781" y="4882896"/>
            <a:ext cx="0" cy="237744"/>
          </a:xfrm>
          <a:prstGeom prst="line">
            <a:avLst/>
          </a:prstGeom>
          <a:noFill/>
          <a:ln w="25400">
            <a:solidFill>
              <a:srgbClr val="8CC4D6"/>
            </a:solidFill>
            <a:prstDash val="solid"/>
          </a:ln>
        </p:spPr>
      </p:sp>
      <p:sp>
        <p:nvSpPr>
          <p:cNvPr id="27" name="Text 23"/>
          <p:cNvSpPr txBox="1"/>
          <p:nvPr/>
        </p:nvSpPr>
        <p:spPr>
          <a:xfrm>
            <a:off x="6549161" y="5257800"/>
            <a:ext cx="5093894" cy="960120"/>
          </a:xfrm>
          <a:prstGeom prst="rect">
            <a:avLst/>
          </a:prstGeom>
          <a:noFill/>
          <a:ln/>
        </p:spPr>
        <p:txBody>
          <a:bodyPr wrap="square" lIns="0" tIns="0" rIns="0" bIns="0" rtlCol="0" anchor="t"/>
          <a:lstStyle/>
          <a:p>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Gregory Thielker, </a:t>
            </a:r>
            <a:pPr indent="0" marL="0">
              <a:spcAft>
                <a:spcPts val="300"/>
              </a:spcAft>
              <a:buNone/>
            </a:pPr>
            <a:r>
              <a:rPr lang="de-DE" altLang="en-US" sz="1300" b="1" i="1" dirty="0">
                <a:solidFill>
                  <a:srgbClr val="F5F5F2"/>
                </a:solidFill>
                <a:latin typeface="Arial" pitchFamily="34" charset="0"/>
                <a:ea typeface="Arial" pitchFamily="34" charset="-122"/>
                <a:cs typeface="Arial" pitchFamily="34" charset="-120"/>
              </a:rPr>
              <a:t>Exhale</a:t>
            </a:r>
            <a:pPr indent="0" marL="0">
              <a:spcAft>
                <a:spcPts val="300"/>
              </a:spcAft>
              <a:buNone/>
            </a:pPr>
            <a:r>
              <a:rPr lang="de-DE" altLang="en-US" sz="1300" b="1" dirty="0">
                <a:solidFill>
                  <a:srgbClr val="F5F5F2"/>
                </a:solidFill>
                <a:latin typeface="Arial" pitchFamily="34" charset="0"/>
                <a:ea typeface="Arial" pitchFamily="34" charset="-122"/>
                <a:cs typeface="Arial" pitchFamily="34" charset="-120"/>
              </a:rPr>
              <a:t>, 2023</a:t>
            </a:r>
            <a:endParaRPr lang="de-DE" sz="1300" dirty="0"/>
          </a:p>
          <a:p>
            <a:pPr indent="0" marL="0">
              <a:spcAft>
                <a:spcPts val="300"/>
              </a:spcAft>
              <a:buNone/>
            </a:pPr>
            <a:r>
              <a:rPr lang="de-DE" altLang="en-US" sz="1100" dirty="0">
                <a:solidFill>
                  <a:srgbClr val="A8A8A3"/>
                </a:solidFill>
                <a:latin typeface="Arial" pitchFamily="34" charset="0"/>
                <a:ea typeface="Arial" pitchFamily="34" charset="-122"/>
                <a:cs typeface="Arial" pitchFamily="34" charset="-120"/>
              </a:rPr>
              <a:t>dt. „Ausatmen“ · Öl auf Leinen, 101,6 × 152,4 cm · Guy Hepner Gallery, New York</a:t>
            </a:r>
            <a:endParaRPr lang="de-DE" sz="1300" dirty="0"/>
          </a:p>
          <a:p>
            <a:pPr indent="0" marL="0">
              <a:spcAft>
                <a:spcPts val="300"/>
              </a:spcAft>
              <a:buNone/>
            </a:pPr>
            <a:r>
              <a:rPr lang="de-DE" altLang="en-US" sz="1300" dirty="0">
                <a:solidFill>
                  <a:srgbClr val="8CC4D6"/>
                </a:solidFill>
                <a:latin typeface="Arial" pitchFamily="34" charset="0"/>
                <a:ea typeface="Arial" pitchFamily="34" charset="-122"/>
                <a:cs typeface="Arial" pitchFamily="34" charset="-120"/>
              </a:rPr>
              <a:t>→ Tropfen gestochen scharf, Landschaft unscharf – wie durch eine Linse</a:t>
            </a:r>
            <a:endParaRPr lang="de-DE"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06 · FAZIT</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Wirklicher als die Wirklichkeit?</a:t>
            </a:r>
            <a:endParaRPr lang="de-DE" sz="3200" dirty="0"/>
          </a:p>
        </p:txBody>
      </p:sp>
      <p:sp>
        <p:nvSpPr>
          <p:cNvPr id="4" name="Shape 2"/>
          <p:cNvSpPr/>
          <p:nvPr/>
        </p:nvSpPr>
        <p:spPr>
          <a:xfrm>
            <a:off x="548640" y="1737360"/>
            <a:ext cx="4754880" cy="4343400"/>
          </a:xfrm>
          <a:prstGeom prst="rect">
            <a:avLst/>
          </a:prstGeom>
          <a:solidFill>
            <a:srgbClr val="2E2E2E"/>
          </a:solidFill>
          <a:ln w="9525">
            <a:solidFill>
              <a:srgbClr val="484848"/>
            </a:solidFill>
            <a:prstDash val="solid"/>
          </a:ln>
        </p:spPr>
      </p:sp>
      <p:sp>
        <p:nvSpPr>
          <p:cNvPr id="5" name="Text 3"/>
          <p:cNvSpPr txBox="1"/>
          <p:nvPr/>
        </p:nvSpPr>
        <p:spPr>
          <a:xfrm>
            <a:off x="914400" y="2057400"/>
            <a:ext cx="4023360" cy="274320"/>
          </a:xfrm>
          <a:prstGeom prst="rect">
            <a:avLst/>
          </a:prstGeom>
          <a:noFill/>
          <a:ln/>
        </p:spPr>
        <p:txBody>
          <a:bodyPr wrap="square" lIns="0" tIns="0" rIns="0" bIns="0" rtlCol="0" anchor="ctr"/>
          <a:lstStyle/>
          <a:p>
            <a:pPr indent="0" marL="0">
              <a:buNone/>
            </a:pPr>
            <a:r>
              <a:rPr lang="de-DE" altLang="en-US" sz="1200" b="1" spc="300" kern="0" dirty="0">
                <a:solidFill>
                  <a:srgbClr val="F5B21B"/>
                </a:solidFill>
                <a:latin typeface="Arial" pitchFamily="34" charset="0"/>
                <a:ea typeface="Arial" pitchFamily="34" charset="-122"/>
                <a:cs typeface="Arial" pitchFamily="34" charset="-120"/>
              </a:rPr>
              <a:t>MEINE ANTWORT</a:t>
            </a:r>
            <a:endParaRPr lang="de-DE" sz="1200" dirty="0"/>
          </a:p>
        </p:txBody>
      </p:sp>
      <p:sp>
        <p:nvSpPr>
          <p:cNvPr id="6" name="Text 4"/>
          <p:cNvSpPr txBox="1"/>
          <p:nvPr/>
        </p:nvSpPr>
        <p:spPr>
          <a:xfrm>
            <a:off x="914400" y="2468880"/>
            <a:ext cx="4023360" cy="822960"/>
          </a:xfrm>
          <a:prstGeom prst="rect">
            <a:avLst/>
          </a:prstGeom>
          <a:noFill/>
          <a:ln/>
        </p:spPr>
        <p:txBody>
          <a:bodyPr wrap="square" lIns="0" tIns="0" rIns="0" bIns="0" rtlCol="0" anchor="t"/>
          <a:lstStyle/>
          <a:p>
            <a:pPr indent="0" marL="0">
              <a:buNone/>
            </a:pPr>
            <a:r>
              <a:rPr lang="de-DE" altLang="en-US" sz="4000" b="1" dirty="0">
                <a:solidFill>
                  <a:srgbClr val="F5F5F2"/>
                </a:solidFill>
                <a:latin typeface="Georgia" pitchFamily="34" charset="0"/>
                <a:ea typeface="Georgia" pitchFamily="34" charset="-122"/>
                <a:cs typeface="Georgia" pitchFamily="34" charset="-120"/>
              </a:rPr>
              <a:t>Ja – und nein.</a:t>
            </a:r>
            <a:endParaRPr lang="de-DE" sz="4000" dirty="0"/>
          </a:p>
        </p:txBody>
      </p:sp>
      <p:sp>
        <p:nvSpPr>
          <p:cNvPr id="7" name="Text 5"/>
          <p:cNvSpPr txBox="1"/>
          <p:nvPr/>
        </p:nvSpPr>
        <p:spPr>
          <a:xfrm>
            <a:off x="914400" y="3474720"/>
            <a:ext cx="4023360" cy="2377440"/>
          </a:xfrm>
          <a:prstGeom prst="rect">
            <a:avLst/>
          </a:prstGeom>
          <a:noFill/>
          <a:ln/>
        </p:spPr>
        <p:txBody>
          <a:bodyPr wrap="square" lIns="0" tIns="0" rIns="0" bIns="0" rtlCol="0" anchor="t"/>
          <a:lstStyle/>
          <a:p>
            <a:pPr indent="0" marL="0">
              <a:buNone/>
            </a:pPr>
            <a:r>
              <a:rPr lang="de-DE" altLang="en-US" sz="1800" dirty="0">
                <a:solidFill>
                  <a:srgbClr val="A8A8A3"/>
                </a:solidFill>
                <a:latin typeface="Arial" pitchFamily="34" charset="0"/>
                <a:ea typeface="Arial" pitchFamily="34" charset="-122"/>
                <a:cs typeface="Arial" pitchFamily="34" charset="-120"/>
              </a:rPr>
              <a:t>Ja, weil Estes schärfer malt, als Auge oder Kamera sehen. Nein, weil die Bilder nie die Wirklichkeit zeigen, sondern ein Foto davon – ein Bild von einem Bild.</a:t>
            </a:r>
            <a:endParaRPr lang="de-DE" sz="1800" dirty="0"/>
          </a:p>
        </p:txBody>
      </p:sp>
      <p:sp>
        <p:nvSpPr>
          <p:cNvPr id="8" name="Shape 6"/>
          <p:cNvSpPr/>
          <p:nvPr/>
        </p:nvSpPr>
        <p:spPr>
          <a:xfrm>
            <a:off x="5760720" y="1737360"/>
            <a:ext cx="566928" cy="566928"/>
          </a:xfrm>
          <a:prstGeom prst="ellipse">
            <a:avLst/>
          </a:prstGeom>
          <a:solidFill>
            <a:srgbClr val="1C1C1C"/>
          </a:solidFill>
          <a:ln w="15875">
            <a:solidFill>
              <a:srgbClr val="F5B21B"/>
            </a:solidFill>
            <a:prstDash val="solid"/>
          </a:ln>
        </p:spPr>
      </p:sp>
      <p:pic>
        <p:nvPicPr>
          <p:cNvPr id="9" name="Image 0" descr="Symbol AlertTriangle">    </p:cNvPr>
          <p:cNvPicPr>
            <a:picLocks noChangeAspect="1"/>
          </p:cNvPicPr>
          <p:nvPr/>
        </p:nvPicPr>
        <p:blipFill>
          <a:blip r:embed="rId1"/>
          <a:stretch>
            <a:fillRect/>
          </a:stretch>
        </p:blipFill>
        <p:spPr>
          <a:xfrm>
            <a:off x="5885444" y="1862084"/>
            <a:ext cx="317480" cy="317480"/>
          </a:xfrm>
          <a:prstGeom prst="rect">
            <a:avLst/>
          </a:prstGeom>
        </p:spPr>
      </p:pic>
      <p:sp>
        <p:nvSpPr>
          <p:cNvPr id="10" name="Text 7"/>
          <p:cNvSpPr txBox="1"/>
          <p:nvPr/>
        </p:nvSpPr>
        <p:spPr>
          <a:xfrm>
            <a:off x="6537960" y="1737360"/>
            <a:ext cx="5105095" cy="1005840"/>
          </a:xfrm>
          <a:prstGeom prst="rect">
            <a:avLst/>
          </a:prstGeom>
          <a:noFill/>
          <a:ln/>
        </p:spPr>
        <p:txBody>
          <a:bodyPr wrap="square" lIns="0" tIns="0" rIns="0" bIns="0" rtlCol="0" anchor="t"/>
          <a:lstStyle/>
          <a:p>
            <a:pPr indent="0" marL="0">
              <a:spcAft>
                <a:spcPts val="200"/>
              </a:spcAft>
              <a:buNone/>
            </a:pPr>
            <a:r>
              <a:rPr lang="de-DE" altLang="en-US" sz="1800" b="1" dirty="0">
                <a:solidFill>
                  <a:srgbClr val="F5F5F2"/>
                </a:solidFill>
                <a:latin typeface="Arial" pitchFamily="34" charset="0"/>
                <a:ea typeface="Arial" pitchFamily="34" charset="-122"/>
                <a:cs typeface="Arial" pitchFamily="34" charset="-120"/>
              </a:rPr>
              <a:t>Kritik</a:t>
            </a:r>
            <a:endParaRPr lang="de-DE" sz="1800" dirty="0"/>
          </a:p>
          <a:p>
            <a:pPr indent="0" marL="0">
              <a:spcAft>
                <a:spcPts val="200"/>
              </a:spcAft>
              <a:buNone/>
            </a:pPr>
            <a:r>
              <a:rPr lang="de-DE" altLang="en-US" sz="1500" dirty="0">
                <a:solidFill>
                  <a:srgbClr val="A8A8A3"/>
                </a:solidFill>
                <a:latin typeface="Arial" pitchFamily="34" charset="0"/>
                <a:ea typeface="Arial" pitchFamily="34" charset="-122"/>
                <a:cs typeface="Arial" pitchFamily="34" charset="-120"/>
              </a:rPr>
              <a:t>Vorwurf des bloßen Abmalens: technisch perfekt, aber ohne eigene Idee.</a:t>
            </a:r>
            <a:endParaRPr lang="de-DE" sz="1800" dirty="0"/>
          </a:p>
        </p:txBody>
      </p:sp>
      <p:sp>
        <p:nvSpPr>
          <p:cNvPr id="11" name="Shape 8"/>
          <p:cNvSpPr/>
          <p:nvPr/>
        </p:nvSpPr>
        <p:spPr>
          <a:xfrm>
            <a:off x="5760720" y="2834640"/>
            <a:ext cx="566928" cy="566928"/>
          </a:xfrm>
          <a:prstGeom prst="ellipse">
            <a:avLst/>
          </a:prstGeom>
          <a:solidFill>
            <a:srgbClr val="1C1C1C"/>
          </a:solidFill>
          <a:ln w="15875">
            <a:solidFill>
              <a:srgbClr val="F5B21B"/>
            </a:solidFill>
            <a:prstDash val="solid"/>
          </a:ln>
        </p:spPr>
      </p:sp>
      <p:pic>
        <p:nvPicPr>
          <p:cNvPr id="12" name="Image 1" descr="Symbol Eye">    </p:cNvPr>
          <p:cNvPicPr>
            <a:picLocks noChangeAspect="1"/>
          </p:cNvPicPr>
          <p:nvPr/>
        </p:nvPicPr>
        <p:blipFill>
          <a:blip r:embed="rId2"/>
          <a:stretch>
            <a:fillRect/>
          </a:stretch>
        </p:blipFill>
        <p:spPr>
          <a:xfrm>
            <a:off x="5885444" y="2959364"/>
            <a:ext cx="317480" cy="317480"/>
          </a:xfrm>
          <a:prstGeom prst="rect">
            <a:avLst/>
          </a:prstGeom>
        </p:spPr>
      </p:pic>
      <p:sp>
        <p:nvSpPr>
          <p:cNvPr id="13" name="Text 9"/>
          <p:cNvSpPr txBox="1"/>
          <p:nvPr/>
        </p:nvSpPr>
        <p:spPr>
          <a:xfrm>
            <a:off x="6537960" y="2834640"/>
            <a:ext cx="5105095" cy="1005840"/>
          </a:xfrm>
          <a:prstGeom prst="rect">
            <a:avLst/>
          </a:prstGeom>
          <a:noFill/>
          <a:ln/>
        </p:spPr>
        <p:txBody>
          <a:bodyPr wrap="square" lIns="0" tIns="0" rIns="0" bIns="0" rtlCol="0" anchor="t"/>
          <a:lstStyle/>
          <a:p>
            <a:pPr indent="0" marL="0">
              <a:spcAft>
                <a:spcPts val="200"/>
              </a:spcAft>
              <a:buNone/>
            </a:pPr>
            <a:r>
              <a:rPr lang="de-DE" altLang="en-US" sz="1800" b="1" dirty="0">
                <a:solidFill>
                  <a:srgbClr val="F5F5F2"/>
                </a:solidFill>
                <a:latin typeface="Arial" pitchFamily="34" charset="0"/>
                <a:ea typeface="Arial" pitchFamily="34" charset="-122"/>
                <a:cs typeface="Arial" pitchFamily="34" charset="-120"/>
              </a:rPr>
              <a:t>Bedeutung</a:t>
            </a:r>
            <a:endParaRPr lang="de-DE" sz="1800" dirty="0"/>
          </a:p>
          <a:p>
            <a:pPr indent="0" marL="0">
              <a:spcAft>
                <a:spcPts val="200"/>
              </a:spcAft>
              <a:buNone/>
            </a:pPr>
            <a:r>
              <a:rPr lang="de-DE" altLang="en-US" sz="1500" dirty="0">
                <a:solidFill>
                  <a:srgbClr val="A8A8A3"/>
                </a:solidFill>
                <a:latin typeface="Arial" pitchFamily="34" charset="0"/>
                <a:ea typeface="Arial" pitchFamily="34" charset="-122"/>
                <a:cs typeface="Arial" pitchFamily="34" charset="-120"/>
              </a:rPr>
              <a:t>Die Werke zeigen, wie sehr wir Bildern vertrauen.</a:t>
            </a:r>
            <a:endParaRPr lang="de-DE" sz="1800" dirty="0"/>
          </a:p>
        </p:txBody>
      </p:sp>
      <p:sp>
        <p:nvSpPr>
          <p:cNvPr id="14" name="Shape 10"/>
          <p:cNvSpPr/>
          <p:nvPr/>
        </p:nvSpPr>
        <p:spPr>
          <a:xfrm>
            <a:off x="5760720" y="3931920"/>
            <a:ext cx="566928" cy="566928"/>
          </a:xfrm>
          <a:prstGeom prst="ellipse">
            <a:avLst/>
          </a:prstGeom>
          <a:solidFill>
            <a:srgbClr val="1C1C1C"/>
          </a:solidFill>
          <a:ln w="15875">
            <a:solidFill>
              <a:srgbClr val="F5B21B"/>
            </a:solidFill>
            <a:prstDash val="solid"/>
          </a:ln>
        </p:spPr>
      </p:sp>
      <p:pic>
        <p:nvPicPr>
          <p:cNvPr id="15" name="Image 2" descr="Symbol DeviceMobile">    </p:cNvPr>
          <p:cNvPicPr>
            <a:picLocks noChangeAspect="1"/>
          </p:cNvPicPr>
          <p:nvPr/>
        </p:nvPicPr>
        <p:blipFill>
          <a:blip r:embed="rId3"/>
          <a:stretch>
            <a:fillRect/>
          </a:stretch>
        </p:blipFill>
        <p:spPr>
          <a:xfrm>
            <a:off x="5885444" y="4056644"/>
            <a:ext cx="317480" cy="317480"/>
          </a:xfrm>
          <a:prstGeom prst="rect">
            <a:avLst/>
          </a:prstGeom>
        </p:spPr>
      </p:pic>
      <p:sp>
        <p:nvSpPr>
          <p:cNvPr id="16" name="Text 11"/>
          <p:cNvSpPr txBox="1"/>
          <p:nvPr/>
        </p:nvSpPr>
        <p:spPr>
          <a:xfrm>
            <a:off x="6537960" y="3931920"/>
            <a:ext cx="5105095" cy="1005840"/>
          </a:xfrm>
          <a:prstGeom prst="rect">
            <a:avLst/>
          </a:prstGeom>
          <a:noFill/>
          <a:ln/>
        </p:spPr>
        <p:txBody>
          <a:bodyPr wrap="square" lIns="0" tIns="0" rIns="0" bIns="0" rtlCol="0" anchor="t"/>
          <a:lstStyle/>
          <a:p>
            <a:pPr indent="0" marL="0">
              <a:spcAft>
                <a:spcPts val="200"/>
              </a:spcAft>
              <a:buNone/>
            </a:pPr>
            <a:r>
              <a:rPr lang="de-DE" altLang="en-US" sz="1800" b="1" dirty="0">
                <a:solidFill>
                  <a:srgbClr val="F5F5F2"/>
                </a:solidFill>
                <a:latin typeface="Arial" pitchFamily="34" charset="0"/>
                <a:ea typeface="Arial" pitchFamily="34" charset="-122"/>
                <a:cs typeface="Arial" pitchFamily="34" charset="-120"/>
              </a:rPr>
              <a:t>Aktualität</a:t>
            </a:r>
            <a:endParaRPr lang="de-DE" sz="1800" dirty="0"/>
          </a:p>
          <a:p>
            <a:pPr indent="0" marL="0">
              <a:spcAft>
                <a:spcPts val="200"/>
              </a:spcAft>
              <a:buNone/>
            </a:pPr>
            <a:r>
              <a:rPr lang="de-DE" altLang="en-US" sz="1500" dirty="0">
                <a:solidFill>
                  <a:srgbClr val="A8A8A3"/>
                </a:solidFill>
                <a:latin typeface="Arial" pitchFamily="34" charset="0"/>
                <a:ea typeface="Arial" pitchFamily="34" charset="-122"/>
                <a:cs typeface="Arial" pitchFamily="34" charset="-120"/>
              </a:rPr>
              <a:t>Smartphones, Filter, KI-Bilder: Was ist heute noch „echt“?</a:t>
            </a:r>
            <a:endParaRPr lang="de-DE" sz="1800" dirty="0"/>
          </a:p>
        </p:txBody>
      </p:sp>
      <p:sp>
        <p:nvSpPr>
          <p:cNvPr id="17" name="Shape 12"/>
          <p:cNvSpPr/>
          <p:nvPr/>
        </p:nvSpPr>
        <p:spPr>
          <a:xfrm>
            <a:off x="5760720" y="5029200"/>
            <a:ext cx="566928" cy="566928"/>
          </a:xfrm>
          <a:prstGeom prst="ellipse">
            <a:avLst/>
          </a:prstGeom>
          <a:solidFill>
            <a:srgbClr val="1C1C1C"/>
          </a:solidFill>
          <a:ln w="15875">
            <a:solidFill>
              <a:srgbClr val="F5B21B"/>
            </a:solidFill>
            <a:prstDash val="solid"/>
          </a:ln>
        </p:spPr>
      </p:sp>
      <p:pic>
        <p:nvPicPr>
          <p:cNvPr id="18" name="Image 3" descr="Symbol Help">    </p:cNvPr>
          <p:cNvPicPr>
            <a:picLocks noChangeAspect="1"/>
          </p:cNvPicPr>
          <p:nvPr/>
        </p:nvPicPr>
        <p:blipFill>
          <a:blip r:embed="rId4"/>
          <a:stretch>
            <a:fillRect/>
          </a:stretch>
        </p:blipFill>
        <p:spPr>
          <a:xfrm>
            <a:off x="5885444" y="5153924"/>
            <a:ext cx="317480" cy="317480"/>
          </a:xfrm>
          <a:prstGeom prst="rect">
            <a:avLst/>
          </a:prstGeom>
        </p:spPr>
      </p:pic>
      <p:sp>
        <p:nvSpPr>
          <p:cNvPr id="19" name="Text 13"/>
          <p:cNvSpPr txBox="1"/>
          <p:nvPr/>
        </p:nvSpPr>
        <p:spPr>
          <a:xfrm>
            <a:off x="6537960" y="5029200"/>
            <a:ext cx="5105095" cy="1005840"/>
          </a:xfrm>
          <a:prstGeom prst="rect">
            <a:avLst/>
          </a:prstGeom>
          <a:noFill/>
          <a:ln/>
        </p:spPr>
        <p:txBody>
          <a:bodyPr wrap="square" lIns="0" tIns="0" rIns="0" bIns="0" rtlCol="0" anchor="t"/>
          <a:lstStyle/>
          <a:p>
            <a:pPr indent="0" marL="0">
              <a:spcAft>
                <a:spcPts val="200"/>
              </a:spcAft>
              <a:buNone/>
            </a:pPr>
            <a:r>
              <a:rPr lang="de-DE" altLang="en-US" sz="1800" b="1" dirty="0">
                <a:solidFill>
                  <a:srgbClr val="F5B21B"/>
                </a:solidFill>
                <a:latin typeface="Arial" pitchFamily="34" charset="0"/>
                <a:ea typeface="Arial" pitchFamily="34" charset="-122"/>
                <a:cs typeface="Arial" pitchFamily="34" charset="-120"/>
              </a:rPr>
              <a:t>Frage an euch</a:t>
            </a:r>
            <a:endParaRPr lang="de-DE" sz="1800" dirty="0"/>
          </a:p>
          <a:p>
            <a:pPr indent="0" marL="0">
              <a:spcAft>
                <a:spcPts val="200"/>
              </a:spcAft>
              <a:buNone/>
            </a:pPr>
            <a:r>
              <a:rPr lang="de-DE" altLang="en-US" sz="1600" b="1" dirty="0">
                <a:solidFill>
                  <a:srgbClr val="F5F5F2"/>
                </a:solidFill>
                <a:latin typeface="Arial" pitchFamily="34" charset="0"/>
                <a:ea typeface="Arial" pitchFamily="34" charset="-122"/>
                <a:cs typeface="Arial" pitchFamily="34" charset="-120"/>
              </a:rPr>
              <a:t>Ist es Kunst, ein Foto perfekt abzumalen?</a:t>
            </a:r>
            <a:endParaRPr lang="de-DE"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ANHANG</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Quellen</a:t>
            </a:r>
            <a:endParaRPr lang="de-DE" sz="3200" dirty="0"/>
          </a:p>
        </p:txBody>
      </p:sp>
      <p:sp>
        <p:nvSpPr>
          <p:cNvPr id="4" name="Text 2"/>
          <p:cNvSpPr txBox="1"/>
          <p:nvPr/>
        </p:nvSpPr>
        <p:spPr>
          <a:xfrm>
            <a:off x="548640" y="1691640"/>
            <a:ext cx="5410048" cy="365760"/>
          </a:xfrm>
          <a:prstGeom prst="rect">
            <a:avLst/>
          </a:prstGeom>
          <a:noFill/>
          <a:ln/>
        </p:spPr>
        <p:txBody>
          <a:bodyPr wrap="square" lIns="0" tIns="0" rIns="0" bIns="0" rtlCol="0" anchor="ctr"/>
          <a:lstStyle/>
          <a:p>
            <a:pPr indent="0" marL="0">
              <a:buNone/>
            </a:pPr>
            <a:r>
              <a:rPr lang="de-DE" altLang="en-US" sz="1600" b="1" dirty="0">
                <a:solidFill>
                  <a:srgbClr val="F5B21B"/>
                </a:solidFill>
                <a:latin typeface="Arial" pitchFamily="34" charset="0"/>
                <a:ea typeface="Arial" pitchFamily="34" charset="-122"/>
                <a:cs typeface="Arial" pitchFamily="34" charset="-120"/>
              </a:rPr>
              <a:t>Literatur</a:t>
            </a:r>
            <a:endParaRPr lang="de-DE" sz="1600" dirty="0"/>
          </a:p>
        </p:txBody>
      </p:sp>
      <p:sp>
        <p:nvSpPr>
          <p:cNvPr id="5" name="Text 3"/>
          <p:cNvSpPr txBox="1"/>
          <p:nvPr/>
        </p:nvSpPr>
        <p:spPr>
          <a:xfrm>
            <a:off x="548640" y="2148840"/>
            <a:ext cx="5410048" cy="4114800"/>
          </a:xfrm>
          <a:prstGeom prst="rect">
            <a:avLst/>
          </a:prstGeom>
          <a:noFill/>
          <a:ln/>
        </p:spPr>
        <p:txBody>
          <a:bodyPr wrap="square" lIns="0" tIns="0" rIns="0" bIns="0" rtlCol="0" anchor="t"/>
          <a:lstStyle/>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Battcock, Gregory (Hg.): Super Realism. A Critical Anthology. New York: Dutton 1975.</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Letze, Otto (Hg.): Fotorealismus. 50 Jahre hyperrealistische Malerei. Ostfildern: Hatje Cantz 2012.</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Meisel, Louis K.: Photo-Realism. New York: Abrams 1980.</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mumok Wien (Hg.): Hyper Real. Die Passion des Realen in Malerei und Fotografie. Köln: Walther König 2010.</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Zamani, Daniel (Hg.): Wettstreit mit der Wirklichkeit. 60 Jahre Fotorealismus. München: Hirmer 2026 (Kat. Museum Frieder Burda).</a:t>
            </a:r>
            <a:endParaRPr lang="de-DE" sz="1200" dirty="0"/>
          </a:p>
        </p:txBody>
      </p:sp>
      <p:sp>
        <p:nvSpPr>
          <p:cNvPr id="6" name="Text 4"/>
          <p:cNvSpPr txBox="1"/>
          <p:nvPr/>
        </p:nvSpPr>
        <p:spPr>
          <a:xfrm>
            <a:off x="6233008" y="1691640"/>
            <a:ext cx="5410048" cy="365760"/>
          </a:xfrm>
          <a:prstGeom prst="rect">
            <a:avLst/>
          </a:prstGeom>
          <a:noFill/>
          <a:ln/>
        </p:spPr>
        <p:txBody>
          <a:bodyPr wrap="square" lIns="0" tIns="0" rIns="0" bIns="0" rtlCol="0" anchor="ctr"/>
          <a:lstStyle/>
          <a:p>
            <a:pPr indent="0" marL="0">
              <a:buNone/>
            </a:pPr>
            <a:r>
              <a:rPr lang="de-DE" altLang="en-US" sz="1600" b="1" dirty="0">
                <a:solidFill>
                  <a:srgbClr val="F5B21B"/>
                </a:solidFill>
                <a:latin typeface="Arial" pitchFamily="34" charset="0"/>
                <a:ea typeface="Arial" pitchFamily="34" charset="-122"/>
                <a:cs typeface="Arial" pitchFamily="34" charset="-120"/>
              </a:rPr>
              <a:t>Internet</a:t>
            </a:r>
            <a:endParaRPr lang="de-DE" sz="1600" dirty="0"/>
          </a:p>
        </p:txBody>
      </p:sp>
      <p:sp>
        <p:nvSpPr>
          <p:cNvPr id="7" name="Text 5"/>
          <p:cNvSpPr txBox="1"/>
          <p:nvPr/>
        </p:nvSpPr>
        <p:spPr>
          <a:xfrm>
            <a:off x="6233008" y="2148840"/>
            <a:ext cx="5410048" cy="4114800"/>
          </a:xfrm>
          <a:prstGeom prst="rect">
            <a:avLst/>
          </a:prstGeom>
          <a:noFill/>
          <a:ln/>
        </p:spPr>
        <p:txBody>
          <a:bodyPr wrap="square" lIns="0" tIns="0" rIns="0" bIns="0" rtlCol="0" anchor="t"/>
          <a:lstStyle/>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documenta: Retrospektive documenta 5 (1972). documenta.de/en/retrospective/documenta-5</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Louis K. Meisel Gallery: Curating the Stuart M. Speiser Collection. meiselgallery.com/story/curating-the-stuart-m-speiser-collection</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Museum Frieder Burda: Pressemitteilung „Wettstreit mit der Wirklichkeit“ (2026). museum-frieder-burda.de</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Tate: Art Term „Photorealism“. tate.org.uk/art/art-terms/photorealism</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The Art Story: Photorealism. theartstory.org/movement/photorealism</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Wikipedia: Fotorealismus. de.wikipedia.org/wiki/Fotorealismus</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Wikipedia: Hyperrealism (visual arts). en.wikipedia.org/wiki/Hyperrealism_(visual_arts)</a:t>
            </a:r>
            <a:endParaRPr lang="de-DE" sz="1200" dirty="0"/>
          </a:p>
          <a:p>
            <a:pPr indent="0" marL="0">
              <a:spcAft>
                <a:spcPts val="700"/>
              </a:spcAft>
              <a:buNone/>
            </a:pPr>
            <a:r>
              <a:rPr lang="de-DE" altLang="en-US" sz="1200" dirty="0">
                <a:solidFill>
                  <a:srgbClr val="F5F5F2"/>
                </a:solidFill>
                <a:latin typeface="Arial" pitchFamily="34" charset="0"/>
                <a:ea typeface="Arial" pitchFamily="34" charset="-122"/>
                <a:cs typeface="Arial" pitchFamily="34" charset="-120"/>
              </a:rPr>
              <a:t>Alle Internetquellen abgerufen am 25.10.2026.</a:t>
            </a:r>
            <a:endParaRPr lang="de-DE" sz="1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858000" cy="292608"/>
          </a:xfrm>
          <a:prstGeom prst="rect">
            <a:avLst/>
          </a:prstGeom>
          <a:noFill/>
          <a:ln/>
        </p:spPr>
        <p:txBody>
          <a:bodyPr wrap="square" lIns="0" tIns="0" rIns="0" bIns="0" rtlCol="0" anchor="ctr"/>
          <a:lstStyle/>
          <a:p>
            <a:pPr algn="l" indent="0" marL="0">
              <a:buNone/>
            </a:pPr>
            <a:r>
              <a:rPr lang="de-DE" altLang="en-US" sz="1200" b="1" spc="300" kern="0" dirty="0">
                <a:solidFill>
                  <a:srgbClr val="F5B21B"/>
                </a:solidFill>
                <a:latin typeface="Arial" pitchFamily="34" charset="0"/>
                <a:ea typeface="Arial" pitchFamily="34" charset="-122"/>
                <a:cs typeface="Arial" pitchFamily="34" charset="-120"/>
              </a:rPr>
              <a:t>ANHANG</a:t>
            </a:r>
            <a:endParaRPr lang="de-DE" sz="1200" dirty="0"/>
          </a:p>
        </p:txBody>
      </p:sp>
      <p:sp>
        <p:nvSpPr>
          <p:cNvPr id="3" name="Text 0"/>
          <p:cNvSpPr/>
          <p:nvPr>
            <p:ph idx="101" type="title" hasCustomPrompt="1"/>
          </p:nvPr>
        </p:nvSpPr>
        <p:spPr>
          <a:xfrm>
            <a:off x="548640" y="694944"/>
            <a:ext cx="11094415" cy="749808"/>
          </a:xfrm>
          <a:prstGeom prst="rect">
            <a:avLst/>
          </a:prstGeom>
          <a:noFill/>
          <a:ln/>
        </p:spPr>
        <p:txBody>
          <a:bodyPr wrap="square" lIns="0" tIns="0" rIns="0" bIns="0" rtlCol="0" anchor="t"/>
          <a:lstStyle/>
          <a:p>
            <a:pPr algn="l" indent="0" marL="0">
              <a:buNone/>
            </a:pPr>
            <a:r>
              <a:rPr lang="de-DE" altLang="en-US" sz="3200" b="1" dirty="0">
                <a:solidFill>
                  <a:srgbClr val="F5F5F2"/>
                </a:solidFill>
                <a:latin typeface="Georgia" pitchFamily="34" charset="0"/>
                <a:ea typeface="Georgia" pitchFamily="34" charset="-122"/>
                <a:cs typeface="Georgia" pitchFamily="34" charset="-120"/>
              </a:rPr>
              <a:t>Bildnachweise</a:t>
            </a:r>
            <a:endParaRPr lang="de-DE" sz="3200" dirty="0"/>
          </a:p>
        </p:txBody>
      </p:sp>
      <p:sp>
        <p:nvSpPr>
          <p:cNvPr id="4" name="Text 2"/>
          <p:cNvSpPr txBox="1"/>
          <p:nvPr/>
        </p:nvSpPr>
        <p:spPr>
          <a:xfrm>
            <a:off x="548640" y="1691640"/>
            <a:ext cx="5410048" cy="4526280"/>
          </a:xfrm>
          <a:prstGeom prst="rect">
            <a:avLst/>
          </a:prstGeom>
          <a:noFill/>
          <a:ln/>
        </p:spPr>
        <p:txBody>
          <a:bodyPr wrap="square" lIns="0" tIns="0" rIns="0" bIns="0" rtlCol="0" anchor="t"/>
          <a:lstStyle/>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 Ralph Goings, Airstream, 1970. mumok Wien (Leihgabe Sammlung Ludwig, Aachen). Abb.: mumok.at/en/online-collection/detail/airstream-1355</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10: Richard Estes, Telephone Booths, 1967. Museo Nacional Thyssen-Bornemisza, Madrid. Abb.: museothyssen.org/en/collection/artists/estes-richard/telephone-booths</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11: Chuck Close, Big Self-Portrait, 1967–68. Walker Art Center, Minneapolis. Abb.: walkerart.org/collections/artworks/big-self-portrait</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15: Malcolm Morley, SS Amsterdam in Front of Rotterdam, 1966. Privatsammlung. Abb.: petzel.com/collect/malcolm-morley4</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15: Franz Gertsch, Medici, 1971/72. Ludwig Forum Aachen (Dauerleihgabe). Abb.: guide.kunstmuseumbern.ch/en/artwork/12884</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16: Robert Bechtle, ’61 Pontiac, 1968–69. Whitney Museum of American Art, New York. Abb.: whitney.org/collection/works/493</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16: Don Eddy, New Shoes for H, 1973–74. Cleveland Museum of Art. Abb.: clevelandart.org/art/1974.53</a:t>
            </a:r>
            <a:endParaRPr lang="de-DE" sz="1050" dirty="0"/>
          </a:p>
        </p:txBody>
      </p:sp>
      <p:sp>
        <p:nvSpPr>
          <p:cNvPr id="5" name="Text 3"/>
          <p:cNvSpPr txBox="1"/>
          <p:nvPr/>
        </p:nvSpPr>
        <p:spPr>
          <a:xfrm>
            <a:off x="6233008" y="1691640"/>
            <a:ext cx="5410048" cy="4526280"/>
          </a:xfrm>
          <a:prstGeom prst="rect">
            <a:avLst/>
          </a:prstGeom>
          <a:noFill/>
          <a:ln/>
        </p:spPr>
        <p:txBody>
          <a:bodyPr wrap="square" lIns="0" tIns="0" rIns="0" bIns="0" rtlCol="0" anchor="t"/>
          <a:lstStyle/>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17: Charles Bell, Gum Ball No. 10: „Sugar Daddy“, 1975. Solomon R. Guggenheim Museum, New York. Abb.: guggenheim.org/artwork/artist/charles-bell</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17: Audrey Flack, Marilyn (Vanitas), 1977. University of Arizona Museum of Art, Tucson. Abb.: uarizona.pastperfectonline.com (Inv.-Nr. 1982.035.001)</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18: Duane Hanson, Supermarket Lady, 1969/70. Ludwig Forum Aachen. Abb.: ludwigforum.de/en/museum/restoration-workshop/supermarket-lady</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18: Ron Mueck, Mask II, 2001–02. San Francisco Museum of Modern Art. Abb.: sfmoma.org (Art Supporting Foundation to SFMOMA)</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19: Gottfried Helnwein, Epiphany II (Adoration of the Shepherds), 1998. de Young Museum, San Francisco. Abb.: famsf.org/artworks/epiphany-ii-adoration-of-the-shepherds</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Folie 19: Gregory Thielker, Exhale, 2023. Guy Hepner Gallery, New York. Abb.: guyhepner.com/artworks/9873-gregory-thielker-exhale-2023</a:t>
            </a:r>
            <a:endParaRPr lang="de-DE" sz="1050" dirty="0"/>
          </a:p>
          <a:p>
            <a:pPr indent="0" marL="0">
              <a:spcAft>
                <a:spcPts val="500"/>
              </a:spcAft>
              <a:buNone/>
            </a:pPr>
            <a:r>
              <a:rPr lang="de-DE" altLang="en-US" sz="1050" dirty="0">
                <a:solidFill>
                  <a:srgbClr val="F5F5F2"/>
                </a:solidFill>
                <a:latin typeface="Arial" pitchFamily="34" charset="0"/>
                <a:ea typeface="Arial" pitchFamily="34" charset="-122"/>
                <a:cs typeface="Arial" pitchFamily="34" charset="-120"/>
              </a:rPr>
              <a:t>Abbildungen nur zu Unterrichtszwecken (§ 60a UrhG); Rechte bei den Künstlern bzw. Nachlässen. Webseiten abgerufen am 25.10.2026. Die drei Abbildungen des Handouts (Estes, Close, Hanson) sind hier mit nachgewiesen.</a:t>
            </a:r>
            <a:endParaRPr lang="de-DE" sz="105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3"/>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Dunkelkammer">
  <a:themeElements>
    <a:clrScheme name="Dunkelkammer">
      <a:dk1>
        <a:srgbClr val="141414"/>
      </a:dk1>
      <a:lt1>
        <a:srgbClr val="F5F5F2"/>
      </a:lt1>
      <a:dk2>
        <a:srgbClr val="2E2E2E"/>
      </a:dk2>
      <a:lt2>
        <a:srgbClr val="A8A8A3"/>
      </a:lt2>
      <a:accent1>
        <a:srgbClr val="F5B21B"/>
      </a:accent1>
      <a:accent2>
        <a:srgbClr val="8CC4D6"/>
      </a:accent2>
      <a:accent3>
        <a:srgbClr val="484848"/>
      </a:accent3>
      <a:accent4>
        <a:srgbClr val="1C1C1C"/>
      </a:accent4>
      <a:accent5>
        <a:srgbClr val="7A7A75"/>
      </a:accent5>
      <a:accent6>
        <a:srgbClr val="DADAD5"/>
      </a:accent6>
      <a:hlink>
        <a:srgbClr val="F5B21B"/>
      </a:hlink>
      <a:folHlink>
        <a:srgbClr val="C9941A"/>
      </a:folHlink>
    </a:clrScheme>
    <a:fontScheme name="Dunkelkamme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Fotorealismus &amp; Hyperrealismus</dc:title>
  <dc:subject>Referat zu Kunstepochen</dc:subject>
  <dc:creator>Referat Kunst</dc:creator>
  <cp:lastModifiedBy>Referat Kunst</cp:lastModifiedBy>
  <cp:revision>1</cp:revision>
  <dcterms:created xsi:type="dcterms:W3CDTF">2026-10-25T13:01:13Z</dcterms:created>
  <dcterms:modified xsi:type="dcterms:W3CDTF">2026-10-25T13:01:13Z</dcterms:modified>
</cp:coreProperties>
</file>