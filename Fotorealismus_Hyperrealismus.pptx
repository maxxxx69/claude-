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53667f77-bd9c-6235-82e8-27ba2e792c5b}">
          <p14:sldIdLst>
            <p14:sldId id="256"/>
            <p14:sldId id="257"/>
            <p14:sldId id="258"/>
          </p14:sldIdLst>
        </p14:section>
        <p14:section name="Zeitliche Einordnung" id="{7395800b-0088-c351-4926-1f7a414ade39}">
          <p14:sldIdLst>
            <p14:sldId id="259"/>
            <p14:sldId id="260"/>
          </p14:sldIdLst>
        </p14:section>
        <p14:section name="Merkmale" id="{4a0ba526-5475-c97b-5171-12f09957a41f}">
          <p14:sldIdLst>
            <p14:sldId id="261"/>
            <p14:sldId id="262"/>
            <p14:sldId id="263"/>
            <p14:sldId id="264"/>
          </p14:sldIdLst>
        </p14:section>
        <p14:section name="Motive" id="{a307d6eb-9389-5fb3-7d85-4ba3fb149daa}">
          <p14:sldIdLst>
            <p14:sldId id="265"/>
          </p14:sldIdLst>
        </p14:section>
        <p14:section name="Hauptvertreter" id="{683ed24a-1fe4-25e1-17c5-bcc12db2eb6f}">
          <p14:sldIdLst>
            <p14:sldId id="266"/>
            <p14:sldId id="267"/>
          </p14:sldIdLst>
        </p14:section>
        <p14:section name="Werkbeispiele" id="{86d9aea5-427f-02ba-ed4f-93169984ad7e}">
          <p14:sldIdLst>
            <p14:sldId id="268"/>
            <p14:sldId id="269"/>
            <p14:sldId id="270"/>
            <p14:sldId id="271"/>
            <p14:sldId id="272"/>
          </p14:sldIdLst>
        </p14:section>
        <p14:section name="Fazit &amp; Quellen" id="{93ab0b41-5cd7-99fc-6cc9-348f0ab5dc3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Mein Referat handelt vom Fotorealismus und vom Hyperrealismus – zwei Kunstrichtungen, bei denen Gemälde und Skulpturen so echt aussehen, dass man sie für Fotos oder echte Menschen halten kann. Die Leitfrage lautet: Wirklicher als die Wirklichkeit?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ins Publikum fragen: Ist das ein Foto oder ein Gemälde? – Auflösung: Es ist ein Gemälde! Ralph Goings, „Ralph's Diner“, 1981–82. Jedes Detail – das Chrom, die Spiegelungen, die Ketchupflasche – ist von Hand gemalt. Genau diese Verwechslungsgefahr ist das Thema des Fotorealismus.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Zuerst ordne ich die Epoche zeitlich ein und zeige, wie sie sich entwickelt hat. Dann stelle ich die typischen Merkmale vor und weise sie an zwei Bildern nach. Danach geht es um die Motive und die wichtigsten Künstlerinnen und Künstler. Anschließend zeige ich weitere Werkbeispiele, und am Ende ziehe ich ein Fazit. Die Quellen stehen auf den letzten beiden Folien. (ca. 20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Fotorealismus entsteht Ende der 1960er-Jahre in den USA, vor allem in Kalifornien und New York. Vorher hat die Pop Art schon Werbung und Alltagsbilder in die Kunst geholt – daran knüpfen die Fotorealisten an, wenden sich aber gegen die damals vorherrschende abstrakte Malerei. 1966 malt Malcolm Morley ein Kreuzfahrtschiff nach einer Postkarte – das gilt als eines der ersten Werke dieser Art. 1969 prägt der New Yorker Galerist Louis K. Meisel den Begriff „Photo-Realism“. Den Durchbruch in Europa bringt 1972 die documenta 5 in Kassel. 1973 taucht in Brüssel der Begriff „Hyperrealismus“ auf. 1980 legt Meisel in seinem Buch fünf Kriterien fest. Seit etwa 2000 erlebt der Hyperrealismus einen Boom – durch digitale Fotografie und neue Materialien wie Silikon. (ca. 70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hängen die beiden Begriffe zusammen? Oft werden sie gleichbedeutend verwendet, man kann aber eine Entwicklung erkennen. Der Fotorealismus ist kühl und neutral: Er überträgt das Foto möglichst genau, sogar mit fotografischen Fehlern wie Unschärfe. Gemalt werden vor allem Szenen aus dem amerikanischen Alltag. Der Hyperrealismus geht einen Schritt weiter: Die Werke sind oft noch detailreicher als jedes Foto, sie erzählen Geschichten, wecken Gefühle oder üben Kritik. Außerdem gibt es nun auch hyperrealistische Skulpturen.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sechs Merkmale fassen zusammen, woran man Fotorealismus erkennt. Erstens: Die Vorlage ist immer ein Foto. Zweitens: Das Foto wird mechanisch übertragen, zum Beispiel mit einem Raster oder einem Projektor. Drittens: Man sieht keine Handschrift des Künstlers, also keine Pinselspuren. Viertens: Der Blick ist fotografisch – Ausschnitt, Spiegelungen und sogar Unschärfen stammen aus dem Foto. Fünftens: Die Bilder sind oft riesig. Und sechstens: Die Motive kommen aus dem Alltag und werden neutral, ohne Bewertung, gezeigt. Zwei dieser Merkmale weise ich jetzt an Bildbeispielen nach. (ca. 60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erste Bildbeispiel: Richard Estes, „Telephone Booths“, 1967. Man sieht eine Reihe von Telefonzellen in New York. Auffällig sind die Spiegelungen im Glas und im Metall – Spiegelungen sind das Markenzeichen von Estes. Außerdem ist alles gleich scharf, vom Vordergrund bis zum Hintergrund, und man sieht keinen einzigen Pinselstrich. Das Motiv ist völlig alltäglich und wird ohne Wertung gezeigt. Estes malt nach eigenen Fotos und setzt oft mehrere Aufnahmen zu einem Bild zusammen.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zweite Bildbeispiel: Chuck Close, „Big Self-Portrait“, 1967–68. Das Bild ist 2,73 Meter hoch – das Gesicht wirkt dadurch monumental. Close hat ein Foto von sich in ein Raster aus Quadraten geteilt und es Feld für Feld auf die Leinwand übertragen. Interessant ist: Close übernimmt sogar die Unschärfe der Kamera. Das Gesicht ist scharf, Haare und Schultern verschwimmen. Gemalt hat er mit Airbrush in Schwarz-Weiß. Und das Porträt ist nicht geschönt: Zigarette im Mund, zerzauste Haare – wie ein zufälliger Schnappschuss.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entsteht ein fotorealistisches Bild: Zuerst wird fotografiert, oft werden mehrere Fotos kombiniert. Dann wird das Bild übertragen – mit einem Raster oder indem man ein Dia direkt auf die Leinwand projiziert und nachzeichnet. Danach wird Schicht für Schicht gemalt, oft mit Airbrush. An einem Bild arbeiten die Künstler häufig mehrere Monate. Der Galerist Louis K. Meisel hat 1980 fünf Kriterien formuliert: Fotorealisten arbeiten mit Kamera und Foto, übertragen mechanisch, haben das Können für eine fotografische Wirkung – und die beiden letzten Kriterien grenzen die Kerngruppe zeitlich ein. (ca. 60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Motive stammen fast immer aus dem Alltag. Besonders beliebt sind Großstadtansichten und Schaufenster mit Spiegelungen, Autos und Motorräder als Symbole des amerikanischen Lebensstils, und Diner – also typisch amerikanische Imbissrestaurants. Dazu kommen Porträts im Riesenformat und Stillleben mit Konsumgütern, etwa Kaugummiautomaten. Im Hyperrealismus steht dann oft der Mensch selbst im Mittelpunkt – als lebensechte Skulptur oder in Bildern von Haut und Wasser.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wichtigsten Fotorealisten kommen aus den USA. Richard Estes ist bekannt für seine New Yorker Stadtansichten mit Spiegelungen. Chuck Close malte riesige Porträts mit der Rastertechnik. Ralph Goings malte vor allem Diner und Pick-up-Trucks, Audrey Flack war eine der wenigen Frauen der Bewegung und malte Stillleben mit Airbrush. Robert Bechtle zeigt die kalifornische Vorstadt mit Autos und Familien. Der wichtigste Europäer ist der Schweizer Franz Gertsch, der auf der documenta 5 bekannt wurde. (ca. 50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Hyperrealismus spielen Skulpturen eine große Rolle. Duane Hanson schuf lebensgroße Figuren von Alltagsmenschen, mit echter Kleidung. John De Andrea arbeitet ähnlich, zeigt aber nackte Figuren. Ron Mueck spielt mit dem Maßstab: Seine Figuren sind riesig oder winzig, aber bis zur Pore detailliert. In der Malerei sind zum Beispiel Gottfried Helnwein, Roberto Bernardi und Alyssa Monks wichtig. (ca. 45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Malcolm Morley, „SS Amsterdam in Front of Rotterdam“, 1966. Morley malte nach einer Postkarte und übertrug sie mit einem Raster – sogar der weiße Rand der Postkarte ist mitgemalt. Rechts: Franz Gertsch, „Medici“, 1971. Das riesige Bild zeigt eine Gruppe junger Leute und wurde auf der documenta 5 gezeigt.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Robert Bechtle, „'61 Pontiac“, 1968–69. Eine Familie steht vor ihrem Auto – das Bild wirkt wie ein ganz normales Familienfoto. Rechts: Don Eddy, „New Shoes for H“, 1973–74. Man blickt in ein Schuhgeschäft; Spiegelungen und Durchblick überlagern sich, sodass man kaum sagen kann, was vor und was hinter der Scheibe ist.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Audrey Flack, „Marilyn (Vanitas)“, 1977. Ein Vanitas-Stillleben über Marilyn Monroe: Schminke, Obst, Uhr und Kerze stehen für Schönheit und Vergänglichkeit. Rechts: Charles Bell, „Gumball No. 10: Sugar Daddy“, 1975. Ein Kaugummiautomat wird riesig vergrößert – ein einfaches Konsumgut wird zum Kunstwerk.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Duane Hanson, „Supermarket Lady“, 1969. Eine Frau mit vollem Einkaufswagen – im Museum halten Besucher sie oft für eine echte Person. Rechts: Ron Mueck, „Boy“, 1999. Ein riesig vergrößerter, kauernder Junge. Durch den veränderten Maßstab sehen wir jede Pore – und fühlen uns gleichzeitig unwohl.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Gottfried Helnwein, „Epiphany I (Adoration of the Magi)“, 1996. Helnwein nutzt die hyperrealistische Malweise, um zu provozieren und zum Nachdenken anzuregen. Rechts: Roberto Bernardi, „Tutti Frutti“, 2008. Glas, Farben und Spiegelungen sind so präzise, dass das Bild schärfer wirkt als jedes Foto. (ca. 40 Sekunden)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Dem Fotorealismus wurde oft vorgeworfen, er sei nur handwerklich perfektes Abmalen ohne eigene Idee. Man kann es aber auch anders sehen: Die Werke machen uns bewusst, wie sehr wir Bildern vertrauen – und fragen, was eigentlich echt ist. Heute, wo jeder ständig fotografiert, Bilder filtert und KI täuschend echte Bilder erzeugt, ist diese Frage aktueller denn je. Deshalb meine Frage an euch: Ist es Kunst, ein Foto perfekt abzumalen? – Vielen Dank für eure Aufmerksamkeit! (ca. 50 Sekunden + Diskussion)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Quellenangaben – nicht vortragen, nur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Bildnachweise – nicht vortragen, nur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1414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43000" y="2148840"/>
            <a:ext cx="7863840" cy="1737360"/>
          </a:xfrm>
          <a:prstGeom prst="rect">
            <a:avLst/>
          </a:prstGeom>
          <a:noFill/>
          <a:ln/>
        </p:spPr>
        <p:txBody>
          <a:bodyPr wrap="square" rtlCol="0"/>
          <a:lstStyle>
            <a:lvl1pPr algn="l" indent="0" marL="0">
              <a:buNone/>
              <a:defRPr lang="en-US" sz="50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5000" dirty="0"/>
          </a:p>
        </p:txBody>
      </p:sp>
      <p:sp>
        <p:nvSpPr>
          <p:cNvPr id="3" name="Text 0"/>
          <p:cNvSpPr/>
          <p:nvPr>
            <p:ph idx="101" type="body" hasCustomPrompt="1"/>
          </p:nvPr>
        </p:nvSpPr>
        <p:spPr>
          <a:xfrm>
            <a:off x="1143000" y="4069080"/>
            <a:ext cx="7863840" cy="822960"/>
          </a:xfrm>
          <a:prstGeom prst="rect">
            <a:avLst/>
          </a:prstGeom>
          <a:noFill/>
          <a:ln/>
        </p:spPr>
        <p:txBody>
          <a:bodyPr wrap="square" rtlCol="0"/>
          <a:lstStyle>
            <a:lvl1pPr algn="l" indent="0" marL="0">
              <a:buNone/>
              <a:defRPr lang="en-US" sz="2000" dirty="0">
                <a:solidFill>
                  <a:schemeClr val="bg2"/>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rgbClr val="14141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rtlCol="0"/>
          <a:lstStyle>
            <a:lvl1pPr algn="l" indent="0" marL="0">
              <a:buNone/>
              <a:defRPr lang="en-US" sz="1200" b="1" spc="300" kern="0" dirty="0">
                <a:solidFill>
                  <a:schemeClr val="accent1"/>
                </a:solidFill>
                <a:latin typeface="Arial" pitchFamily="34" charset="0"/>
                <a:ea typeface="Arial" pitchFamily="34" charset="-122"/>
                <a:cs typeface="Arial" pitchFamily="34" charset="-120"/>
              </a:defRPr>
            </a:lvl1pPr>
          </a:lstStyle>
          <a:p>
            <a:pPr algn="l" indent="0" marL="0">
              <a:buNone/>
            </a:pP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rtlCol="0"/>
          <a:lstStyle>
            <a:lvl1pPr algn="l" indent="0" marL="0">
              <a:buNone/>
              <a:defRPr lang="en-US" sz="32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ILD">
    <p:bg>
      <p:bgPr>
        <a:solidFill>
          <a:srgbClr val="14141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77240" y="777240"/>
            <a:ext cx="502920" cy="0"/>
          </a:xfrm>
          <a:prstGeom prst="line">
            <a:avLst/>
          </a:prstGeom>
          <a:noFill/>
          <a:ln w="31750">
            <a:solidFill>
              <a:schemeClr val="accent1"/>
            </a:solidFill>
            <a:prstDash val="solid"/>
          </a:ln>
        </p:spPr>
      </p:sp>
      <p:sp>
        <p:nvSpPr>
          <p:cNvPr id="3" name="Shape 1"/>
          <p:cNvSpPr/>
          <p:nvPr/>
        </p:nvSpPr>
        <p:spPr>
          <a:xfrm>
            <a:off x="777240" y="777240"/>
            <a:ext cx="0" cy="502920"/>
          </a:xfrm>
          <a:prstGeom prst="line">
            <a:avLst/>
          </a:prstGeom>
          <a:noFill/>
          <a:ln w="31750">
            <a:solidFill>
              <a:schemeClr val="accent1"/>
            </a:solidFill>
            <a:prstDash val="solid"/>
          </a:ln>
        </p:spPr>
      </p:sp>
      <p:sp>
        <p:nvSpPr>
          <p:cNvPr id="4" name="Shape 2"/>
          <p:cNvSpPr/>
          <p:nvPr/>
        </p:nvSpPr>
        <p:spPr>
          <a:xfrm>
            <a:off x="10911535" y="777240"/>
            <a:ext cx="502920" cy="0"/>
          </a:xfrm>
          <a:prstGeom prst="line">
            <a:avLst/>
          </a:prstGeom>
          <a:noFill/>
          <a:ln w="31750">
            <a:solidFill>
              <a:schemeClr val="accent1"/>
            </a:solidFill>
            <a:prstDash val="solid"/>
          </a:ln>
        </p:spPr>
      </p:sp>
      <p:sp>
        <p:nvSpPr>
          <p:cNvPr id="5" name="Shape 3"/>
          <p:cNvSpPr/>
          <p:nvPr/>
        </p:nvSpPr>
        <p:spPr>
          <a:xfrm>
            <a:off x="11414455" y="777240"/>
            <a:ext cx="0" cy="502920"/>
          </a:xfrm>
          <a:prstGeom prst="line">
            <a:avLst/>
          </a:prstGeom>
          <a:noFill/>
          <a:ln w="31750">
            <a:solidFill>
              <a:schemeClr val="accent1"/>
            </a:solidFill>
            <a:prstDash val="solid"/>
          </a:ln>
        </p:spPr>
      </p:sp>
      <p:sp>
        <p:nvSpPr>
          <p:cNvPr id="6" name="Shape 4"/>
          <p:cNvSpPr/>
          <p:nvPr/>
        </p:nvSpPr>
        <p:spPr>
          <a:xfrm>
            <a:off x="777240" y="6080760"/>
            <a:ext cx="502920" cy="0"/>
          </a:xfrm>
          <a:prstGeom prst="line">
            <a:avLst/>
          </a:prstGeom>
          <a:noFill/>
          <a:ln w="31750">
            <a:solidFill>
              <a:schemeClr val="accent1"/>
            </a:solidFill>
            <a:prstDash val="solid"/>
          </a:ln>
        </p:spPr>
      </p:sp>
      <p:sp>
        <p:nvSpPr>
          <p:cNvPr id="7" name="Shape 5"/>
          <p:cNvSpPr/>
          <p:nvPr/>
        </p:nvSpPr>
        <p:spPr>
          <a:xfrm>
            <a:off x="777240" y="5577840"/>
            <a:ext cx="0" cy="502920"/>
          </a:xfrm>
          <a:prstGeom prst="line">
            <a:avLst/>
          </a:prstGeom>
          <a:noFill/>
          <a:ln w="31750">
            <a:solidFill>
              <a:schemeClr val="accent1"/>
            </a:solidFill>
            <a:prstDash val="solid"/>
          </a:ln>
        </p:spPr>
      </p:sp>
      <p:sp>
        <p:nvSpPr>
          <p:cNvPr id="8" name="Shape 6"/>
          <p:cNvSpPr/>
          <p:nvPr/>
        </p:nvSpPr>
        <p:spPr>
          <a:xfrm>
            <a:off x="10911535" y="6080760"/>
            <a:ext cx="502920" cy="0"/>
          </a:xfrm>
          <a:prstGeom prst="line">
            <a:avLst/>
          </a:prstGeom>
          <a:noFill/>
          <a:ln w="31750">
            <a:solidFill>
              <a:schemeClr val="accent1"/>
            </a:solidFill>
            <a:prstDash val="solid"/>
          </a:ln>
        </p:spPr>
      </p:sp>
      <p:sp>
        <p:nvSpPr>
          <p:cNvPr id="9" name="Shape 7"/>
          <p:cNvSpPr/>
          <p:nvPr/>
        </p:nvSpPr>
        <p:spPr>
          <a:xfrm>
            <a:off x="11414455" y="5577840"/>
            <a:ext cx="0" cy="502920"/>
          </a:xfrm>
          <a:prstGeom prst="line">
            <a:avLst/>
          </a:prstGeom>
          <a:noFill/>
          <a:ln w="31750">
            <a:solidFill>
              <a:schemeClr val="accent1"/>
            </a:solidFill>
            <a:prstDash val="solid"/>
          </a:ln>
        </p:spPr>
      </p:sp>
      <p:sp>
        <p:nvSpPr>
          <p:cNvPr id="10" name="Shape 8"/>
          <p:cNvSpPr/>
          <p:nvPr/>
        </p:nvSpPr>
        <p:spPr>
          <a:xfrm>
            <a:off x="8473288" y="3410712"/>
            <a:ext cx="329184" cy="0"/>
          </a:xfrm>
          <a:prstGeom prst="line">
            <a:avLst/>
          </a:prstGeom>
          <a:noFill/>
          <a:ln w="12700">
            <a:solidFill>
              <a:schemeClr val="accent5"/>
            </a:solidFill>
            <a:prstDash val="solid"/>
          </a:ln>
        </p:spPr>
      </p:sp>
      <p:sp>
        <p:nvSpPr>
          <p:cNvPr id="11" name="Shape 9"/>
          <p:cNvSpPr/>
          <p:nvPr/>
        </p:nvSpPr>
        <p:spPr>
          <a:xfrm>
            <a:off x="8637880" y="3246120"/>
            <a:ext cx="0" cy="329184"/>
          </a:xfrm>
          <a:prstGeom prst="line">
            <a:avLst/>
          </a:prstGeom>
          <a:noFill/>
          <a:ln w="12700">
            <a:solidFill>
              <a:schemeClr val="accent5"/>
            </a:solidFill>
            <a:prstDash val="solid"/>
          </a:ln>
        </p:spPr>
      </p:sp>
      <p:sp>
        <p:nvSpPr>
          <p:cNvPr id="12" name="Text 10"/>
          <p:cNvSpPr txBox="1"/>
          <p:nvPr/>
        </p:nvSpPr>
        <p:spPr>
          <a:xfrm>
            <a:off x="1143000" y="1097280"/>
            <a:ext cx="5486400" cy="274320"/>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REFERAT · KUNSTEPOCHEN</a:t>
            </a:r>
            <a:endParaRPr lang="en-US" sz="1200" dirty="0"/>
          </a:p>
        </p:txBody>
      </p:sp>
      <p:sp>
        <p:nvSpPr>
          <p:cNvPr id="13" name="Text 11"/>
          <p:cNvSpPr txBox="1"/>
          <p:nvPr/>
        </p:nvSpPr>
        <p:spPr>
          <a:xfrm>
            <a:off x="7391095" y="1097280"/>
            <a:ext cx="3657600" cy="274320"/>
          </a:xfrm>
          <a:prstGeom prst="rect">
            <a:avLst/>
          </a:prstGeom>
          <a:noFill/>
          <a:ln/>
        </p:spPr>
        <p:txBody>
          <a:bodyPr wrap="square" lIns="0" tIns="0" rIns="0" bIns="0" rtlCol="0" anchor="ctr"/>
          <a:lstStyle/>
          <a:p>
            <a:pPr algn="r" indent="0" marL="0">
              <a:buNone/>
            </a:pPr>
            <a:r>
              <a:rPr lang="en-US" sz="1200" b="1" spc="300" kern="0" dirty="0">
                <a:solidFill>
                  <a:schemeClr val="bg2"/>
                </a:solidFill>
                <a:latin typeface="Arial" pitchFamily="34" charset="0"/>
                <a:ea typeface="Arial" pitchFamily="34" charset="-122"/>
                <a:cs typeface="Arial" pitchFamily="34" charset="-120"/>
              </a:rPr>
              <a:t>1966 – HEUTE</a:t>
            </a:r>
            <a:endParaRPr lang="en-US" sz="1200" dirty="0"/>
          </a:p>
        </p:txBody>
      </p:sp>
      <p:sp>
        <p:nvSpPr>
          <p:cNvPr id="14" name="Text 0"/>
          <p:cNvSpPr/>
          <p:nvPr>
            <p:ph idx="100" type="title" hasCustomPrompt="1"/>
          </p:nvPr>
        </p:nvSpPr>
        <p:spPr>
          <a:xfrm>
            <a:off x="1143000" y="2148840"/>
            <a:ext cx="7863840" cy="1737360"/>
          </a:xfrm>
          <a:prstGeom prst="rect">
            <a:avLst/>
          </a:prstGeom>
          <a:noFill/>
          <a:ln/>
        </p:spPr>
        <p:txBody>
          <a:bodyPr wrap="square" lIns="0" tIns="0" rIns="0" bIns="0" rtlCol="0" anchor="b"/>
          <a:lstStyle/>
          <a:p>
            <a:pPr algn="l" indent="0" marL="0">
              <a:buNone/>
            </a:pPr>
            <a:r>
              <a:rPr lang="en-US" sz="5000" b="1" dirty="0">
                <a:solidFill>
                  <a:schemeClr val="bg1"/>
                </a:solidFill>
                <a:latin typeface="Georgia" pitchFamily="34" charset="0"/>
                <a:ea typeface="Georgia" pitchFamily="34" charset="-122"/>
                <a:cs typeface="Georgia" pitchFamily="34" charset="-120"/>
              </a:rPr>
              <a:t>Fotorealismus &amp;</a:t>
            </a:r>
            <a:endParaRPr lang="en-US" sz="5000" dirty="0"/>
          </a:p>
          <a:p>
            <a:pPr algn="l" indent="0" marL="0">
              <a:buNone/>
            </a:pPr>
            <a:r>
              <a:rPr lang="en-US" sz="5000" b="1" dirty="0">
                <a:solidFill>
                  <a:schemeClr val="bg1"/>
                </a:solidFill>
                <a:latin typeface="Georgia" pitchFamily="34" charset="0"/>
                <a:ea typeface="Georgia" pitchFamily="34" charset="-122"/>
                <a:cs typeface="Georgia" pitchFamily="34" charset="-120"/>
              </a:rPr>
              <a:t>Hyperrealismus</a:t>
            </a:r>
            <a:endParaRPr lang="en-US" sz="5000" dirty="0"/>
          </a:p>
        </p:txBody>
      </p:sp>
      <p:sp>
        <p:nvSpPr>
          <p:cNvPr id="15" name="Text 0"/>
          <p:cNvSpPr/>
          <p:nvPr>
            <p:ph idx="101" type="body" hasCustomPrompt="1"/>
          </p:nvPr>
        </p:nvSpPr>
        <p:spPr>
          <a:xfrm>
            <a:off x="1143000" y="4069080"/>
            <a:ext cx="7863840" cy="822960"/>
          </a:xfrm>
          <a:prstGeom prst="rect">
            <a:avLst/>
          </a:prstGeom>
          <a:noFill/>
          <a:ln/>
        </p:spPr>
        <p:txBody>
          <a:bodyPr wrap="square" lIns="0" tIns="0" rIns="0" bIns="0" rtlCol="0" anchor="t"/>
          <a:lstStyle/>
          <a:p>
            <a:pPr algn="l" indent="0" marL="0">
              <a:buNone/>
            </a:pPr>
            <a:r>
              <a:rPr lang="en-US" sz="2000" dirty="0">
                <a:solidFill>
                  <a:schemeClr val="bg2"/>
                </a:solidFill>
                <a:latin typeface="Arial" pitchFamily="34" charset="0"/>
                <a:ea typeface="Arial" pitchFamily="34" charset="-122"/>
                <a:cs typeface="Arial" pitchFamily="34" charset="-120"/>
              </a:rPr>
              <a:t>Wirklicher als die Wirklichkeit?</a:t>
            </a:r>
            <a:endParaRPr lang="en-US" sz="2000" dirty="0"/>
          </a:p>
        </p:txBody>
      </p:sp>
      <p:sp>
        <p:nvSpPr>
          <p:cNvPr id="16" name="Text 14"/>
          <p:cNvSpPr txBox="1"/>
          <p:nvPr/>
        </p:nvSpPr>
        <p:spPr>
          <a:xfrm>
            <a:off x="1143000" y="5440680"/>
            <a:ext cx="6400800" cy="292608"/>
          </a:xfrm>
          <a:prstGeom prst="rect">
            <a:avLst/>
          </a:prstGeom>
          <a:noFill/>
          <a:ln/>
        </p:spPr>
        <p:txBody>
          <a:bodyPr wrap="square" lIns="0" tIns="0" rIns="0" bIns="0" rtlCol="0" anchor="ctr"/>
          <a:lstStyle/>
          <a:p>
            <a:pPr indent="0" marL="0">
              <a:buNone/>
            </a:pPr>
            <a:r>
              <a:rPr lang="en-US" sz="1400" dirty="0">
                <a:solidFill>
                  <a:schemeClr val="bg2"/>
                </a:solidFill>
                <a:latin typeface="Arial" pitchFamily="34" charset="0"/>
                <a:ea typeface="Arial" pitchFamily="34" charset="-122"/>
                <a:cs typeface="Arial" pitchFamily="34" charset="-120"/>
              </a:rPr>
              <a:t>Name · Kurs · Datum</a:t>
            </a:r>
            <a:endParaRPr lang="en-US" sz="1400" dirty="0"/>
          </a:p>
        </p:txBody>
      </p:sp>
      <p:sp>
        <p:nvSpPr>
          <p:cNvPr id="17" name="Text 15"/>
          <p:cNvSpPr txBox="1"/>
          <p:nvPr/>
        </p:nvSpPr>
        <p:spPr>
          <a:xfrm>
            <a:off x="7391095" y="5440680"/>
            <a:ext cx="3657600" cy="292608"/>
          </a:xfrm>
          <a:prstGeom prst="rect">
            <a:avLst/>
          </a:prstGeom>
          <a:noFill/>
          <a:ln/>
        </p:spPr>
        <p:txBody>
          <a:bodyPr wrap="square" lIns="0" tIns="0" rIns="0" bIns="0" rtlCol="0" anchor="ctr"/>
          <a:lstStyle/>
          <a:p>
            <a:pPr algn="r" indent="0" marL="0">
              <a:buNone/>
            </a:pPr>
            <a:r>
              <a:rPr lang="en-US" sz="1200" b="1" spc="200" kern="0" dirty="0">
                <a:solidFill>
                  <a:schemeClr val="accent1"/>
                </a:solidFill>
                <a:latin typeface="Arial" pitchFamily="34" charset="0"/>
                <a:ea typeface="Arial" pitchFamily="34" charset="-122"/>
                <a:cs typeface="Arial" pitchFamily="34" charset="-120"/>
              </a:rPr>
              <a:t>● FOTO ODER MALEREI?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ildplatzhalter goings_diner"/>
          <p:cNvSpPr/>
          <p:nvPr/>
        </p:nvSpPr>
        <p:spPr>
          <a:xfrm>
            <a:off x="4987138" y="640080"/>
            <a:ext cx="6653174" cy="4892040"/>
          </a:xfrm>
          <a:prstGeom prst="rect">
            <a:avLst/>
          </a:prstGeom>
          <a:solidFill>
            <a:schemeClr val="tx2"/>
          </a:solidFill>
          <a:ln w="12700">
            <a:solidFill>
              <a:schemeClr val="accent3"/>
            </a:solidFill>
            <a:prstDash val="dash"/>
          </a:ln>
        </p:spPr>
      </p:sp>
      <p:pic>
        <p:nvPicPr>
          <p:cNvPr id="3" name="Image 0" descr="Platzhalter-Symbol">    </p:cNvPr>
          <p:cNvPicPr>
            <a:picLocks noChangeAspect="1"/>
          </p:cNvPicPr>
          <p:nvPr/>
        </p:nvPicPr>
        <p:blipFill>
          <a:blip r:embed="rId1"/>
          <a:stretch>
            <a:fillRect/>
          </a:stretch>
        </p:blipFill>
        <p:spPr>
          <a:xfrm>
            <a:off x="8062265" y="2537460"/>
            <a:ext cx="502920" cy="502920"/>
          </a:xfrm>
          <a:prstGeom prst="rect">
            <a:avLst/>
          </a:prstGeom>
        </p:spPr>
      </p:pic>
      <p:sp>
        <p:nvSpPr>
          <p:cNvPr id="4" name="Text 1"/>
          <p:cNvSpPr txBox="1"/>
          <p:nvPr/>
        </p:nvSpPr>
        <p:spPr>
          <a:xfrm>
            <a:off x="5124298" y="3104388"/>
            <a:ext cx="6378854"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Ralph Goings: Ralph's Diner</a:t>
            </a:r>
            <a:endParaRPr lang="en-US" sz="1100" dirty="0"/>
          </a:p>
        </p:txBody>
      </p:sp>
      <p:sp>
        <p:nvSpPr>
          <p:cNvPr id="5" name="Shape 2"/>
          <p:cNvSpPr/>
          <p:nvPr/>
        </p:nvSpPr>
        <p:spPr>
          <a:xfrm>
            <a:off x="4895698" y="548640"/>
            <a:ext cx="237744" cy="0"/>
          </a:xfrm>
          <a:prstGeom prst="line">
            <a:avLst/>
          </a:prstGeom>
          <a:noFill/>
          <a:ln w="25400">
            <a:solidFill>
              <a:schemeClr val="accent1"/>
            </a:solidFill>
            <a:prstDash val="solid"/>
          </a:ln>
        </p:spPr>
      </p:sp>
      <p:sp>
        <p:nvSpPr>
          <p:cNvPr id="6" name="Shape 3"/>
          <p:cNvSpPr/>
          <p:nvPr/>
        </p:nvSpPr>
        <p:spPr>
          <a:xfrm>
            <a:off x="4895698" y="548640"/>
            <a:ext cx="0" cy="237744"/>
          </a:xfrm>
          <a:prstGeom prst="line">
            <a:avLst/>
          </a:prstGeom>
          <a:noFill/>
          <a:ln w="25400">
            <a:solidFill>
              <a:schemeClr val="accent1"/>
            </a:solidFill>
            <a:prstDash val="solid"/>
          </a:ln>
        </p:spPr>
      </p:sp>
      <p:sp>
        <p:nvSpPr>
          <p:cNvPr id="7" name="Shape 4"/>
          <p:cNvSpPr/>
          <p:nvPr/>
        </p:nvSpPr>
        <p:spPr>
          <a:xfrm>
            <a:off x="11494008" y="548640"/>
            <a:ext cx="237744" cy="0"/>
          </a:xfrm>
          <a:prstGeom prst="line">
            <a:avLst/>
          </a:prstGeom>
          <a:noFill/>
          <a:ln w="25400">
            <a:solidFill>
              <a:schemeClr val="accent1"/>
            </a:solidFill>
            <a:prstDash val="solid"/>
          </a:ln>
        </p:spPr>
      </p:sp>
      <p:sp>
        <p:nvSpPr>
          <p:cNvPr id="8" name="Shape 5"/>
          <p:cNvSpPr/>
          <p:nvPr/>
        </p:nvSpPr>
        <p:spPr>
          <a:xfrm>
            <a:off x="11731752" y="548640"/>
            <a:ext cx="0" cy="237744"/>
          </a:xfrm>
          <a:prstGeom prst="line">
            <a:avLst/>
          </a:prstGeom>
          <a:noFill/>
          <a:ln w="25400">
            <a:solidFill>
              <a:schemeClr val="accent1"/>
            </a:solidFill>
            <a:prstDash val="solid"/>
          </a:ln>
        </p:spPr>
      </p:sp>
      <p:sp>
        <p:nvSpPr>
          <p:cNvPr id="9" name="Shape 6"/>
          <p:cNvSpPr/>
          <p:nvPr/>
        </p:nvSpPr>
        <p:spPr>
          <a:xfrm>
            <a:off x="4895698" y="5623560"/>
            <a:ext cx="237744" cy="0"/>
          </a:xfrm>
          <a:prstGeom prst="line">
            <a:avLst/>
          </a:prstGeom>
          <a:noFill/>
          <a:ln w="25400">
            <a:solidFill>
              <a:schemeClr val="accent1"/>
            </a:solidFill>
            <a:prstDash val="solid"/>
          </a:ln>
        </p:spPr>
      </p:sp>
      <p:sp>
        <p:nvSpPr>
          <p:cNvPr id="10" name="Shape 7"/>
          <p:cNvSpPr/>
          <p:nvPr/>
        </p:nvSpPr>
        <p:spPr>
          <a:xfrm>
            <a:off x="4895698" y="5385816"/>
            <a:ext cx="0" cy="237744"/>
          </a:xfrm>
          <a:prstGeom prst="line">
            <a:avLst/>
          </a:prstGeom>
          <a:noFill/>
          <a:ln w="25400">
            <a:solidFill>
              <a:schemeClr val="accent1"/>
            </a:solidFill>
            <a:prstDash val="solid"/>
          </a:ln>
        </p:spPr>
      </p:sp>
      <p:sp>
        <p:nvSpPr>
          <p:cNvPr id="11" name="Shape 8"/>
          <p:cNvSpPr/>
          <p:nvPr/>
        </p:nvSpPr>
        <p:spPr>
          <a:xfrm>
            <a:off x="11494008" y="5623560"/>
            <a:ext cx="237744" cy="0"/>
          </a:xfrm>
          <a:prstGeom prst="line">
            <a:avLst/>
          </a:prstGeom>
          <a:noFill/>
          <a:ln w="25400">
            <a:solidFill>
              <a:schemeClr val="accent1"/>
            </a:solidFill>
            <a:prstDash val="solid"/>
          </a:ln>
        </p:spPr>
      </p:sp>
      <p:sp>
        <p:nvSpPr>
          <p:cNvPr id="12" name="Shape 9"/>
          <p:cNvSpPr/>
          <p:nvPr/>
        </p:nvSpPr>
        <p:spPr>
          <a:xfrm>
            <a:off x="11731752" y="5385816"/>
            <a:ext cx="0" cy="237744"/>
          </a:xfrm>
          <a:prstGeom prst="line">
            <a:avLst/>
          </a:prstGeom>
          <a:noFill/>
          <a:ln w="25400">
            <a:solidFill>
              <a:schemeClr val="accent1"/>
            </a:solidFill>
            <a:prstDash val="solid"/>
          </a:ln>
        </p:spPr>
      </p:sp>
      <p:sp>
        <p:nvSpPr>
          <p:cNvPr id="13" name="Text 10"/>
          <p:cNvSpPr txBox="1"/>
          <p:nvPr/>
        </p:nvSpPr>
        <p:spPr>
          <a:xfrm>
            <a:off x="548640" y="1280160"/>
            <a:ext cx="3657600" cy="2011680"/>
          </a:xfrm>
          <a:prstGeom prst="rect">
            <a:avLst/>
          </a:prstGeom>
          <a:noFill/>
          <a:ln/>
        </p:spPr>
        <p:txBody>
          <a:bodyPr wrap="square" lIns="0" tIns="0" rIns="0" bIns="0" rtlCol="0" anchor="t"/>
          <a:lstStyle/>
          <a:p>
            <a:pPr indent="0" marL="0">
              <a:buNone/>
            </a:pPr>
            <a:r>
              <a:rPr lang="en-US" sz="4000" b="1" dirty="0">
                <a:solidFill>
                  <a:schemeClr val="bg1"/>
                </a:solidFill>
                <a:latin typeface="Georgia" pitchFamily="34" charset="0"/>
                <a:ea typeface="Georgia" pitchFamily="34" charset="-122"/>
                <a:cs typeface="Georgia" pitchFamily="34" charset="-120"/>
              </a:rPr>
              <a:t>Foto oder Gemälde?</a:t>
            </a:r>
            <a:endParaRPr lang="en-US" sz="4000" dirty="0"/>
          </a:p>
        </p:txBody>
      </p:sp>
      <p:sp>
        <p:nvSpPr>
          <p:cNvPr id="14" name="Text 11"/>
          <p:cNvSpPr txBox="1"/>
          <p:nvPr/>
        </p:nvSpPr>
        <p:spPr>
          <a:xfrm>
            <a:off x="548640" y="3429000"/>
            <a:ext cx="3566160" cy="12801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Schaut genau hin: Woran würdet ihr den Unterschied erkennen?</a:t>
            </a:r>
            <a:endParaRPr lang="en-US" sz="1600" dirty="0"/>
          </a:p>
        </p:txBody>
      </p:sp>
      <p:sp>
        <p:nvSpPr>
          <p:cNvPr id="15" name="Text 12"/>
          <p:cNvSpPr txBox="1"/>
          <p:nvPr/>
        </p:nvSpPr>
        <p:spPr>
          <a:xfrm>
            <a:off x="4987138" y="5715000"/>
            <a:ext cx="6653174"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Ralph Goings,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Ralph's Diner</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(Ralphs Diner), 1981–82</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112 × 152 cm · Privatsammlung</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ÜBERBLICK</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Gliederung</a:t>
            </a:r>
            <a:endParaRPr lang="en-US" sz="3200" dirty="0"/>
          </a:p>
        </p:txBody>
      </p:sp>
      <p:sp>
        <p:nvSpPr>
          <p:cNvPr id="4" name="Shape 2"/>
          <p:cNvSpPr/>
          <p:nvPr/>
        </p:nvSpPr>
        <p:spPr>
          <a:xfrm>
            <a:off x="548640" y="1828800"/>
            <a:ext cx="3520440" cy="1874520"/>
          </a:xfrm>
          <a:prstGeom prst="rect">
            <a:avLst/>
          </a:prstGeom>
          <a:solidFill>
            <a:schemeClr val="tx2"/>
          </a:solidFill>
          <a:ln w="12700">
            <a:solidFill>
              <a:schemeClr val="tx2"/>
            </a:solidFill>
            <a:prstDash val="solid"/>
          </a:ln>
        </p:spPr>
      </p:sp>
      <p:sp>
        <p:nvSpPr>
          <p:cNvPr id="5" name="Text 3"/>
          <p:cNvSpPr txBox="1"/>
          <p:nvPr/>
        </p:nvSpPr>
        <p:spPr>
          <a:xfrm>
            <a:off x="822960"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01</a:t>
            </a:r>
            <a:endParaRPr lang="en-US" sz="3600" dirty="0"/>
          </a:p>
        </p:txBody>
      </p:sp>
      <p:sp>
        <p:nvSpPr>
          <p:cNvPr id="6" name="Text 4"/>
          <p:cNvSpPr txBox="1"/>
          <p:nvPr/>
        </p:nvSpPr>
        <p:spPr>
          <a:xfrm>
            <a:off x="822960"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Zeitliche Einordnung</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Entstehung und Entwicklung</a:t>
            </a:r>
            <a:endParaRPr lang="en-US" sz="1800" dirty="0"/>
          </a:p>
        </p:txBody>
      </p:sp>
      <p:sp>
        <p:nvSpPr>
          <p:cNvPr id="7" name="Shape 5"/>
          <p:cNvSpPr/>
          <p:nvPr/>
        </p:nvSpPr>
        <p:spPr>
          <a:xfrm>
            <a:off x="4335628" y="1828800"/>
            <a:ext cx="3520440" cy="1874520"/>
          </a:xfrm>
          <a:prstGeom prst="rect">
            <a:avLst/>
          </a:prstGeom>
          <a:solidFill>
            <a:schemeClr val="tx2"/>
          </a:solidFill>
          <a:ln w="12700">
            <a:solidFill>
              <a:schemeClr val="tx2"/>
            </a:solidFill>
            <a:prstDash val="solid"/>
          </a:ln>
        </p:spPr>
      </p:sp>
      <p:sp>
        <p:nvSpPr>
          <p:cNvPr id="8" name="Text 6"/>
          <p:cNvSpPr txBox="1"/>
          <p:nvPr/>
        </p:nvSpPr>
        <p:spPr>
          <a:xfrm>
            <a:off x="4609948"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02</a:t>
            </a:r>
            <a:endParaRPr lang="en-US" sz="3600" dirty="0"/>
          </a:p>
        </p:txBody>
      </p:sp>
      <p:sp>
        <p:nvSpPr>
          <p:cNvPr id="9" name="Text 7"/>
          <p:cNvSpPr txBox="1"/>
          <p:nvPr/>
        </p:nvSpPr>
        <p:spPr>
          <a:xfrm>
            <a:off x="4609948"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Merkmale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nachgewiesen an Bildbeispielen</a:t>
            </a:r>
            <a:endParaRPr lang="en-US" sz="1800" dirty="0"/>
          </a:p>
        </p:txBody>
      </p:sp>
      <p:sp>
        <p:nvSpPr>
          <p:cNvPr id="10" name="Shape 8"/>
          <p:cNvSpPr/>
          <p:nvPr/>
        </p:nvSpPr>
        <p:spPr>
          <a:xfrm>
            <a:off x="8122615" y="1828800"/>
            <a:ext cx="3520440" cy="1874520"/>
          </a:xfrm>
          <a:prstGeom prst="rect">
            <a:avLst/>
          </a:prstGeom>
          <a:solidFill>
            <a:schemeClr val="tx2"/>
          </a:solidFill>
          <a:ln w="12700">
            <a:solidFill>
              <a:schemeClr val="tx2"/>
            </a:solidFill>
            <a:prstDash val="solid"/>
          </a:ln>
        </p:spPr>
      </p:sp>
      <p:sp>
        <p:nvSpPr>
          <p:cNvPr id="11" name="Text 9"/>
          <p:cNvSpPr txBox="1"/>
          <p:nvPr/>
        </p:nvSpPr>
        <p:spPr>
          <a:xfrm>
            <a:off x="8396935" y="205740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03</a:t>
            </a:r>
            <a:endParaRPr lang="en-US" sz="3600" dirty="0"/>
          </a:p>
        </p:txBody>
      </p:sp>
      <p:sp>
        <p:nvSpPr>
          <p:cNvPr id="12" name="Text 10"/>
          <p:cNvSpPr txBox="1"/>
          <p:nvPr/>
        </p:nvSpPr>
        <p:spPr>
          <a:xfrm>
            <a:off x="8396935" y="274320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Motive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Was wird dargestellt?</a:t>
            </a:r>
            <a:endParaRPr lang="en-US" sz="1800" dirty="0"/>
          </a:p>
        </p:txBody>
      </p:sp>
      <p:sp>
        <p:nvSpPr>
          <p:cNvPr id="13" name="Shape 11"/>
          <p:cNvSpPr/>
          <p:nvPr/>
        </p:nvSpPr>
        <p:spPr>
          <a:xfrm>
            <a:off x="548640" y="4023360"/>
            <a:ext cx="3520440" cy="1874520"/>
          </a:xfrm>
          <a:prstGeom prst="rect">
            <a:avLst/>
          </a:prstGeom>
          <a:solidFill>
            <a:schemeClr val="tx2"/>
          </a:solidFill>
          <a:ln w="12700">
            <a:solidFill>
              <a:schemeClr val="tx2"/>
            </a:solidFill>
            <a:prstDash val="solid"/>
          </a:ln>
        </p:spPr>
      </p:sp>
      <p:sp>
        <p:nvSpPr>
          <p:cNvPr id="14" name="Text 12"/>
          <p:cNvSpPr txBox="1"/>
          <p:nvPr/>
        </p:nvSpPr>
        <p:spPr>
          <a:xfrm>
            <a:off x="822960"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04</a:t>
            </a:r>
            <a:endParaRPr lang="en-US" sz="3600" dirty="0"/>
          </a:p>
        </p:txBody>
      </p:sp>
      <p:sp>
        <p:nvSpPr>
          <p:cNvPr id="15" name="Text 13"/>
          <p:cNvSpPr txBox="1"/>
          <p:nvPr/>
        </p:nvSpPr>
        <p:spPr>
          <a:xfrm>
            <a:off x="822960"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Hauptvertreter</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Foto- und Hyperrealismus</a:t>
            </a:r>
            <a:endParaRPr lang="en-US" sz="1800" dirty="0"/>
          </a:p>
        </p:txBody>
      </p:sp>
      <p:sp>
        <p:nvSpPr>
          <p:cNvPr id="16" name="Shape 14"/>
          <p:cNvSpPr/>
          <p:nvPr/>
        </p:nvSpPr>
        <p:spPr>
          <a:xfrm>
            <a:off x="4335628" y="4023360"/>
            <a:ext cx="3520440" cy="1874520"/>
          </a:xfrm>
          <a:prstGeom prst="rect">
            <a:avLst/>
          </a:prstGeom>
          <a:solidFill>
            <a:schemeClr val="tx2"/>
          </a:solidFill>
          <a:ln w="12700">
            <a:solidFill>
              <a:schemeClr val="tx2"/>
            </a:solidFill>
            <a:prstDash val="solid"/>
          </a:ln>
        </p:spPr>
      </p:sp>
      <p:sp>
        <p:nvSpPr>
          <p:cNvPr id="17" name="Text 15"/>
          <p:cNvSpPr txBox="1"/>
          <p:nvPr/>
        </p:nvSpPr>
        <p:spPr>
          <a:xfrm>
            <a:off x="4609948"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05</a:t>
            </a:r>
            <a:endParaRPr lang="en-US" sz="3600" dirty="0"/>
          </a:p>
        </p:txBody>
      </p:sp>
      <p:sp>
        <p:nvSpPr>
          <p:cNvPr id="18" name="Text 16"/>
          <p:cNvSpPr txBox="1"/>
          <p:nvPr/>
        </p:nvSpPr>
        <p:spPr>
          <a:xfrm>
            <a:off x="4609948"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Werkbeispiele</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von 1966 bis heute</a:t>
            </a:r>
            <a:endParaRPr lang="en-US" sz="1800" dirty="0"/>
          </a:p>
        </p:txBody>
      </p:sp>
      <p:sp>
        <p:nvSpPr>
          <p:cNvPr id="19" name="Shape 17"/>
          <p:cNvSpPr/>
          <p:nvPr/>
        </p:nvSpPr>
        <p:spPr>
          <a:xfrm>
            <a:off x="8122615" y="4023360"/>
            <a:ext cx="3520440" cy="1874520"/>
          </a:xfrm>
          <a:prstGeom prst="rect">
            <a:avLst/>
          </a:prstGeom>
          <a:solidFill>
            <a:schemeClr val="tx2"/>
          </a:solidFill>
          <a:ln w="12700">
            <a:solidFill>
              <a:schemeClr val="tx2"/>
            </a:solidFill>
            <a:prstDash val="solid"/>
          </a:ln>
        </p:spPr>
      </p:sp>
      <p:sp>
        <p:nvSpPr>
          <p:cNvPr id="20" name="Text 18"/>
          <p:cNvSpPr txBox="1"/>
          <p:nvPr/>
        </p:nvSpPr>
        <p:spPr>
          <a:xfrm>
            <a:off x="8396935" y="4251960"/>
            <a:ext cx="1097280" cy="640080"/>
          </a:xfrm>
          <a:prstGeom prst="rect">
            <a:avLst/>
          </a:prstGeom>
          <a:noFill/>
          <a:ln/>
        </p:spPr>
        <p:txBody>
          <a:bodyPr wrap="square" lIns="0" tIns="0" rIns="0" bIns="0" rtlCol="0" anchor="ctr"/>
          <a:lstStyle/>
          <a:p>
            <a:pPr indent="0" marL="0">
              <a:buNone/>
            </a:pPr>
            <a:r>
              <a:rPr lang="en-US" sz="3600" b="1" dirty="0">
                <a:solidFill>
                  <a:schemeClr val="accent1"/>
                </a:solidFill>
                <a:latin typeface="Georgia" pitchFamily="34" charset="0"/>
                <a:ea typeface="Georgia" pitchFamily="34" charset="-122"/>
                <a:cs typeface="Georgia" pitchFamily="34" charset="-120"/>
              </a:rPr>
              <a:t>06</a:t>
            </a:r>
            <a:endParaRPr lang="en-US" sz="3600" dirty="0"/>
          </a:p>
        </p:txBody>
      </p:sp>
      <p:sp>
        <p:nvSpPr>
          <p:cNvPr id="21" name="Text 19"/>
          <p:cNvSpPr txBox="1"/>
          <p:nvPr/>
        </p:nvSpPr>
        <p:spPr>
          <a:xfrm>
            <a:off x="8396935" y="4937760"/>
            <a:ext cx="2971800" cy="822960"/>
          </a:xfrm>
          <a:prstGeom prst="rect">
            <a:avLst/>
          </a:prstGeom>
          <a:noFill/>
          <a:ln/>
        </p:spPr>
        <p:txBody>
          <a:bodyPr wrap="square" lIns="0" tIns="0" rIns="0" bIns="0" rtlCol="0" anchor="t"/>
          <a:lstStyle/>
          <a:p>
            <a:pPr indent="0" marL="0">
              <a:spcAft>
                <a:spcPts val="300"/>
              </a:spcAft>
              <a:buNone/>
            </a:pPr>
            <a:r>
              <a:rPr lang="en-US" sz="1800" b="1" dirty="0">
                <a:solidFill>
                  <a:schemeClr val="bg1"/>
                </a:solidFill>
                <a:latin typeface="Arial" pitchFamily="34" charset="0"/>
                <a:ea typeface="Arial" pitchFamily="34" charset="-122"/>
                <a:cs typeface="Arial" pitchFamily="34" charset="-120"/>
              </a:rPr>
              <a:t>Fazit</a:t>
            </a:r>
            <a:endParaRPr lang="en-US" sz="1800" dirty="0"/>
          </a:p>
          <a:p>
            <a:pPr indent="0" marL="0">
              <a:spcAft>
                <a:spcPts val="300"/>
              </a:spcAft>
              <a:buNone/>
            </a:pPr>
            <a:r>
              <a:rPr lang="en-US" sz="1500" dirty="0">
                <a:solidFill>
                  <a:schemeClr val="bg2"/>
                </a:solidFill>
                <a:latin typeface="Arial" pitchFamily="34" charset="0"/>
                <a:ea typeface="Arial" pitchFamily="34" charset="-122"/>
                <a:cs typeface="Arial" pitchFamily="34" charset="-120"/>
              </a:rPr>
              <a:t>Bedeutung, Kritik und Diskussion</a:t>
            </a:r>
            <a:endParaRPr lang="en-US" sz="18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01 · ZEITLICHE EINORDNUNG</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Entstanden Ende der 1960er-Jahre in den USA</a:t>
            </a:r>
            <a:endParaRPr lang="en-US" sz="3200" dirty="0"/>
          </a:p>
        </p:txBody>
      </p:sp>
      <p:sp>
        <p:nvSpPr>
          <p:cNvPr id="4" name="Shape 2"/>
          <p:cNvSpPr/>
          <p:nvPr/>
        </p:nvSpPr>
        <p:spPr>
          <a:xfrm>
            <a:off x="548640" y="3749040"/>
            <a:ext cx="11094415" cy="0"/>
          </a:xfrm>
          <a:prstGeom prst="line">
            <a:avLst/>
          </a:prstGeom>
          <a:noFill/>
          <a:ln w="25400">
            <a:solidFill>
              <a:schemeClr val="accent3"/>
            </a:solidFill>
            <a:prstDash val="solid"/>
          </a:ln>
        </p:spPr>
      </p:sp>
      <p:sp>
        <p:nvSpPr>
          <p:cNvPr id="5" name="Shape 3"/>
          <p:cNvSpPr/>
          <p:nvPr/>
        </p:nvSpPr>
        <p:spPr>
          <a:xfrm>
            <a:off x="676656" y="3648456"/>
            <a:ext cx="201168" cy="201168"/>
          </a:xfrm>
          <a:prstGeom prst="ellipse">
            <a:avLst/>
          </a:prstGeom>
          <a:solidFill>
            <a:schemeClr val="accent5"/>
          </a:solidFill>
          <a:ln w="25400">
            <a:solidFill>
              <a:schemeClr val="tx1"/>
            </a:solidFill>
            <a:prstDash val="solid"/>
          </a:ln>
        </p:spPr>
      </p:sp>
      <p:sp>
        <p:nvSpPr>
          <p:cNvPr id="6" name="Shape 4"/>
          <p:cNvSpPr/>
          <p:nvPr/>
        </p:nvSpPr>
        <p:spPr>
          <a:xfrm>
            <a:off x="777240" y="3291840"/>
            <a:ext cx="0" cy="320040"/>
          </a:xfrm>
          <a:prstGeom prst="line">
            <a:avLst/>
          </a:prstGeom>
          <a:noFill/>
          <a:ln w="12700">
            <a:solidFill>
              <a:schemeClr val="accent5"/>
            </a:solidFill>
            <a:prstDash val="solid"/>
          </a:ln>
        </p:spPr>
      </p:sp>
      <p:sp>
        <p:nvSpPr>
          <p:cNvPr id="7" name="Text 5"/>
          <p:cNvSpPr txBox="1"/>
          <p:nvPr/>
        </p:nvSpPr>
        <p:spPr>
          <a:xfrm>
            <a:off x="77724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5"/>
                </a:solidFill>
                <a:latin typeface="Georgia" pitchFamily="34" charset="0"/>
                <a:ea typeface="Georgia" pitchFamily="34" charset="-122"/>
                <a:cs typeface="Georgia" pitchFamily="34" charset="-120"/>
              </a:rPr>
              <a:t>1960er</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Pop Art holt Werbung, Konsum und Medienbilder in die Kunst.</a:t>
            </a:r>
            <a:endParaRPr lang="en-US" sz="2200" dirty="0"/>
          </a:p>
        </p:txBody>
      </p:sp>
      <p:sp>
        <p:nvSpPr>
          <p:cNvPr id="8" name="Shape 6"/>
          <p:cNvSpPr/>
          <p:nvPr/>
        </p:nvSpPr>
        <p:spPr>
          <a:xfrm>
            <a:off x="2093976" y="3648456"/>
            <a:ext cx="201168" cy="201168"/>
          </a:xfrm>
          <a:prstGeom prst="ellipse">
            <a:avLst/>
          </a:prstGeom>
          <a:solidFill>
            <a:schemeClr val="accent1"/>
          </a:solidFill>
          <a:ln w="25400">
            <a:solidFill>
              <a:schemeClr val="tx1"/>
            </a:solidFill>
            <a:prstDash val="solid"/>
          </a:ln>
        </p:spPr>
      </p:sp>
      <p:sp>
        <p:nvSpPr>
          <p:cNvPr id="9" name="Shape 7"/>
          <p:cNvSpPr/>
          <p:nvPr/>
        </p:nvSpPr>
        <p:spPr>
          <a:xfrm>
            <a:off x="2194560" y="3886200"/>
            <a:ext cx="0" cy="320040"/>
          </a:xfrm>
          <a:prstGeom prst="line">
            <a:avLst/>
          </a:prstGeom>
          <a:noFill/>
          <a:ln w="12700">
            <a:solidFill>
              <a:schemeClr val="accent1"/>
            </a:solidFill>
            <a:prstDash val="solid"/>
          </a:ln>
        </p:spPr>
      </p:sp>
      <p:sp>
        <p:nvSpPr>
          <p:cNvPr id="10" name="Text 8"/>
          <p:cNvSpPr txBox="1"/>
          <p:nvPr/>
        </p:nvSpPr>
        <p:spPr>
          <a:xfrm>
            <a:off x="219456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1966</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Malcolm Morley malt ein Schiff nach einer Postkarte – ein frühes Schlüsselwerk.</a:t>
            </a:r>
            <a:endParaRPr lang="en-US" sz="2200" dirty="0"/>
          </a:p>
        </p:txBody>
      </p:sp>
      <p:sp>
        <p:nvSpPr>
          <p:cNvPr id="11" name="Shape 9"/>
          <p:cNvSpPr/>
          <p:nvPr/>
        </p:nvSpPr>
        <p:spPr>
          <a:xfrm>
            <a:off x="3511296" y="3648456"/>
            <a:ext cx="201168" cy="201168"/>
          </a:xfrm>
          <a:prstGeom prst="ellipse">
            <a:avLst/>
          </a:prstGeom>
          <a:solidFill>
            <a:schemeClr val="accent1"/>
          </a:solidFill>
          <a:ln w="25400">
            <a:solidFill>
              <a:schemeClr val="tx1"/>
            </a:solidFill>
            <a:prstDash val="solid"/>
          </a:ln>
        </p:spPr>
      </p:sp>
      <p:sp>
        <p:nvSpPr>
          <p:cNvPr id="12" name="Shape 10"/>
          <p:cNvSpPr/>
          <p:nvPr/>
        </p:nvSpPr>
        <p:spPr>
          <a:xfrm>
            <a:off x="3611880" y="3291840"/>
            <a:ext cx="0" cy="320040"/>
          </a:xfrm>
          <a:prstGeom prst="line">
            <a:avLst/>
          </a:prstGeom>
          <a:noFill/>
          <a:ln w="12700">
            <a:solidFill>
              <a:schemeClr val="accent1"/>
            </a:solidFill>
            <a:prstDash val="solid"/>
          </a:ln>
        </p:spPr>
      </p:sp>
      <p:sp>
        <p:nvSpPr>
          <p:cNvPr id="13" name="Text 11"/>
          <p:cNvSpPr txBox="1"/>
          <p:nvPr/>
        </p:nvSpPr>
        <p:spPr>
          <a:xfrm>
            <a:off x="361188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1969</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Galerist Louis K. Meisel prägt den Begriff „Photo-Realism“.</a:t>
            </a:r>
            <a:endParaRPr lang="en-US" sz="2200" dirty="0"/>
          </a:p>
        </p:txBody>
      </p:sp>
      <p:sp>
        <p:nvSpPr>
          <p:cNvPr id="14" name="Shape 12"/>
          <p:cNvSpPr/>
          <p:nvPr/>
        </p:nvSpPr>
        <p:spPr>
          <a:xfrm>
            <a:off x="4928616" y="3648456"/>
            <a:ext cx="201168" cy="201168"/>
          </a:xfrm>
          <a:prstGeom prst="ellipse">
            <a:avLst/>
          </a:prstGeom>
          <a:solidFill>
            <a:schemeClr val="accent1"/>
          </a:solidFill>
          <a:ln w="25400">
            <a:solidFill>
              <a:schemeClr val="tx1"/>
            </a:solidFill>
            <a:prstDash val="solid"/>
          </a:ln>
        </p:spPr>
      </p:sp>
      <p:sp>
        <p:nvSpPr>
          <p:cNvPr id="15" name="Shape 13"/>
          <p:cNvSpPr/>
          <p:nvPr/>
        </p:nvSpPr>
        <p:spPr>
          <a:xfrm>
            <a:off x="5029200" y="3886200"/>
            <a:ext cx="0" cy="320040"/>
          </a:xfrm>
          <a:prstGeom prst="line">
            <a:avLst/>
          </a:prstGeom>
          <a:noFill/>
          <a:ln w="12700">
            <a:solidFill>
              <a:schemeClr val="accent1"/>
            </a:solidFill>
            <a:prstDash val="solid"/>
          </a:ln>
        </p:spPr>
      </p:sp>
      <p:sp>
        <p:nvSpPr>
          <p:cNvPr id="16" name="Text 14"/>
          <p:cNvSpPr txBox="1"/>
          <p:nvPr/>
        </p:nvSpPr>
        <p:spPr>
          <a:xfrm>
            <a:off x="502920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1972</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documenta 5 in Kassel: Durchbruch in Europa.</a:t>
            </a:r>
            <a:endParaRPr lang="en-US" sz="2200" dirty="0"/>
          </a:p>
        </p:txBody>
      </p:sp>
      <p:sp>
        <p:nvSpPr>
          <p:cNvPr id="17" name="Shape 15"/>
          <p:cNvSpPr/>
          <p:nvPr/>
        </p:nvSpPr>
        <p:spPr>
          <a:xfrm>
            <a:off x="6345936" y="3648456"/>
            <a:ext cx="201168" cy="201168"/>
          </a:xfrm>
          <a:prstGeom prst="ellipse">
            <a:avLst/>
          </a:prstGeom>
          <a:solidFill>
            <a:schemeClr val="accent2"/>
          </a:solidFill>
          <a:ln w="25400">
            <a:solidFill>
              <a:schemeClr val="tx1"/>
            </a:solidFill>
            <a:prstDash val="solid"/>
          </a:ln>
        </p:spPr>
      </p:sp>
      <p:sp>
        <p:nvSpPr>
          <p:cNvPr id="18" name="Shape 16"/>
          <p:cNvSpPr/>
          <p:nvPr/>
        </p:nvSpPr>
        <p:spPr>
          <a:xfrm>
            <a:off x="6446520" y="3291840"/>
            <a:ext cx="0" cy="320040"/>
          </a:xfrm>
          <a:prstGeom prst="line">
            <a:avLst/>
          </a:prstGeom>
          <a:noFill/>
          <a:ln w="12700">
            <a:solidFill>
              <a:schemeClr val="accent2"/>
            </a:solidFill>
            <a:prstDash val="solid"/>
          </a:ln>
        </p:spPr>
      </p:sp>
      <p:sp>
        <p:nvSpPr>
          <p:cNvPr id="19" name="Text 17"/>
          <p:cNvSpPr txBox="1"/>
          <p:nvPr/>
        </p:nvSpPr>
        <p:spPr>
          <a:xfrm>
            <a:off x="644652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2"/>
                </a:solidFill>
                <a:latin typeface="Georgia" pitchFamily="34" charset="0"/>
                <a:ea typeface="Georgia" pitchFamily="34" charset="-122"/>
                <a:cs typeface="Georgia" pitchFamily="34" charset="-120"/>
              </a:rPr>
              <a:t>1973</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Ausstellung in Brüssel (Galerie Isy Brachot) prägt „Hyperrealismus“.</a:t>
            </a:r>
            <a:endParaRPr lang="en-US" sz="2200" dirty="0"/>
          </a:p>
        </p:txBody>
      </p:sp>
      <p:sp>
        <p:nvSpPr>
          <p:cNvPr id="20" name="Shape 18"/>
          <p:cNvSpPr/>
          <p:nvPr/>
        </p:nvSpPr>
        <p:spPr>
          <a:xfrm>
            <a:off x="7763256" y="3648456"/>
            <a:ext cx="201168" cy="201168"/>
          </a:xfrm>
          <a:prstGeom prst="ellipse">
            <a:avLst/>
          </a:prstGeom>
          <a:solidFill>
            <a:schemeClr val="accent1"/>
          </a:solidFill>
          <a:ln w="25400">
            <a:solidFill>
              <a:schemeClr val="tx1"/>
            </a:solidFill>
            <a:prstDash val="solid"/>
          </a:ln>
        </p:spPr>
      </p:sp>
      <p:sp>
        <p:nvSpPr>
          <p:cNvPr id="21" name="Shape 19"/>
          <p:cNvSpPr/>
          <p:nvPr/>
        </p:nvSpPr>
        <p:spPr>
          <a:xfrm>
            <a:off x="7863840" y="3886200"/>
            <a:ext cx="0" cy="320040"/>
          </a:xfrm>
          <a:prstGeom prst="line">
            <a:avLst/>
          </a:prstGeom>
          <a:noFill/>
          <a:ln w="12700">
            <a:solidFill>
              <a:schemeClr val="accent1"/>
            </a:solidFill>
            <a:prstDash val="solid"/>
          </a:ln>
        </p:spPr>
      </p:sp>
      <p:sp>
        <p:nvSpPr>
          <p:cNvPr id="22" name="Text 20"/>
          <p:cNvSpPr txBox="1"/>
          <p:nvPr/>
        </p:nvSpPr>
        <p:spPr>
          <a:xfrm>
            <a:off x="7863840" y="4297680"/>
            <a:ext cx="2606040" cy="1463040"/>
          </a:xfrm>
          <a:prstGeom prst="rect">
            <a:avLst/>
          </a:prstGeom>
          <a:noFill/>
          <a:ln/>
        </p:spPr>
        <p:txBody>
          <a:bodyPr wrap="square" lIns="0" tIns="0" rIns="0" bIns="0" rtlCol="0" anchor="t"/>
          <a:lstStyle/>
          <a:p>
            <a:pPr indent="0" marL="0">
              <a:spcAft>
                <a:spcPts val="200"/>
              </a:spcAft>
              <a:buNone/>
            </a:pPr>
            <a:r>
              <a:rPr lang="en-US" sz="2200" b="1" dirty="0">
                <a:solidFill>
                  <a:schemeClr val="accent1"/>
                </a:solidFill>
                <a:latin typeface="Georgia" pitchFamily="34" charset="0"/>
                <a:ea typeface="Georgia" pitchFamily="34" charset="-122"/>
                <a:cs typeface="Georgia" pitchFamily="34" charset="-120"/>
              </a:rPr>
              <a:t>1980</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Meisels Buch „Photorealism“ legt fünf Kriterien fest.</a:t>
            </a:r>
            <a:endParaRPr lang="en-US" sz="2200" dirty="0"/>
          </a:p>
        </p:txBody>
      </p:sp>
      <p:sp>
        <p:nvSpPr>
          <p:cNvPr id="23" name="Shape 21"/>
          <p:cNvSpPr/>
          <p:nvPr/>
        </p:nvSpPr>
        <p:spPr>
          <a:xfrm>
            <a:off x="9180576" y="3648456"/>
            <a:ext cx="201168" cy="201168"/>
          </a:xfrm>
          <a:prstGeom prst="ellipse">
            <a:avLst/>
          </a:prstGeom>
          <a:solidFill>
            <a:schemeClr val="accent2"/>
          </a:solidFill>
          <a:ln w="25400">
            <a:solidFill>
              <a:schemeClr val="tx1"/>
            </a:solidFill>
            <a:prstDash val="solid"/>
          </a:ln>
        </p:spPr>
      </p:sp>
      <p:sp>
        <p:nvSpPr>
          <p:cNvPr id="24" name="Shape 22"/>
          <p:cNvSpPr/>
          <p:nvPr/>
        </p:nvSpPr>
        <p:spPr>
          <a:xfrm>
            <a:off x="9281160" y="3291840"/>
            <a:ext cx="0" cy="320040"/>
          </a:xfrm>
          <a:prstGeom prst="line">
            <a:avLst/>
          </a:prstGeom>
          <a:noFill/>
          <a:ln w="12700">
            <a:solidFill>
              <a:schemeClr val="accent2"/>
            </a:solidFill>
            <a:prstDash val="solid"/>
          </a:ln>
        </p:spPr>
      </p:sp>
      <p:sp>
        <p:nvSpPr>
          <p:cNvPr id="25" name="Text 23"/>
          <p:cNvSpPr txBox="1"/>
          <p:nvPr/>
        </p:nvSpPr>
        <p:spPr>
          <a:xfrm>
            <a:off x="9281160" y="1783080"/>
            <a:ext cx="2606040" cy="1463040"/>
          </a:xfrm>
          <a:prstGeom prst="rect">
            <a:avLst/>
          </a:prstGeom>
          <a:noFill/>
          <a:ln/>
        </p:spPr>
        <p:txBody>
          <a:bodyPr wrap="square" lIns="0" tIns="0" rIns="0" bIns="0" rtlCol="0" anchor="b"/>
          <a:lstStyle/>
          <a:p>
            <a:pPr indent="0" marL="0">
              <a:spcAft>
                <a:spcPts val="200"/>
              </a:spcAft>
              <a:buNone/>
            </a:pPr>
            <a:r>
              <a:rPr lang="en-US" sz="2200" b="1" dirty="0">
                <a:solidFill>
                  <a:schemeClr val="accent2"/>
                </a:solidFill>
                <a:latin typeface="Georgia" pitchFamily="34" charset="0"/>
                <a:ea typeface="Georgia" pitchFamily="34" charset="-122"/>
                <a:cs typeface="Georgia" pitchFamily="34" charset="-120"/>
              </a:rPr>
              <a:t>ab 2000</a:t>
            </a:r>
            <a:endParaRPr lang="en-US" sz="2200" dirty="0"/>
          </a:p>
          <a:p>
            <a:pPr indent="0" marL="0">
              <a:spcAft>
                <a:spcPts val="200"/>
              </a:spcAft>
              <a:buNone/>
            </a:pPr>
            <a:r>
              <a:rPr lang="en-US" sz="1300" dirty="0">
                <a:solidFill>
                  <a:schemeClr val="bg1"/>
                </a:solidFill>
                <a:latin typeface="Arial" pitchFamily="34" charset="0"/>
                <a:ea typeface="Arial" pitchFamily="34" charset="-122"/>
                <a:cs typeface="Arial" pitchFamily="34" charset="-120"/>
              </a:rPr>
              <a:t>Hyperrealismus boomt: Digitalfotos, Skulpturen aus Silikon.</a:t>
            </a:r>
            <a:endParaRPr lang="en-US" sz="2200" dirty="0"/>
          </a:p>
        </p:txBody>
      </p:sp>
      <p:sp>
        <p:nvSpPr>
          <p:cNvPr id="26" name="Shape 24"/>
          <p:cNvSpPr/>
          <p:nvPr/>
        </p:nvSpPr>
        <p:spPr>
          <a:xfrm>
            <a:off x="548640" y="6446520"/>
            <a:ext cx="146304" cy="146304"/>
          </a:xfrm>
          <a:prstGeom prst="ellipse">
            <a:avLst/>
          </a:prstGeom>
          <a:solidFill>
            <a:schemeClr val="accent5"/>
          </a:solidFill>
          <a:ln w="12700">
            <a:solidFill>
              <a:schemeClr val="accent5"/>
            </a:solidFill>
            <a:prstDash val="solid"/>
          </a:ln>
        </p:spPr>
      </p:sp>
      <p:sp>
        <p:nvSpPr>
          <p:cNvPr id="27" name="Text 25"/>
          <p:cNvSpPr txBox="1"/>
          <p:nvPr/>
        </p:nvSpPr>
        <p:spPr>
          <a:xfrm>
            <a:off x="77724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Kontext</a:t>
            </a:r>
            <a:endParaRPr lang="en-US" sz="1100" dirty="0"/>
          </a:p>
        </p:txBody>
      </p:sp>
      <p:sp>
        <p:nvSpPr>
          <p:cNvPr id="28" name="Shape 26"/>
          <p:cNvSpPr/>
          <p:nvPr/>
        </p:nvSpPr>
        <p:spPr>
          <a:xfrm>
            <a:off x="2651760" y="6446520"/>
            <a:ext cx="146304" cy="146304"/>
          </a:xfrm>
          <a:prstGeom prst="ellipse">
            <a:avLst/>
          </a:prstGeom>
          <a:solidFill>
            <a:schemeClr val="accent1"/>
          </a:solidFill>
          <a:ln w="12700">
            <a:solidFill>
              <a:schemeClr val="accent1"/>
            </a:solidFill>
            <a:prstDash val="solid"/>
          </a:ln>
        </p:spPr>
      </p:sp>
      <p:sp>
        <p:nvSpPr>
          <p:cNvPr id="29" name="Text 27"/>
          <p:cNvSpPr txBox="1"/>
          <p:nvPr/>
        </p:nvSpPr>
        <p:spPr>
          <a:xfrm>
            <a:off x="288036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Fotorealismus</a:t>
            </a:r>
            <a:endParaRPr lang="en-US" sz="1100" dirty="0"/>
          </a:p>
        </p:txBody>
      </p:sp>
      <p:sp>
        <p:nvSpPr>
          <p:cNvPr id="30" name="Shape 28"/>
          <p:cNvSpPr/>
          <p:nvPr/>
        </p:nvSpPr>
        <p:spPr>
          <a:xfrm>
            <a:off x="4754880" y="6446520"/>
            <a:ext cx="146304" cy="146304"/>
          </a:xfrm>
          <a:prstGeom prst="ellipse">
            <a:avLst/>
          </a:prstGeom>
          <a:solidFill>
            <a:schemeClr val="accent2"/>
          </a:solidFill>
          <a:ln w="12700">
            <a:solidFill>
              <a:schemeClr val="accent2"/>
            </a:solidFill>
            <a:prstDash val="solid"/>
          </a:ln>
        </p:spPr>
      </p:sp>
      <p:sp>
        <p:nvSpPr>
          <p:cNvPr id="31" name="Text 29"/>
          <p:cNvSpPr txBox="1"/>
          <p:nvPr/>
        </p:nvSpPr>
        <p:spPr>
          <a:xfrm>
            <a:off x="4983480" y="6382512"/>
            <a:ext cx="1828800" cy="274320"/>
          </a:xfrm>
          <a:prstGeom prst="rect">
            <a:avLst/>
          </a:prstGeom>
          <a:noFill/>
          <a:ln/>
        </p:spPr>
        <p:txBody>
          <a:bodyPr wrap="square" lIns="0" tIns="0" rIns="0" bIns="0" rtlCol="0" anchor="ctr"/>
          <a:lstStyle/>
          <a:p>
            <a:pPr indent="0" marL="0">
              <a:buNone/>
            </a:pPr>
            <a:r>
              <a:rPr lang="en-US" sz="1100" dirty="0">
                <a:solidFill>
                  <a:schemeClr val="bg2"/>
                </a:solidFill>
                <a:latin typeface="Arial" pitchFamily="34" charset="0"/>
                <a:ea typeface="Arial" pitchFamily="34" charset="-122"/>
                <a:cs typeface="Arial" pitchFamily="34" charset="-120"/>
              </a:rPr>
              <a:t>Hyperrealismus</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01 · ENTWICKLUNG</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Vom Fotorealismus zum Hyperrealismus</a:t>
            </a:r>
            <a:endParaRPr lang="en-US" sz="3200" dirty="0"/>
          </a:p>
        </p:txBody>
      </p:sp>
      <p:sp>
        <p:nvSpPr>
          <p:cNvPr id="4" name="Text 2"/>
          <p:cNvSpPr txBox="1"/>
          <p:nvPr/>
        </p:nvSpPr>
        <p:spPr>
          <a:xfrm>
            <a:off x="2788920" y="1737360"/>
            <a:ext cx="4084168" cy="685800"/>
          </a:xfrm>
          <a:prstGeom prst="rect">
            <a:avLst/>
          </a:prstGeom>
          <a:noFill/>
          <a:ln/>
        </p:spPr>
        <p:txBody>
          <a:bodyPr wrap="square" lIns="0" tIns="0" rIns="0" bIns="0" rtlCol="0" anchor="t"/>
          <a:lstStyle/>
          <a:p>
            <a:pPr indent="0" marL="0">
              <a:buNone/>
            </a:pPr>
            <a:r>
              <a:rPr lang="en-US" sz="2200" b="1" dirty="0">
                <a:solidFill>
                  <a:schemeClr val="accent1"/>
                </a:solidFill>
                <a:latin typeface="Georgia" pitchFamily="34" charset="0"/>
                <a:ea typeface="Georgia" pitchFamily="34" charset="-122"/>
                <a:cs typeface="Georgia" pitchFamily="34" charset="-120"/>
              </a:rPr>
              <a:t>Fotorealismus</a:t>
            </a:r>
            <a:endParaRPr lang="en-US" sz="2200" dirty="0"/>
          </a:p>
          <a:p>
            <a:pPr indent="0" marL="0">
              <a:buNone/>
            </a:pPr>
            <a:r>
              <a:rPr lang="en-US" sz="1300" dirty="0">
                <a:solidFill>
                  <a:schemeClr val="bg2"/>
                </a:solidFill>
                <a:latin typeface="Arial" pitchFamily="34" charset="0"/>
                <a:ea typeface="Arial" pitchFamily="34" charset="-122"/>
                <a:cs typeface="Arial" pitchFamily="34" charset="-120"/>
              </a:rPr>
              <a:t>ca. 1966–1980 · zuerst USA, dann Europa</a:t>
            </a:r>
            <a:endParaRPr lang="en-US" sz="2200" dirty="0"/>
          </a:p>
        </p:txBody>
      </p:sp>
      <p:sp>
        <p:nvSpPr>
          <p:cNvPr id="5" name="Text 3"/>
          <p:cNvSpPr txBox="1"/>
          <p:nvPr/>
        </p:nvSpPr>
        <p:spPr>
          <a:xfrm>
            <a:off x="7376008" y="1737360"/>
            <a:ext cx="4084168" cy="685800"/>
          </a:xfrm>
          <a:prstGeom prst="rect">
            <a:avLst/>
          </a:prstGeom>
          <a:noFill/>
          <a:ln/>
        </p:spPr>
        <p:txBody>
          <a:bodyPr wrap="square" lIns="0" tIns="0" rIns="0" bIns="0" rtlCol="0" anchor="t"/>
          <a:lstStyle/>
          <a:p>
            <a:pPr indent="0" marL="0">
              <a:buNone/>
            </a:pPr>
            <a:r>
              <a:rPr lang="en-US" sz="2200" b="1" dirty="0">
                <a:solidFill>
                  <a:schemeClr val="accent2"/>
                </a:solidFill>
                <a:latin typeface="Georgia" pitchFamily="34" charset="0"/>
                <a:ea typeface="Georgia" pitchFamily="34" charset="-122"/>
                <a:cs typeface="Georgia" pitchFamily="34" charset="-120"/>
              </a:rPr>
              <a:t>Hyperrealismus</a:t>
            </a:r>
            <a:endParaRPr lang="en-US" sz="2200" dirty="0"/>
          </a:p>
          <a:p>
            <a:pPr indent="0" marL="0">
              <a:buNone/>
            </a:pPr>
            <a:r>
              <a:rPr lang="en-US" sz="1300" dirty="0">
                <a:solidFill>
                  <a:schemeClr val="bg2"/>
                </a:solidFill>
                <a:latin typeface="Arial" pitchFamily="34" charset="0"/>
                <a:ea typeface="Arial" pitchFamily="34" charset="-122"/>
                <a:cs typeface="Arial" pitchFamily="34" charset="-120"/>
              </a:rPr>
              <a:t>Begriff seit 1973 · Blüte seit ca. 2000 · weltweit</a:t>
            </a:r>
            <a:endParaRPr lang="en-US" sz="2200" dirty="0"/>
          </a:p>
        </p:txBody>
      </p:sp>
      <p:pic>
        <p:nvPicPr>
          <p:cNvPr id="6" name="Image 0" descr="Pfeil: Entwicklung">    </p:cNvPr>
          <p:cNvPicPr>
            <a:picLocks noChangeAspect="1"/>
          </p:cNvPicPr>
          <p:nvPr/>
        </p:nvPicPr>
        <p:blipFill>
          <a:blip r:embed="rId1"/>
          <a:stretch>
            <a:fillRect/>
          </a:stretch>
        </p:blipFill>
        <p:spPr>
          <a:xfrm>
            <a:off x="6918808" y="1847088"/>
            <a:ext cx="384048" cy="384048"/>
          </a:xfrm>
          <a:prstGeom prst="rect">
            <a:avLst/>
          </a:prstGeom>
        </p:spPr>
      </p:pic>
      <p:sp>
        <p:nvSpPr>
          <p:cNvPr id="7" name="Text 4"/>
          <p:cNvSpPr txBox="1"/>
          <p:nvPr/>
        </p:nvSpPr>
        <p:spPr>
          <a:xfrm>
            <a:off x="548640" y="2606040"/>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Haltung</a:t>
            </a:r>
            <a:endParaRPr lang="en-US" sz="1400" dirty="0"/>
          </a:p>
        </p:txBody>
      </p:sp>
      <p:sp>
        <p:nvSpPr>
          <p:cNvPr id="8" name="Shape 5"/>
          <p:cNvSpPr/>
          <p:nvPr/>
        </p:nvSpPr>
        <p:spPr>
          <a:xfrm>
            <a:off x="2606040" y="2606040"/>
            <a:ext cx="4449928" cy="804672"/>
          </a:xfrm>
          <a:prstGeom prst="rect">
            <a:avLst/>
          </a:prstGeom>
          <a:solidFill>
            <a:schemeClr val="tx2"/>
          </a:solidFill>
          <a:ln w="12700">
            <a:solidFill>
              <a:schemeClr val="tx2"/>
            </a:solidFill>
            <a:prstDash val="solid"/>
          </a:ln>
        </p:spPr>
      </p:sp>
      <p:sp>
        <p:nvSpPr>
          <p:cNvPr id="9" name="Text 6"/>
          <p:cNvSpPr txBox="1"/>
          <p:nvPr/>
        </p:nvSpPr>
        <p:spPr>
          <a:xfrm>
            <a:off x="2788920" y="2606040"/>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kühl, neutral, dokumentarisch – ohne Wertung</a:t>
            </a:r>
            <a:endParaRPr lang="en-US" sz="1400" dirty="0"/>
          </a:p>
        </p:txBody>
      </p:sp>
      <p:sp>
        <p:nvSpPr>
          <p:cNvPr id="10" name="Shape 7"/>
          <p:cNvSpPr/>
          <p:nvPr/>
        </p:nvSpPr>
        <p:spPr>
          <a:xfrm>
            <a:off x="7193128" y="2606040"/>
            <a:ext cx="4449928" cy="804672"/>
          </a:xfrm>
          <a:prstGeom prst="rect">
            <a:avLst/>
          </a:prstGeom>
          <a:solidFill>
            <a:schemeClr val="tx2"/>
          </a:solidFill>
          <a:ln w="12700">
            <a:solidFill>
              <a:schemeClr val="tx2"/>
            </a:solidFill>
            <a:prstDash val="solid"/>
          </a:ln>
        </p:spPr>
      </p:sp>
      <p:sp>
        <p:nvSpPr>
          <p:cNvPr id="11" name="Text 8"/>
          <p:cNvSpPr txBox="1"/>
          <p:nvPr/>
        </p:nvSpPr>
        <p:spPr>
          <a:xfrm>
            <a:off x="7376008" y="2606040"/>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emotional, erzählerisch, oft gesellschaftskritisch</a:t>
            </a:r>
            <a:endParaRPr lang="en-US" sz="1400" dirty="0"/>
          </a:p>
        </p:txBody>
      </p:sp>
      <p:sp>
        <p:nvSpPr>
          <p:cNvPr id="12" name="Text 9"/>
          <p:cNvSpPr txBox="1"/>
          <p:nvPr/>
        </p:nvSpPr>
        <p:spPr>
          <a:xfrm>
            <a:off x="548640" y="3502152"/>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Umgang mit dem Foto</a:t>
            </a:r>
            <a:endParaRPr lang="en-US" sz="1400" dirty="0"/>
          </a:p>
        </p:txBody>
      </p:sp>
      <p:sp>
        <p:nvSpPr>
          <p:cNvPr id="13" name="Shape 10"/>
          <p:cNvSpPr/>
          <p:nvPr/>
        </p:nvSpPr>
        <p:spPr>
          <a:xfrm>
            <a:off x="2606040" y="3502152"/>
            <a:ext cx="4449928" cy="804672"/>
          </a:xfrm>
          <a:prstGeom prst="rect">
            <a:avLst/>
          </a:prstGeom>
          <a:solidFill>
            <a:schemeClr val="tx2"/>
          </a:solidFill>
          <a:ln w="12700">
            <a:solidFill>
              <a:schemeClr val="tx2"/>
            </a:solidFill>
            <a:prstDash val="solid"/>
          </a:ln>
        </p:spPr>
      </p:sp>
      <p:sp>
        <p:nvSpPr>
          <p:cNvPr id="14" name="Text 11"/>
          <p:cNvSpPr txBox="1"/>
          <p:nvPr/>
        </p:nvSpPr>
        <p:spPr>
          <a:xfrm>
            <a:off x="2788920" y="3502152"/>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überträgt das Foto genau – samt Unschärfe und Spiegelungen</a:t>
            </a:r>
            <a:endParaRPr lang="en-US" sz="1400" dirty="0"/>
          </a:p>
        </p:txBody>
      </p:sp>
      <p:sp>
        <p:nvSpPr>
          <p:cNvPr id="15" name="Shape 12"/>
          <p:cNvSpPr/>
          <p:nvPr/>
        </p:nvSpPr>
        <p:spPr>
          <a:xfrm>
            <a:off x="7193128" y="3502152"/>
            <a:ext cx="4449928" cy="804672"/>
          </a:xfrm>
          <a:prstGeom prst="rect">
            <a:avLst/>
          </a:prstGeom>
          <a:solidFill>
            <a:schemeClr val="tx2"/>
          </a:solidFill>
          <a:ln w="12700">
            <a:solidFill>
              <a:schemeClr val="tx2"/>
            </a:solidFill>
            <a:prstDash val="solid"/>
          </a:ln>
        </p:spPr>
      </p:sp>
      <p:sp>
        <p:nvSpPr>
          <p:cNvPr id="16" name="Text 13"/>
          <p:cNvSpPr txBox="1"/>
          <p:nvPr/>
        </p:nvSpPr>
        <p:spPr>
          <a:xfrm>
            <a:off x="7376008" y="3502152"/>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übertrifft das Foto: noch schärfer, größer, detailreicher</a:t>
            </a:r>
            <a:endParaRPr lang="en-US" sz="1400" dirty="0"/>
          </a:p>
        </p:txBody>
      </p:sp>
      <p:sp>
        <p:nvSpPr>
          <p:cNvPr id="17" name="Text 14"/>
          <p:cNvSpPr txBox="1"/>
          <p:nvPr/>
        </p:nvSpPr>
        <p:spPr>
          <a:xfrm>
            <a:off x="548640" y="4398264"/>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Medien</a:t>
            </a:r>
            <a:endParaRPr lang="en-US" sz="1400" dirty="0"/>
          </a:p>
        </p:txBody>
      </p:sp>
      <p:sp>
        <p:nvSpPr>
          <p:cNvPr id="18" name="Shape 15"/>
          <p:cNvSpPr/>
          <p:nvPr/>
        </p:nvSpPr>
        <p:spPr>
          <a:xfrm>
            <a:off x="2606040" y="4398264"/>
            <a:ext cx="4449928" cy="804672"/>
          </a:xfrm>
          <a:prstGeom prst="rect">
            <a:avLst/>
          </a:prstGeom>
          <a:solidFill>
            <a:schemeClr val="tx2"/>
          </a:solidFill>
          <a:ln w="12700">
            <a:solidFill>
              <a:schemeClr val="tx2"/>
            </a:solidFill>
            <a:prstDash val="solid"/>
          </a:ln>
        </p:spPr>
      </p:sp>
      <p:sp>
        <p:nvSpPr>
          <p:cNvPr id="19" name="Text 16"/>
          <p:cNvSpPr txBox="1"/>
          <p:nvPr/>
        </p:nvSpPr>
        <p:spPr>
          <a:xfrm>
            <a:off x="2788920" y="4398264"/>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vor allem Malerei (Acryl, Öl, Airbrush)</a:t>
            </a:r>
            <a:endParaRPr lang="en-US" sz="1400" dirty="0"/>
          </a:p>
        </p:txBody>
      </p:sp>
      <p:sp>
        <p:nvSpPr>
          <p:cNvPr id="20" name="Shape 17"/>
          <p:cNvSpPr/>
          <p:nvPr/>
        </p:nvSpPr>
        <p:spPr>
          <a:xfrm>
            <a:off x="7193128" y="4398264"/>
            <a:ext cx="4449928" cy="804672"/>
          </a:xfrm>
          <a:prstGeom prst="rect">
            <a:avLst/>
          </a:prstGeom>
          <a:solidFill>
            <a:schemeClr val="tx2"/>
          </a:solidFill>
          <a:ln w="12700">
            <a:solidFill>
              <a:schemeClr val="tx2"/>
            </a:solidFill>
            <a:prstDash val="solid"/>
          </a:ln>
        </p:spPr>
      </p:sp>
      <p:sp>
        <p:nvSpPr>
          <p:cNvPr id="21" name="Text 18"/>
          <p:cNvSpPr txBox="1"/>
          <p:nvPr/>
        </p:nvSpPr>
        <p:spPr>
          <a:xfrm>
            <a:off x="7376008" y="4398264"/>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Malerei, Zeichnung und Skulptur (Silikon, Kunsthaar)</a:t>
            </a:r>
            <a:endParaRPr lang="en-US" sz="1400" dirty="0"/>
          </a:p>
        </p:txBody>
      </p:sp>
      <p:sp>
        <p:nvSpPr>
          <p:cNvPr id="22" name="Text 19"/>
          <p:cNvSpPr txBox="1"/>
          <p:nvPr/>
        </p:nvSpPr>
        <p:spPr>
          <a:xfrm>
            <a:off x="548640" y="5294376"/>
            <a:ext cx="1920240" cy="804672"/>
          </a:xfrm>
          <a:prstGeom prst="rect">
            <a:avLst/>
          </a:prstGeom>
          <a:noFill/>
          <a:ln/>
        </p:spPr>
        <p:txBody>
          <a:bodyPr wrap="square" lIns="0" tIns="0" rIns="0" bIns="0" rtlCol="0" anchor="ctr"/>
          <a:lstStyle/>
          <a:p>
            <a:pPr indent="0" marL="0">
              <a:buNone/>
            </a:pPr>
            <a:r>
              <a:rPr lang="en-US" sz="1400" b="1" dirty="0">
                <a:solidFill>
                  <a:schemeClr val="bg2"/>
                </a:solidFill>
                <a:latin typeface="Arial" pitchFamily="34" charset="0"/>
                <a:ea typeface="Arial" pitchFamily="34" charset="-122"/>
                <a:cs typeface="Arial" pitchFamily="34" charset="-120"/>
              </a:rPr>
              <a:t>Motive</a:t>
            </a:r>
            <a:endParaRPr lang="en-US" sz="1400" dirty="0"/>
          </a:p>
        </p:txBody>
      </p:sp>
      <p:sp>
        <p:nvSpPr>
          <p:cNvPr id="23" name="Shape 20"/>
          <p:cNvSpPr/>
          <p:nvPr/>
        </p:nvSpPr>
        <p:spPr>
          <a:xfrm>
            <a:off x="2606040" y="5294376"/>
            <a:ext cx="4449928" cy="804672"/>
          </a:xfrm>
          <a:prstGeom prst="rect">
            <a:avLst/>
          </a:prstGeom>
          <a:solidFill>
            <a:schemeClr val="tx2"/>
          </a:solidFill>
          <a:ln w="12700">
            <a:solidFill>
              <a:schemeClr val="tx2"/>
            </a:solidFill>
            <a:prstDash val="solid"/>
          </a:ln>
        </p:spPr>
      </p:sp>
      <p:sp>
        <p:nvSpPr>
          <p:cNvPr id="24" name="Text 21"/>
          <p:cNvSpPr txBox="1"/>
          <p:nvPr/>
        </p:nvSpPr>
        <p:spPr>
          <a:xfrm>
            <a:off x="2788920" y="5294376"/>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amerikanischer Alltag: Stadt, Autos, Diner, Konsum</a:t>
            </a:r>
            <a:endParaRPr lang="en-US" sz="1400" dirty="0"/>
          </a:p>
        </p:txBody>
      </p:sp>
      <p:sp>
        <p:nvSpPr>
          <p:cNvPr id="25" name="Shape 22"/>
          <p:cNvSpPr/>
          <p:nvPr/>
        </p:nvSpPr>
        <p:spPr>
          <a:xfrm>
            <a:off x="7193128" y="5294376"/>
            <a:ext cx="4449928" cy="804672"/>
          </a:xfrm>
          <a:prstGeom prst="rect">
            <a:avLst/>
          </a:prstGeom>
          <a:solidFill>
            <a:schemeClr val="tx2"/>
          </a:solidFill>
          <a:ln w="12700">
            <a:solidFill>
              <a:schemeClr val="tx2"/>
            </a:solidFill>
            <a:prstDash val="solid"/>
          </a:ln>
        </p:spPr>
      </p:sp>
      <p:sp>
        <p:nvSpPr>
          <p:cNvPr id="26" name="Text 23"/>
          <p:cNvSpPr txBox="1"/>
          <p:nvPr/>
        </p:nvSpPr>
        <p:spPr>
          <a:xfrm>
            <a:off x="7376008" y="5294376"/>
            <a:ext cx="4084168" cy="804672"/>
          </a:xfrm>
          <a:prstGeom prst="rect">
            <a:avLst/>
          </a:prstGeom>
          <a:noFill/>
          <a:ln/>
        </p:spPr>
        <p:txBody>
          <a:bodyPr wrap="square" lIns="0" tIns="0" rIns="0" bIns="0" rtlCol="0" anchor="ctr"/>
          <a:lstStyle/>
          <a:p>
            <a:pPr indent="0" marL="0">
              <a:buNone/>
            </a:pPr>
            <a:r>
              <a:rPr lang="en-US" sz="1400" dirty="0">
                <a:solidFill>
                  <a:schemeClr val="bg1"/>
                </a:solidFill>
                <a:latin typeface="Arial" pitchFamily="34" charset="0"/>
                <a:ea typeface="Arial" pitchFamily="34" charset="-122"/>
                <a:cs typeface="Arial" pitchFamily="34" charset="-120"/>
              </a:rPr>
              <a:t>Menschen, Haut, Wasser, Glas – oft überhöht oder rätselhaft</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ZUSAMMENFASSENDE MERKMALE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Malen wie eine Kamera</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Shape 3"/>
          <p:cNvSpPr/>
          <p:nvPr/>
        </p:nvSpPr>
        <p:spPr>
          <a:xfrm>
            <a:off x="777240" y="1965960"/>
            <a:ext cx="566928" cy="566928"/>
          </a:xfrm>
          <a:prstGeom prst="ellipse">
            <a:avLst/>
          </a:prstGeom>
          <a:solidFill>
            <a:schemeClr val="accent4"/>
          </a:solidFill>
          <a:ln w="15875">
            <a:solidFill>
              <a:schemeClr val="accent1"/>
            </a:solidFill>
            <a:prstDash val="solid"/>
          </a:ln>
        </p:spPr>
      </p:sp>
      <p:pic>
        <p:nvPicPr>
          <p:cNvPr id="6" name="Image 0" descr="Symbol Camera">    </p:cNvPr>
          <p:cNvPicPr>
            <a:picLocks noChangeAspect="1"/>
          </p:cNvPicPr>
          <p:nvPr/>
        </p:nvPicPr>
        <p:blipFill>
          <a:blip r:embed="rId1"/>
          <a:stretch>
            <a:fillRect/>
          </a:stretch>
        </p:blipFill>
        <p:spPr>
          <a:xfrm>
            <a:off x="901964" y="2090684"/>
            <a:ext cx="317480" cy="317480"/>
          </a:xfrm>
          <a:prstGeom prst="rect">
            <a:avLst/>
          </a:prstGeom>
        </p:spPr>
      </p:pic>
      <p:sp>
        <p:nvSpPr>
          <p:cNvPr id="7" name="Text 4"/>
          <p:cNvSpPr txBox="1"/>
          <p:nvPr/>
        </p:nvSpPr>
        <p:spPr>
          <a:xfrm>
            <a:off x="1508760"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Foto als Vorlage</a:t>
            </a:r>
            <a:endParaRPr lang="en-US" sz="1700" dirty="0"/>
          </a:p>
        </p:txBody>
      </p:sp>
      <p:sp>
        <p:nvSpPr>
          <p:cNvPr id="8" name="Text 5"/>
          <p:cNvSpPr txBox="1"/>
          <p:nvPr/>
        </p:nvSpPr>
        <p:spPr>
          <a:xfrm>
            <a:off x="777240"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Kamera statt Skizzenbuch: gemalt wird nach Fotos oder Dias, nicht vor dem Motiv.</a:t>
            </a:r>
            <a:endParaRPr lang="en-US" sz="1600" dirty="0"/>
          </a:p>
        </p:txBody>
      </p:sp>
      <p:sp>
        <p:nvSpPr>
          <p:cNvPr id="9"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10" name="Shape 7"/>
          <p:cNvSpPr/>
          <p:nvPr/>
        </p:nvSpPr>
        <p:spPr>
          <a:xfrm>
            <a:off x="4564228" y="1965960"/>
            <a:ext cx="566928" cy="566928"/>
          </a:xfrm>
          <a:prstGeom prst="ellipse">
            <a:avLst/>
          </a:prstGeom>
          <a:solidFill>
            <a:schemeClr val="accent4"/>
          </a:solidFill>
          <a:ln w="15875">
            <a:solidFill>
              <a:schemeClr val="accent1"/>
            </a:solidFill>
            <a:prstDash val="solid"/>
          </a:ln>
        </p:spPr>
      </p:sp>
      <p:pic>
        <p:nvPicPr>
          <p:cNvPr id="11" name="Image 1" descr="Symbol Grid3X3">    </p:cNvPr>
          <p:cNvPicPr>
            <a:picLocks noChangeAspect="1"/>
          </p:cNvPicPr>
          <p:nvPr/>
        </p:nvPicPr>
        <p:blipFill>
          <a:blip r:embed="rId2"/>
          <a:stretch>
            <a:fillRect/>
          </a:stretch>
        </p:blipFill>
        <p:spPr>
          <a:xfrm>
            <a:off x="4688952" y="2090684"/>
            <a:ext cx="317480" cy="317480"/>
          </a:xfrm>
          <a:prstGeom prst="rect">
            <a:avLst/>
          </a:prstGeom>
        </p:spPr>
      </p:pic>
      <p:sp>
        <p:nvSpPr>
          <p:cNvPr id="12" name="Text 8"/>
          <p:cNvSpPr txBox="1"/>
          <p:nvPr/>
        </p:nvSpPr>
        <p:spPr>
          <a:xfrm>
            <a:off x="5295748"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Mechanische Übertragung</a:t>
            </a:r>
            <a:endParaRPr lang="en-US" sz="1700" dirty="0"/>
          </a:p>
        </p:txBody>
      </p:sp>
      <p:sp>
        <p:nvSpPr>
          <p:cNvPr id="13" name="Text 9"/>
          <p:cNvSpPr txBox="1"/>
          <p:nvPr/>
        </p:nvSpPr>
        <p:spPr>
          <a:xfrm>
            <a:off x="4564228"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Rasternetz oder Projektor übertragen das Foto exakt auf die Leinwand.</a:t>
            </a:r>
            <a:endParaRPr lang="en-US" sz="1600" dirty="0"/>
          </a:p>
        </p:txBody>
      </p:sp>
      <p:sp>
        <p:nvSpPr>
          <p:cNvPr id="14"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5" name="Shape 11"/>
          <p:cNvSpPr/>
          <p:nvPr/>
        </p:nvSpPr>
        <p:spPr>
          <a:xfrm>
            <a:off x="8351215" y="1965960"/>
            <a:ext cx="566928" cy="566928"/>
          </a:xfrm>
          <a:prstGeom prst="ellipse">
            <a:avLst/>
          </a:prstGeom>
          <a:solidFill>
            <a:schemeClr val="accent4"/>
          </a:solidFill>
          <a:ln w="15875">
            <a:solidFill>
              <a:schemeClr val="accent1"/>
            </a:solidFill>
            <a:prstDash val="solid"/>
          </a:ln>
        </p:spPr>
      </p:sp>
      <p:pic>
        <p:nvPicPr>
          <p:cNvPr id="16" name="Image 2" descr="Symbol Spray">    </p:cNvPr>
          <p:cNvPicPr>
            <a:picLocks noChangeAspect="1"/>
          </p:cNvPicPr>
          <p:nvPr/>
        </p:nvPicPr>
        <p:blipFill>
          <a:blip r:embed="rId3"/>
          <a:stretch>
            <a:fillRect/>
          </a:stretch>
        </p:blipFill>
        <p:spPr>
          <a:xfrm>
            <a:off x="8475939" y="2090684"/>
            <a:ext cx="317480" cy="317480"/>
          </a:xfrm>
          <a:prstGeom prst="rect">
            <a:avLst/>
          </a:prstGeom>
        </p:spPr>
      </p:pic>
      <p:sp>
        <p:nvSpPr>
          <p:cNvPr id="17" name="Text 12"/>
          <p:cNvSpPr txBox="1"/>
          <p:nvPr/>
        </p:nvSpPr>
        <p:spPr>
          <a:xfrm>
            <a:off x="9082735"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Keine Handschrift</a:t>
            </a:r>
            <a:endParaRPr lang="en-US" sz="1700" dirty="0"/>
          </a:p>
        </p:txBody>
      </p:sp>
      <p:sp>
        <p:nvSpPr>
          <p:cNvPr id="18" name="Text 13"/>
          <p:cNvSpPr txBox="1"/>
          <p:nvPr/>
        </p:nvSpPr>
        <p:spPr>
          <a:xfrm>
            <a:off x="8351215" y="2697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Glatte Oberfläche ohne sichtbare Pinselspuren – oft mit Airbrush und dünnen Schichten.</a:t>
            </a:r>
            <a:endParaRPr lang="en-US" sz="1600" dirty="0"/>
          </a:p>
        </p:txBody>
      </p:sp>
      <p:sp>
        <p:nvSpPr>
          <p:cNvPr id="19"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20" name="Shape 15"/>
          <p:cNvSpPr/>
          <p:nvPr/>
        </p:nvSpPr>
        <p:spPr>
          <a:xfrm>
            <a:off x="777240" y="4251960"/>
            <a:ext cx="566928" cy="566928"/>
          </a:xfrm>
          <a:prstGeom prst="ellipse">
            <a:avLst/>
          </a:prstGeom>
          <a:solidFill>
            <a:schemeClr val="accent4"/>
          </a:solidFill>
          <a:ln w="15875">
            <a:solidFill>
              <a:schemeClr val="accent1"/>
            </a:solidFill>
            <a:prstDash val="solid"/>
          </a:ln>
        </p:spPr>
      </p:sp>
      <p:pic>
        <p:nvPicPr>
          <p:cNvPr id="21" name="Image 3" descr="Symbol Focus2">    </p:cNvPr>
          <p:cNvPicPr>
            <a:picLocks noChangeAspect="1"/>
          </p:cNvPicPr>
          <p:nvPr/>
        </p:nvPicPr>
        <p:blipFill>
          <a:blip r:embed="rId4"/>
          <a:stretch>
            <a:fillRect/>
          </a:stretch>
        </p:blipFill>
        <p:spPr>
          <a:xfrm>
            <a:off x="901964" y="4376684"/>
            <a:ext cx="317480" cy="317480"/>
          </a:xfrm>
          <a:prstGeom prst="rect">
            <a:avLst/>
          </a:prstGeom>
        </p:spPr>
      </p:pic>
      <p:sp>
        <p:nvSpPr>
          <p:cNvPr id="22" name="Text 16"/>
          <p:cNvSpPr txBox="1"/>
          <p:nvPr/>
        </p:nvSpPr>
        <p:spPr>
          <a:xfrm>
            <a:off x="1508760"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Fotografischer Blick</a:t>
            </a:r>
            <a:endParaRPr lang="en-US" sz="1700" dirty="0"/>
          </a:p>
        </p:txBody>
      </p:sp>
      <p:sp>
        <p:nvSpPr>
          <p:cNvPr id="23" name="Text 17"/>
          <p:cNvSpPr txBox="1"/>
          <p:nvPr/>
        </p:nvSpPr>
        <p:spPr>
          <a:xfrm>
            <a:off x="777240"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Ausschnitt, Licht, Spiegelungen und sogar Unschärfe werden vom Foto übernommen.</a:t>
            </a:r>
            <a:endParaRPr lang="en-US" sz="1600" dirty="0"/>
          </a:p>
        </p:txBody>
      </p:sp>
      <p:sp>
        <p:nvSpPr>
          <p:cNvPr id="24"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5" name="Shape 19"/>
          <p:cNvSpPr/>
          <p:nvPr/>
        </p:nvSpPr>
        <p:spPr>
          <a:xfrm>
            <a:off x="4564228" y="4251960"/>
            <a:ext cx="566928" cy="566928"/>
          </a:xfrm>
          <a:prstGeom prst="ellipse">
            <a:avLst/>
          </a:prstGeom>
          <a:solidFill>
            <a:schemeClr val="accent4"/>
          </a:solidFill>
          <a:ln w="15875">
            <a:solidFill>
              <a:schemeClr val="accent1"/>
            </a:solidFill>
            <a:prstDash val="solid"/>
          </a:ln>
        </p:spPr>
      </p:sp>
      <p:pic>
        <p:nvPicPr>
          <p:cNvPr id="26" name="Image 4" descr="Symbol ArrowsMaximize">    </p:cNvPr>
          <p:cNvPicPr>
            <a:picLocks noChangeAspect="1"/>
          </p:cNvPicPr>
          <p:nvPr/>
        </p:nvPicPr>
        <p:blipFill>
          <a:blip r:embed="rId5"/>
          <a:stretch>
            <a:fillRect/>
          </a:stretch>
        </p:blipFill>
        <p:spPr>
          <a:xfrm>
            <a:off x="4688952" y="4376684"/>
            <a:ext cx="317480" cy="317480"/>
          </a:xfrm>
          <a:prstGeom prst="rect">
            <a:avLst/>
          </a:prstGeom>
        </p:spPr>
      </p:pic>
      <p:sp>
        <p:nvSpPr>
          <p:cNvPr id="27" name="Text 20"/>
          <p:cNvSpPr txBox="1"/>
          <p:nvPr/>
        </p:nvSpPr>
        <p:spPr>
          <a:xfrm>
            <a:off x="5295748"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Großformat</a:t>
            </a:r>
            <a:endParaRPr lang="en-US" sz="1700" dirty="0"/>
          </a:p>
        </p:txBody>
      </p:sp>
      <p:sp>
        <p:nvSpPr>
          <p:cNvPr id="28" name="Text 21"/>
          <p:cNvSpPr txBox="1"/>
          <p:nvPr/>
        </p:nvSpPr>
        <p:spPr>
          <a:xfrm>
            <a:off x="4564228"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Viele Werke sind mehrere Meter groß – die Fülle an Details überwältigt.</a:t>
            </a:r>
            <a:endParaRPr lang="en-US" sz="1600" dirty="0"/>
          </a:p>
        </p:txBody>
      </p:sp>
      <p:sp>
        <p:nvSpPr>
          <p:cNvPr id="29"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30" name="Shape 23"/>
          <p:cNvSpPr/>
          <p:nvPr/>
        </p:nvSpPr>
        <p:spPr>
          <a:xfrm>
            <a:off x="8351215" y="4251960"/>
            <a:ext cx="566928" cy="566928"/>
          </a:xfrm>
          <a:prstGeom prst="ellipse">
            <a:avLst/>
          </a:prstGeom>
          <a:solidFill>
            <a:schemeClr val="accent4"/>
          </a:solidFill>
          <a:ln w="15875">
            <a:solidFill>
              <a:schemeClr val="accent1"/>
            </a:solidFill>
            <a:prstDash val="solid"/>
          </a:ln>
        </p:spPr>
      </p:sp>
      <p:pic>
        <p:nvPicPr>
          <p:cNvPr id="31" name="Image 5" descr="Symbol BuildingStore">    </p:cNvPr>
          <p:cNvPicPr>
            <a:picLocks noChangeAspect="1"/>
          </p:cNvPicPr>
          <p:nvPr/>
        </p:nvPicPr>
        <p:blipFill>
          <a:blip r:embed="rId6"/>
          <a:stretch>
            <a:fillRect/>
          </a:stretch>
        </p:blipFill>
        <p:spPr>
          <a:xfrm>
            <a:off x="8475939" y="4376684"/>
            <a:ext cx="317480" cy="317480"/>
          </a:xfrm>
          <a:prstGeom prst="rect">
            <a:avLst/>
          </a:prstGeom>
        </p:spPr>
      </p:pic>
      <p:sp>
        <p:nvSpPr>
          <p:cNvPr id="32" name="Text 24"/>
          <p:cNvSpPr txBox="1"/>
          <p:nvPr/>
        </p:nvSpPr>
        <p:spPr>
          <a:xfrm>
            <a:off x="9082735"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Alltag &amp; Neutralität</a:t>
            </a:r>
            <a:endParaRPr lang="en-US" sz="1700" dirty="0"/>
          </a:p>
        </p:txBody>
      </p:sp>
      <p:sp>
        <p:nvSpPr>
          <p:cNvPr id="33" name="Text 25"/>
          <p:cNvSpPr txBox="1"/>
          <p:nvPr/>
        </p:nvSpPr>
        <p:spPr>
          <a:xfrm>
            <a:off x="8351215" y="4983480"/>
            <a:ext cx="3063240" cy="91440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Banale Motive, kühl und ohne erkennbare Wertung dargestellt.</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MERKMALE AM BILDBEISPIEL</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 Bildbeispiel: Spiegelung und Schärfe</a:t>
            </a:r>
            <a:endParaRPr lang="en-US" sz="3200" dirty="0"/>
          </a:p>
        </p:txBody>
      </p:sp>
      <p:sp>
        <p:nvSpPr>
          <p:cNvPr id="4" name="Bildplatzhalter estes_booths"/>
          <p:cNvSpPr/>
          <p:nvPr/>
        </p:nvSpPr>
        <p:spPr>
          <a:xfrm>
            <a:off x="640080" y="1783080"/>
            <a:ext cx="5584469" cy="388620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3180855" y="3177540"/>
            <a:ext cx="502920" cy="502920"/>
          </a:xfrm>
          <a:prstGeom prst="rect">
            <a:avLst/>
          </a:prstGeom>
        </p:spPr>
      </p:pic>
      <p:sp>
        <p:nvSpPr>
          <p:cNvPr id="6" name="Text 3"/>
          <p:cNvSpPr txBox="1"/>
          <p:nvPr/>
        </p:nvSpPr>
        <p:spPr>
          <a:xfrm>
            <a:off x="777240" y="3744468"/>
            <a:ext cx="5310149"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Richard Estes: Telephone Booths</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6078245" y="1691640"/>
            <a:ext cx="237744" cy="0"/>
          </a:xfrm>
          <a:prstGeom prst="line">
            <a:avLst/>
          </a:prstGeom>
          <a:noFill/>
          <a:ln w="25400">
            <a:solidFill>
              <a:schemeClr val="accent1"/>
            </a:solidFill>
            <a:prstDash val="solid"/>
          </a:ln>
        </p:spPr>
      </p:sp>
      <p:sp>
        <p:nvSpPr>
          <p:cNvPr id="10" name="Shape 7"/>
          <p:cNvSpPr/>
          <p:nvPr/>
        </p:nvSpPr>
        <p:spPr>
          <a:xfrm>
            <a:off x="6315989" y="1691640"/>
            <a:ext cx="0" cy="237744"/>
          </a:xfrm>
          <a:prstGeom prst="line">
            <a:avLst/>
          </a:prstGeom>
          <a:noFill/>
          <a:ln w="25400">
            <a:solidFill>
              <a:schemeClr val="accent1"/>
            </a:solidFill>
            <a:prstDash val="solid"/>
          </a:ln>
        </p:spPr>
      </p:sp>
      <p:sp>
        <p:nvSpPr>
          <p:cNvPr id="11" name="Shape 8"/>
          <p:cNvSpPr/>
          <p:nvPr/>
        </p:nvSpPr>
        <p:spPr>
          <a:xfrm>
            <a:off x="548640" y="5760720"/>
            <a:ext cx="237744" cy="0"/>
          </a:xfrm>
          <a:prstGeom prst="line">
            <a:avLst/>
          </a:prstGeom>
          <a:noFill/>
          <a:ln w="25400">
            <a:solidFill>
              <a:schemeClr val="accent1"/>
            </a:solidFill>
            <a:prstDash val="solid"/>
          </a:ln>
        </p:spPr>
      </p:sp>
      <p:sp>
        <p:nvSpPr>
          <p:cNvPr id="12" name="Shape 9"/>
          <p:cNvSpPr/>
          <p:nvPr/>
        </p:nvSpPr>
        <p:spPr>
          <a:xfrm>
            <a:off x="548640" y="5522976"/>
            <a:ext cx="0" cy="237744"/>
          </a:xfrm>
          <a:prstGeom prst="line">
            <a:avLst/>
          </a:prstGeom>
          <a:noFill/>
          <a:ln w="25400">
            <a:solidFill>
              <a:schemeClr val="accent1"/>
            </a:solidFill>
            <a:prstDash val="solid"/>
          </a:ln>
        </p:spPr>
      </p:sp>
      <p:sp>
        <p:nvSpPr>
          <p:cNvPr id="13" name="Shape 10"/>
          <p:cNvSpPr/>
          <p:nvPr/>
        </p:nvSpPr>
        <p:spPr>
          <a:xfrm>
            <a:off x="6078245" y="5760720"/>
            <a:ext cx="237744" cy="0"/>
          </a:xfrm>
          <a:prstGeom prst="line">
            <a:avLst/>
          </a:prstGeom>
          <a:noFill/>
          <a:ln w="25400">
            <a:solidFill>
              <a:schemeClr val="accent1"/>
            </a:solidFill>
            <a:prstDash val="solid"/>
          </a:ln>
        </p:spPr>
      </p:sp>
      <p:sp>
        <p:nvSpPr>
          <p:cNvPr id="14" name="Shape 11"/>
          <p:cNvSpPr/>
          <p:nvPr/>
        </p:nvSpPr>
        <p:spPr>
          <a:xfrm>
            <a:off x="6315989" y="5522976"/>
            <a:ext cx="0" cy="237744"/>
          </a:xfrm>
          <a:prstGeom prst="line">
            <a:avLst/>
          </a:prstGeom>
          <a:noFill/>
          <a:ln w="25400">
            <a:solidFill>
              <a:schemeClr val="accent1"/>
            </a:solidFill>
            <a:prstDash val="solid"/>
          </a:ln>
        </p:spPr>
      </p:sp>
      <p:sp>
        <p:nvSpPr>
          <p:cNvPr id="15" name="Text 12"/>
          <p:cNvSpPr txBox="1"/>
          <p:nvPr/>
        </p:nvSpPr>
        <p:spPr>
          <a:xfrm>
            <a:off x="640080" y="5870448"/>
            <a:ext cx="6583680"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Richard Estes,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Telephone Booths</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(Telefonzellen), 1967</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Masonit, 122 × 175,3 cm · Museo Nacional Thyssen-Bornemisza, Madrid</a:t>
            </a:r>
            <a:endParaRPr lang="en-US" sz="1300" dirty="0"/>
          </a:p>
        </p:txBody>
      </p:sp>
      <p:sp>
        <p:nvSpPr>
          <p:cNvPr id="16" name="Shape 13"/>
          <p:cNvSpPr/>
          <p:nvPr/>
        </p:nvSpPr>
        <p:spPr>
          <a:xfrm>
            <a:off x="7726680" y="1755648"/>
            <a:ext cx="384048" cy="384048"/>
          </a:xfrm>
          <a:prstGeom prst="ellipse">
            <a:avLst/>
          </a:prstGeom>
          <a:solidFill>
            <a:schemeClr val="accent1"/>
          </a:solidFill>
          <a:ln w="12700">
            <a:solidFill>
              <a:schemeClr val="accent1"/>
            </a:solidFill>
            <a:prstDash val="solid"/>
          </a:ln>
        </p:spPr>
      </p:sp>
      <p:sp>
        <p:nvSpPr>
          <p:cNvPr id="17" name="Text 14"/>
          <p:cNvSpPr txBox="1"/>
          <p:nvPr/>
        </p:nvSpPr>
        <p:spPr>
          <a:xfrm>
            <a:off x="7726680" y="175564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1</a:t>
            </a:r>
            <a:endParaRPr lang="en-US" sz="1400" dirty="0"/>
          </a:p>
        </p:txBody>
      </p:sp>
      <p:sp>
        <p:nvSpPr>
          <p:cNvPr id="18" name="Text 15"/>
          <p:cNvSpPr txBox="1"/>
          <p:nvPr/>
        </p:nvSpPr>
        <p:spPr>
          <a:xfrm>
            <a:off x="8275320" y="173736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Spiegelungen</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Glas und Metall spiegeln die Straße – zentrales Motiv bei Estes.</a:t>
            </a:r>
            <a:endParaRPr lang="en-US" sz="1500" dirty="0"/>
          </a:p>
        </p:txBody>
      </p:sp>
      <p:sp>
        <p:nvSpPr>
          <p:cNvPr id="19" name="Shape 16"/>
          <p:cNvSpPr/>
          <p:nvPr/>
        </p:nvSpPr>
        <p:spPr>
          <a:xfrm>
            <a:off x="7726680" y="2624328"/>
            <a:ext cx="384048" cy="384048"/>
          </a:xfrm>
          <a:prstGeom prst="ellipse">
            <a:avLst/>
          </a:prstGeom>
          <a:solidFill>
            <a:schemeClr val="accent1"/>
          </a:solidFill>
          <a:ln w="12700">
            <a:solidFill>
              <a:schemeClr val="accent1"/>
            </a:solidFill>
            <a:prstDash val="solid"/>
          </a:ln>
        </p:spPr>
      </p:sp>
      <p:sp>
        <p:nvSpPr>
          <p:cNvPr id="20" name="Text 17"/>
          <p:cNvSpPr txBox="1"/>
          <p:nvPr/>
        </p:nvSpPr>
        <p:spPr>
          <a:xfrm>
            <a:off x="7726680" y="262432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2</a:t>
            </a:r>
            <a:endParaRPr lang="en-US" sz="1400" dirty="0"/>
          </a:p>
        </p:txBody>
      </p:sp>
      <p:sp>
        <p:nvSpPr>
          <p:cNvPr id="21" name="Text 18"/>
          <p:cNvSpPr txBox="1"/>
          <p:nvPr/>
        </p:nvSpPr>
        <p:spPr>
          <a:xfrm>
            <a:off x="8275320" y="260604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Durchgehende Schärfe</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Vorne und hinten ist alles gleich scharf.</a:t>
            </a:r>
            <a:endParaRPr lang="en-US" sz="1500" dirty="0"/>
          </a:p>
        </p:txBody>
      </p:sp>
      <p:sp>
        <p:nvSpPr>
          <p:cNvPr id="22" name="Shape 19"/>
          <p:cNvSpPr/>
          <p:nvPr/>
        </p:nvSpPr>
        <p:spPr>
          <a:xfrm>
            <a:off x="7726680" y="3493008"/>
            <a:ext cx="384048" cy="384048"/>
          </a:xfrm>
          <a:prstGeom prst="ellipse">
            <a:avLst/>
          </a:prstGeom>
          <a:solidFill>
            <a:schemeClr val="accent1"/>
          </a:solidFill>
          <a:ln w="12700">
            <a:solidFill>
              <a:schemeClr val="accent1"/>
            </a:solidFill>
            <a:prstDash val="solid"/>
          </a:ln>
        </p:spPr>
      </p:sp>
      <p:sp>
        <p:nvSpPr>
          <p:cNvPr id="23" name="Text 20"/>
          <p:cNvSpPr txBox="1"/>
          <p:nvPr/>
        </p:nvSpPr>
        <p:spPr>
          <a:xfrm>
            <a:off x="7726680" y="349300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3</a:t>
            </a:r>
            <a:endParaRPr lang="en-US" sz="1400" dirty="0"/>
          </a:p>
        </p:txBody>
      </p:sp>
      <p:sp>
        <p:nvSpPr>
          <p:cNvPr id="24" name="Text 21"/>
          <p:cNvSpPr txBox="1"/>
          <p:nvPr/>
        </p:nvSpPr>
        <p:spPr>
          <a:xfrm>
            <a:off x="8275320" y="347472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Keine Handschrift</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Glatte Acrylmalerei ohne sichtbaren Pinselstrich.</a:t>
            </a:r>
            <a:endParaRPr lang="en-US" sz="1500" dirty="0"/>
          </a:p>
        </p:txBody>
      </p:sp>
      <p:sp>
        <p:nvSpPr>
          <p:cNvPr id="25" name="Shape 22"/>
          <p:cNvSpPr/>
          <p:nvPr/>
        </p:nvSpPr>
        <p:spPr>
          <a:xfrm>
            <a:off x="7726680" y="4361688"/>
            <a:ext cx="384048" cy="384048"/>
          </a:xfrm>
          <a:prstGeom prst="ellipse">
            <a:avLst/>
          </a:prstGeom>
          <a:solidFill>
            <a:schemeClr val="accent1"/>
          </a:solidFill>
          <a:ln w="12700">
            <a:solidFill>
              <a:schemeClr val="accent1"/>
            </a:solidFill>
            <a:prstDash val="solid"/>
          </a:ln>
        </p:spPr>
      </p:sp>
      <p:sp>
        <p:nvSpPr>
          <p:cNvPr id="26" name="Text 23"/>
          <p:cNvSpPr txBox="1"/>
          <p:nvPr/>
        </p:nvSpPr>
        <p:spPr>
          <a:xfrm>
            <a:off x="7726680" y="436168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4</a:t>
            </a:r>
            <a:endParaRPr lang="en-US" sz="1400" dirty="0"/>
          </a:p>
        </p:txBody>
      </p:sp>
      <p:sp>
        <p:nvSpPr>
          <p:cNvPr id="27" name="Text 24"/>
          <p:cNvSpPr txBox="1"/>
          <p:nvPr/>
        </p:nvSpPr>
        <p:spPr>
          <a:xfrm>
            <a:off x="8275320" y="434340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Alltagsmotiv</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Telefonzellen in New York – banal und kühl beobachtet.</a:t>
            </a:r>
            <a:endParaRPr lang="en-US" sz="1500" dirty="0"/>
          </a:p>
        </p:txBody>
      </p:sp>
      <p:sp>
        <p:nvSpPr>
          <p:cNvPr id="28" name="Shape 25"/>
          <p:cNvSpPr/>
          <p:nvPr/>
        </p:nvSpPr>
        <p:spPr>
          <a:xfrm>
            <a:off x="7726680" y="5230368"/>
            <a:ext cx="384048" cy="384048"/>
          </a:xfrm>
          <a:prstGeom prst="ellipse">
            <a:avLst/>
          </a:prstGeom>
          <a:solidFill>
            <a:schemeClr val="accent1"/>
          </a:solidFill>
          <a:ln w="12700">
            <a:solidFill>
              <a:schemeClr val="accent1"/>
            </a:solidFill>
            <a:prstDash val="solid"/>
          </a:ln>
        </p:spPr>
      </p:sp>
      <p:sp>
        <p:nvSpPr>
          <p:cNvPr id="29" name="Text 26"/>
          <p:cNvSpPr txBox="1"/>
          <p:nvPr/>
        </p:nvSpPr>
        <p:spPr>
          <a:xfrm>
            <a:off x="7726680" y="523036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5</a:t>
            </a:r>
            <a:endParaRPr lang="en-US" sz="1400" dirty="0"/>
          </a:p>
        </p:txBody>
      </p:sp>
      <p:sp>
        <p:nvSpPr>
          <p:cNvPr id="30" name="Text 27"/>
          <p:cNvSpPr txBox="1"/>
          <p:nvPr/>
        </p:nvSpPr>
        <p:spPr>
          <a:xfrm>
            <a:off x="8275320" y="5212080"/>
            <a:ext cx="3367735" cy="7772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Foto als Vorlage</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Estes arbeitet nach eigenen Fotos und kombiniert oft mehrere.</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MERKMALE AM BILDBEISPIEL</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 Bildbeispiel: Großformat und Raster</a:t>
            </a:r>
            <a:endParaRPr lang="en-US" sz="3200" dirty="0"/>
          </a:p>
        </p:txBody>
      </p:sp>
      <p:sp>
        <p:nvSpPr>
          <p:cNvPr id="4" name="Bildplatzhalter close_big"/>
          <p:cNvSpPr/>
          <p:nvPr/>
        </p:nvSpPr>
        <p:spPr>
          <a:xfrm>
            <a:off x="640080" y="1783080"/>
            <a:ext cx="3019577" cy="388620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1898409" y="3177540"/>
            <a:ext cx="502920" cy="502920"/>
          </a:xfrm>
          <a:prstGeom prst="rect">
            <a:avLst/>
          </a:prstGeom>
        </p:spPr>
      </p:pic>
      <p:sp>
        <p:nvSpPr>
          <p:cNvPr id="6" name="Text 3"/>
          <p:cNvSpPr txBox="1"/>
          <p:nvPr/>
        </p:nvSpPr>
        <p:spPr>
          <a:xfrm>
            <a:off x="777240" y="3744468"/>
            <a:ext cx="2745257"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Chuck Close: Big Self-Portrait</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513353" y="1691640"/>
            <a:ext cx="237744" cy="0"/>
          </a:xfrm>
          <a:prstGeom prst="line">
            <a:avLst/>
          </a:prstGeom>
          <a:noFill/>
          <a:ln w="25400">
            <a:solidFill>
              <a:schemeClr val="accent1"/>
            </a:solidFill>
            <a:prstDash val="solid"/>
          </a:ln>
        </p:spPr>
      </p:sp>
      <p:sp>
        <p:nvSpPr>
          <p:cNvPr id="10" name="Shape 7"/>
          <p:cNvSpPr/>
          <p:nvPr/>
        </p:nvSpPr>
        <p:spPr>
          <a:xfrm>
            <a:off x="3751097" y="1691640"/>
            <a:ext cx="0" cy="237744"/>
          </a:xfrm>
          <a:prstGeom prst="line">
            <a:avLst/>
          </a:prstGeom>
          <a:noFill/>
          <a:ln w="25400">
            <a:solidFill>
              <a:schemeClr val="accent1"/>
            </a:solidFill>
            <a:prstDash val="solid"/>
          </a:ln>
        </p:spPr>
      </p:sp>
      <p:sp>
        <p:nvSpPr>
          <p:cNvPr id="11" name="Shape 8"/>
          <p:cNvSpPr/>
          <p:nvPr/>
        </p:nvSpPr>
        <p:spPr>
          <a:xfrm>
            <a:off x="548640" y="5760720"/>
            <a:ext cx="237744" cy="0"/>
          </a:xfrm>
          <a:prstGeom prst="line">
            <a:avLst/>
          </a:prstGeom>
          <a:noFill/>
          <a:ln w="25400">
            <a:solidFill>
              <a:schemeClr val="accent1"/>
            </a:solidFill>
            <a:prstDash val="solid"/>
          </a:ln>
        </p:spPr>
      </p:sp>
      <p:sp>
        <p:nvSpPr>
          <p:cNvPr id="12" name="Shape 9"/>
          <p:cNvSpPr/>
          <p:nvPr/>
        </p:nvSpPr>
        <p:spPr>
          <a:xfrm>
            <a:off x="548640" y="5522976"/>
            <a:ext cx="0" cy="237744"/>
          </a:xfrm>
          <a:prstGeom prst="line">
            <a:avLst/>
          </a:prstGeom>
          <a:noFill/>
          <a:ln w="25400">
            <a:solidFill>
              <a:schemeClr val="accent1"/>
            </a:solidFill>
            <a:prstDash val="solid"/>
          </a:ln>
        </p:spPr>
      </p:sp>
      <p:sp>
        <p:nvSpPr>
          <p:cNvPr id="13" name="Shape 10"/>
          <p:cNvSpPr/>
          <p:nvPr/>
        </p:nvSpPr>
        <p:spPr>
          <a:xfrm>
            <a:off x="3513353" y="5760720"/>
            <a:ext cx="237744" cy="0"/>
          </a:xfrm>
          <a:prstGeom prst="line">
            <a:avLst/>
          </a:prstGeom>
          <a:noFill/>
          <a:ln w="25400">
            <a:solidFill>
              <a:schemeClr val="accent1"/>
            </a:solidFill>
            <a:prstDash val="solid"/>
          </a:ln>
        </p:spPr>
      </p:sp>
      <p:sp>
        <p:nvSpPr>
          <p:cNvPr id="14" name="Shape 11"/>
          <p:cNvSpPr/>
          <p:nvPr/>
        </p:nvSpPr>
        <p:spPr>
          <a:xfrm>
            <a:off x="3751097" y="5522976"/>
            <a:ext cx="0" cy="237744"/>
          </a:xfrm>
          <a:prstGeom prst="line">
            <a:avLst/>
          </a:prstGeom>
          <a:noFill/>
          <a:ln w="25400">
            <a:solidFill>
              <a:schemeClr val="accent1"/>
            </a:solidFill>
            <a:prstDash val="solid"/>
          </a:ln>
        </p:spPr>
      </p:sp>
      <p:sp>
        <p:nvSpPr>
          <p:cNvPr id="15" name="Text 12"/>
          <p:cNvSpPr txBox="1"/>
          <p:nvPr/>
        </p:nvSpPr>
        <p:spPr>
          <a:xfrm>
            <a:off x="640080" y="5870448"/>
            <a:ext cx="5486400" cy="50292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Chuck Close,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Big Self-Portrait</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(Großes Selbstporträt), 1967–68</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273 × 212 cm · Walker Art Center, Minneapolis</a:t>
            </a:r>
            <a:endParaRPr lang="en-US" sz="1300" dirty="0"/>
          </a:p>
        </p:txBody>
      </p:sp>
      <p:sp>
        <p:nvSpPr>
          <p:cNvPr id="16" name="Text 13"/>
          <p:cNvSpPr txBox="1"/>
          <p:nvPr/>
        </p:nvSpPr>
        <p:spPr>
          <a:xfrm>
            <a:off x="5394960" y="1691640"/>
            <a:ext cx="2926080" cy="914400"/>
          </a:xfrm>
          <a:prstGeom prst="rect">
            <a:avLst/>
          </a:prstGeom>
          <a:noFill/>
          <a:ln/>
        </p:spPr>
        <p:txBody>
          <a:bodyPr wrap="square" lIns="0" tIns="0" rIns="0" bIns="0" rtlCol="0" anchor="t"/>
          <a:lstStyle/>
          <a:p>
            <a:pPr indent="0" marL="0">
              <a:buNone/>
            </a:pPr>
            <a:r>
              <a:rPr lang="en-US" sz="6000" b="1" dirty="0">
                <a:solidFill>
                  <a:schemeClr val="accent1"/>
                </a:solidFill>
                <a:latin typeface="Georgia" pitchFamily="34" charset="0"/>
                <a:ea typeface="Georgia" pitchFamily="34" charset="-122"/>
                <a:cs typeface="Georgia" pitchFamily="34" charset="-120"/>
              </a:rPr>
              <a:t>2,73 m</a:t>
            </a:r>
            <a:endParaRPr lang="en-US" sz="6000" dirty="0"/>
          </a:p>
        </p:txBody>
      </p:sp>
      <p:sp>
        <p:nvSpPr>
          <p:cNvPr id="17" name="Text 14"/>
          <p:cNvSpPr txBox="1"/>
          <p:nvPr/>
        </p:nvSpPr>
        <p:spPr>
          <a:xfrm>
            <a:off x="5394960" y="2651760"/>
            <a:ext cx="2743200" cy="7315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hoch – ein Gesicht in Monumentalgröße</a:t>
            </a:r>
            <a:endParaRPr lang="en-US" sz="1400" dirty="0"/>
          </a:p>
        </p:txBody>
      </p:sp>
      <p:sp>
        <p:nvSpPr>
          <p:cNvPr id="18" name="Text 15"/>
          <p:cNvSpPr txBox="1"/>
          <p:nvPr/>
        </p:nvSpPr>
        <p:spPr>
          <a:xfrm>
            <a:off x="5394960" y="3703320"/>
            <a:ext cx="2926080" cy="914400"/>
          </a:xfrm>
          <a:prstGeom prst="rect">
            <a:avLst/>
          </a:prstGeom>
          <a:noFill/>
          <a:ln/>
        </p:spPr>
        <p:txBody>
          <a:bodyPr wrap="square" lIns="0" tIns="0" rIns="0" bIns="0" rtlCol="0" anchor="t"/>
          <a:lstStyle/>
          <a:p>
            <a:pPr indent="0" marL="0">
              <a:buNone/>
            </a:pPr>
            <a:r>
              <a:rPr lang="en-US" sz="6000" b="1" dirty="0">
                <a:solidFill>
                  <a:schemeClr val="accent1"/>
                </a:solidFill>
                <a:latin typeface="Georgia" pitchFamily="34" charset="0"/>
                <a:ea typeface="Georgia" pitchFamily="34" charset="-122"/>
                <a:cs typeface="Georgia" pitchFamily="34" charset="-120"/>
              </a:rPr>
              <a:t>Raster</a:t>
            </a:r>
            <a:endParaRPr lang="en-US" sz="6000" dirty="0"/>
          </a:p>
        </p:txBody>
      </p:sp>
      <p:sp>
        <p:nvSpPr>
          <p:cNvPr id="19" name="Text 16"/>
          <p:cNvSpPr txBox="1"/>
          <p:nvPr/>
        </p:nvSpPr>
        <p:spPr>
          <a:xfrm>
            <a:off x="5394960" y="4663440"/>
            <a:ext cx="2743200" cy="7315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Foto und Leinwand werden in Quadrate geteilt und Feld für Feld übertragen</a:t>
            </a:r>
            <a:endParaRPr lang="en-US" sz="1400" dirty="0"/>
          </a:p>
        </p:txBody>
      </p:sp>
      <p:sp>
        <p:nvSpPr>
          <p:cNvPr id="20" name="Text 17"/>
          <p:cNvSpPr txBox="1"/>
          <p:nvPr/>
        </p:nvSpPr>
        <p:spPr>
          <a:xfrm>
            <a:off x="8503920" y="1737360"/>
            <a:ext cx="3139135" cy="10058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Fotografische Unschärfe</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Gesicht scharf, Haare und Schultern verschwimmen – wie bei der Kamera.</a:t>
            </a:r>
            <a:endParaRPr lang="en-US" sz="1500" dirty="0"/>
          </a:p>
        </p:txBody>
      </p:sp>
      <p:sp>
        <p:nvSpPr>
          <p:cNvPr id="21" name="Text 18"/>
          <p:cNvSpPr txBox="1"/>
          <p:nvPr/>
        </p:nvSpPr>
        <p:spPr>
          <a:xfrm>
            <a:off x="8503920" y="2834640"/>
            <a:ext cx="3139135" cy="10058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Airbrush</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Mit der Spritzpistole in Schwarz-Weiß gemalt, ohne Pinselspur.</a:t>
            </a:r>
            <a:endParaRPr lang="en-US" sz="1500" dirty="0"/>
          </a:p>
        </p:txBody>
      </p:sp>
      <p:sp>
        <p:nvSpPr>
          <p:cNvPr id="22" name="Text 19"/>
          <p:cNvSpPr txBox="1"/>
          <p:nvPr/>
        </p:nvSpPr>
        <p:spPr>
          <a:xfrm>
            <a:off x="8503920" y="3931920"/>
            <a:ext cx="3139135" cy="1005840"/>
          </a:xfrm>
          <a:prstGeom prst="rect">
            <a:avLst/>
          </a:prstGeom>
          <a:noFill/>
          <a:ln/>
        </p:spPr>
        <p:txBody>
          <a:bodyPr wrap="square" lIns="0" tIns="0" rIns="0" bIns="0" rtlCol="0" anchor="t"/>
          <a:lstStyle/>
          <a:p>
            <a:pPr indent="0" marL="0">
              <a:buNone/>
            </a:pPr>
            <a:r>
              <a:rPr lang="en-US" sz="1500" b="1" dirty="0">
                <a:solidFill>
                  <a:schemeClr val="bg1"/>
                </a:solidFill>
                <a:latin typeface="Arial" pitchFamily="34" charset="0"/>
                <a:ea typeface="Arial" pitchFamily="34" charset="-122"/>
                <a:cs typeface="Arial" pitchFamily="34" charset="-120"/>
              </a:rPr>
              <a:t>Schnappschuss-Ästhetik</a:t>
            </a:r>
            <a:endParaRPr lang="en-US" sz="1500" dirty="0"/>
          </a:p>
          <a:p>
            <a:pPr indent="0" marL="0">
              <a:buNone/>
            </a:pPr>
            <a:r>
              <a:rPr lang="en-US" sz="1300" dirty="0">
                <a:solidFill>
                  <a:schemeClr val="bg2"/>
                </a:solidFill>
                <a:latin typeface="Arial" pitchFamily="34" charset="0"/>
                <a:ea typeface="Arial" pitchFamily="34" charset="-122"/>
                <a:cs typeface="Arial" pitchFamily="34" charset="-120"/>
              </a:rPr>
              <a:t>Zigarette, zerzauste Haare – kein geschöntes Porträt.</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02 · TECHNIK &amp; DEFINITION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Vom Foto zum Gemälde</a:t>
            </a:r>
            <a:endParaRPr lang="en-US" sz="3200" dirty="0"/>
          </a:p>
        </p:txBody>
      </p:sp>
      <p:sp>
        <p:nvSpPr>
          <p:cNvPr id="4" name="Shape 2"/>
          <p:cNvSpPr/>
          <p:nvPr/>
        </p:nvSpPr>
        <p:spPr>
          <a:xfrm>
            <a:off x="548640" y="1737360"/>
            <a:ext cx="685800" cy="685800"/>
          </a:xfrm>
          <a:prstGeom prst="ellipse">
            <a:avLst/>
          </a:prstGeom>
          <a:solidFill>
            <a:schemeClr val="accent4"/>
          </a:solidFill>
          <a:ln w="15875">
            <a:solidFill>
              <a:schemeClr val="accent1"/>
            </a:solidFill>
            <a:prstDash val="solid"/>
          </a:ln>
        </p:spPr>
      </p:sp>
      <p:pic>
        <p:nvPicPr>
          <p:cNvPr id="5" name="Image 0" descr="Symbol Camera">    </p:cNvPr>
          <p:cNvPicPr>
            <a:picLocks noChangeAspect="1"/>
          </p:cNvPicPr>
          <p:nvPr/>
        </p:nvPicPr>
        <p:blipFill>
          <a:blip r:embed="rId1"/>
          <a:stretch>
            <a:fillRect/>
          </a:stretch>
        </p:blipFill>
        <p:spPr>
          <a:xfrm>
            <a:off x="699516" y="1888236"/>
            <a:ext cx="384048" cy="384048"/>
          </a:xfrm>
          <a:prstGeom prst="rect">
            <a:avLst/>
          </a:prstGeom>
        </p:spPr>
      </p:pic>
      <p:sp>
        <p:nvSpPr>
          <p:cNvPr id="6" name="Text 3"/>
          <p:cNvSpPr txBox="1"/>
          <p:nvPr/>
        </p:nvSpPr>
        <p:spPr>
          <a:xfrm>
            <a:off x="548640"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1  Fotografieren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Motiv fotografieren, oft mehrere Aufnahmen kombinieren.</a:t>
            </a:r>
            <a:endParaRPr lang="en-US" sz="1700" dirty="0"/>
          </a:p>
        </p:txBody>
      </p:sp>
      <p:pic>
        <p:nvPicPr>
          <p:cNvPr id="7" name="Image 1" descr="Pfeil">    </p:cNvPr>
          <p:cNvPicPr>
            <a:picLocks noChangeAspect="1"/>
          </p:cNvPicPr>
          <p:nvPr/>
        </p:nvPicPr>
        <p:blipFill>
          <a:blip r:embed="rId2"/>
          <a:stretch>
            <a:fillRect/>
          </a:stretch>
        </p:blipFill>
        <p:spPr>
          <a:xfrm>
            <a:off x="2992069" y="1892808"/>
            <a:ext cx="365760" cy="365760"/>
          </a:xfrm>
          <a:prstGeom prst="rect">
            <a:avLst/>
          </a:prstGeom>
        </p:spPr>
      </p:pic>
      <p:sp>
        <p:nvSpPr>
          <p:cNvPr id="8" name="Shape 4"/>
          <p:cNvSpPr/>
          <p:nvPr/>
        </p:nvSpPr>
        <p:spPr>
          <a:xfrm>
            <a:off x="3469538" y="1737360"/>
            <a:ext cx="685800" cy="685800"/>
          </a:xfrm>
          <a:prstGeom prst="ellipse">
            <a:avLst/>
          </a:prstGeom>
          <a:solidFill>
            <a:schemeClr val="accent4"/>
          </a:solidFill>
          <a:ln w="15875">
            <a:solidFill>
              <a:schemeClr val="accent1"/>
            </a:solidFill>
            <a:prstDash val="solid"/>
          </a:ln>
        </p:spPr>
      </p:sp>
      <p:pic>
        <p:nvPicPr>
          <p:cNvPr id="9" name="Image 2" descr="Symbol Grid3X3">    </p:cNvPr>
          <p:cNvPicPr>
            <a:picLocks noChangeAspect="1"/>
          </p:cNvPicPr>
          <p:nvPr/>
        </p:nvPicPr>
        <p:blipFill>
          <a:blip r:embed="rId3"/>
          <a:stretch>
            <a:fillRect/>
          </a:stretch>
        </p:blipFill>
        <p:spPr>
          <a:xfrm>
            <a:off x="3620414" y="1888236"/>
            <a:ext cx="384048" cy="384048"/>
          </a:xfrm>
          <a:prstGeom prst="rect">
            <a:avLst/>
          </a:prstGeom>
        </p:spPr>
      </p:pic>
      <p:sp>
        <p:nvSpPr>
          <p:cNvPr id="10" name="Text 5"/>
          <p:cNvSpPr txBox="1"/>
          <p:nvPr/>
        </p:nvSpPr>
        <p:spPr>
          <a:xfrm>
            <a:off x="3469538"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2  Übertragen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Raster zeichnen oder Dia auf die Leinwand projizieren.</a:t>
            </a:r>
            <a:endParaRPr lang="en-US" sz="1700" dirty="0"/>
          </a:p>
        </p:txBody>
      </p:sp>
      <p:pic>
        <p:nvPicPr>
          <p:cNvPr id="11" name="Image 3" descr="Pfeil">    </p:cNvPr>
          <p:cNvPicPr>
            <a:picLocks noChangeAspect="1"/>
          </p:cNvPicPr>
          <p:nvPr/>
        </p:nvPicPr>
        <p:blipFill>
          <a:blip r:embed="rId4"/>
          <a:stretch>
            <a:fillRect/>
          </a:stretch>
        </p:blipFill>
        <p:spPr>
          <a:xfrm>
            <a:off x="5912968" y="1892808"/>
            <a:ext cx="365760" cy="365760"/>
          </a:xfrm>
          <a:prstGeom prst="rect">
            <a:avLst/>
          </a:prstGeom>
        </p:spPr>
      </p:pic>
      <p:sp>
        <p:nvSpPr>
          <p:cNvPr id="12" name="Shape 6"/>
          <p:cNvSpPr/>
          <p:nvPr/>
        </p:nvSpPr>
        <p:spPr>
          <a:xfrm>
            <a:off x="6390437" y="1737360"/>
            <a:ext cx="685800" cy="685800"/>
          </a:xfrm>
          <a:prstGeom prst="ellipse">
            <a:avLst/>
          </a:prstGeom>
          <a:solidFill>
            <a:schemeClr val="accent4"/>
          </a:solidFill>
          <a:ln w="15875">
            <a:solidFill>
              <a:schemeClr val="accent1"/>
            </a:solidFill>
            <a:prstDash val="solid"/>
          </a:ln>
        </p:spPr>
      </p:sp>
      <p:pic>
        <p:nvPicPr>
          <p:cNvPr id="13" name="Image 4" descr="Symbol Spray">    </p:cNvPr>
          <p:cNvPicPr>
            <a:picLocks noChangeAspect="1"/>
          </p:cNvPicPr>
          <p:nvPr/>
        </p:nvPicPr>
        <p:blipFill>
          <a:blip r:embed="rId5"/>
          <a:stretch>
            <a:fillRect/>
          </a:stretch>
        </p:blipFill>
        <p:spPr>
          <a:xfrm>
            <a:off x="6541313" y="1888236"/>
            <a:ext cx="384048" cy="384048"/>
          </a:xfrm>
          <a:prstGeom prst="rect">
            <a:avLst/>
          </a:prstGeom>
        </p:spPr>
      </p:pic>
      <p:sp>
        <p:nvSpPr>
          <p:cNvPr id="14" name="Text 7"/>
          <p:cNvSpPr txBox="1"/>
          <p:nvPr/>
        </p:nvSpPr>
        <p:spPr>
          <a:xfrm>
            <a:off x="6390437"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3  Malen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Schicht für Schicht mit Acryl, Öl oder Airbrush – oft monatelang.</a:t>
            </a:r>
            <a:endParaRPr lang="en-US" sz="1700" dirty="0"/>
          </a:p>
        </p:txBody>
      </p:sp>
      <p:pic>
        <p:nvPicPr>
          <p:cNvPr id="15" name="Image 5" descr="Pfeil">    </p:cNvPr>
          <p:cNvPicPr>
            <a:picLocks noChangeAspect="1"/>
          </p:cNvPicPr>
          <p:nvPr/>
        </p:nvPicPr>
        <p:blipFill>
          <a:blip r:embed="rId6"/>
          <a:stretch>
            <a:fillRect/>
          </a:stretch>
        </p:blipFill>
        <p:spPr>
          <a:xfrm>
            <a:off x="8833866" y="1892808"/>
            <a:ext cx="365760" cy="365760"/>
          </a:xfrm>
          <a:prstGeom prst="rect">
            <a:avLst/>
          </a:prstGeom>
        </p:spPr>
      </p:pic>
      <p:sp>
        <p:nvSpPr>
          <p:cNvPr id="16" name="Shape 8"/>
          <p:cNvSpPr/>
          <p:nvPr/>
        </p:nvSpPr>
        <p:spPr>
          <a:xfrm>
            <a:off x="9311335" y="1737360"/>
            <a:ext cx="685800" cy="685800"/>
          </a:xfrm>
          <a:prstGeom prst="ellipse">
            <a:avLst/>
          </a:prstGeom>
          <a:solidFill>
            <a:schemeClr val="accent4"/>
          </a:solidFill>
          <a:ln w="15875">
            <a:solidFill>
              <a:schemeClr val="accent1"/>
            </a:solidFill>
            <a:prstDash val="solid"/>
          </a:ln>
        </p:spPr>
      </p:sp>
      <p:pic>
        <p:nvPicPr>
          <p:cNvPr id="17" name="Image 6" descr="Symbol Eye">    </p:cNvPr>
          <p:cNvPicPr>
            <a:picLocks noChangeAspect="1"/>
          </p:cNvPicPr>
          <p:nvPr/>
        </p:nvPicPr>
        <p:blipFill>
          <a:blip r:embed="rId7"/>
          <a:stretch>
            <a:fillRect/>
          </a:stretch>
        </p:blipFill>
        <p:spPr>
          <a:xfrm>
            <a:off x="9462211" y="1888236"/>
            <a:ext cx="384048" cy="384048"/>
          </a:xfrm>
          <a:prstGeom prst="rect">
            <a:avLst/>
          </a:prstGeom>
        </p:spPr>
      </p:pic>
      <p:sp>
        <p:nvSpPr>
          <p:cNvPr id="18" name="Text 9"/>
          <p:cNvSpPr txBox="1"/>
          <p:nvPr/>
        </p:nvSpPr>
        <p:spPr>
          <a:xfrm>
            <a:off x="9311335" y="2606040"/>
            <a:ext cx="2331720" cy="132588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4  Täuschen</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Das Gemälde wirkt auf den ersten Blick wie ein Foto.</a:t>
            </a:r>
            <a:endParaRPr lang="en-US" sz="1700" dirty="0"/>
          </a:p>
        </p:txBody>
      </p:sp>
      <p:sp>
        <p:nvSpPr>
          <p:cNvPr id="19" name="Shape 10"/>
          <p:cNvSpPr/>
          <p:nvPr/>
        </p:nvSpPr>
        <p:spPr>
          <a:xfrm>
            <a:off x="548640" y="4160520"/>
            <a:ext cx="11094415" cy="2011680"/>
          </a:xfrm>
          <a:prstGeom prst="rect">
            <a:avLst/>
          </a:prstGeom>
          <a:solidFill>
            <a:schemeClr val="tx2"/>
          </a:solidFill>
          <a:ln w="12700">
            <a:solidFill>
              <a:schemeClr val="tx2"/>
            </a:solidFill>
            <a:prstDash val="solid"/>
          </a:ln>
        </p:spPr>
      </p:sp>
      <p:sp>
        <p:nvSpPr>
          <p:cNvPr id="20" name="Text 11"/>
          <p:cNvSpPr txBox="1"/>
          <p:nvPr/>
        </p:nvSpPr>
        <p:spPr>
          <a:xfrm>
            <a:off x="822960" y="4343400"/>
            <a:ext cx="10545775"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Definition nach Louis K. Meisel (1980) – ein Fotorealist …</a:t>
            </a:r>
            <a:endParaRPr lang="en-US" sz="1500" dirty="0"/>
          </a:p>
        </p:txBody>
      </p:sp>
      <p:sp>
        <p:nvSpPr>
          <p:cNvPr id="21" name="Text 12"/>
          <p:cNvSpPr txBox="1"/>
          <p:nvPr/>
        </p:nvSpPr>
        <p:spPr>
          <a:xfrm>
            <a:off x="822960" y="4800600"/>
            <a:ext cx="4998568" cy="123444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Arial" pitchFamily="34" charset="0"/>
                <a:ea typeface="Arial" pitchFamily="34" charset="-122"/>
                <a:cs typeface="Arial" pitchFamily="34" charset="-120"/>
              </a:rPr>
              <a:t>1   nutzt Kamera und Foto, um Bildinformationen zu sammeln,</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2   überträgt sie mechanisch oder halbmechanisch auf die Leinwand,</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3   hat das technische Können, das Werk fotografisch wirken zu lassen,</a:t>
            </a:r>
            <a:endParaRPr lang="en-US" sz="1400" dirty="0"/>
          </a:p>
        </p:txBody>
      </p:sp>
      <p:sp>
        <p:nvSpPr>
          <p:cNvPr id="22" name="Text 13"/>
          <p:cNvSpPr txBox="1"/>
          <p:nvPr/>
        </p:nvSpPr>
        <p:spPr>
          <a:xfrm>
            <a:off x="6370168" y="4800600"/>
            <a:ext cx="4998568" cy="1234440"/>
          </a:xfrm>
          <a:prstGeom prst="rect">
            <a:avLst/>
          </a:prstGeom>
          <a:noFill/>
          <a:ln/>
        </p:spPr>
        <p:txBody>
          <a:bodyPr wrap="square" lIns="0" tIns="0" rIns="0" bIns="0" rtlCol="0" anchor="t"/>
          <a:lstStyle/>
          <a:p>
            <a:pPr indent="0" marL="0">
              <a:spcAft>
                <a:spcPts val="600"/>
              </a:spcAft>
              <a:buNone/>
            </a:pPr>
            <a:r>
              <a:rPr lang="en-US" sz="1400" dirty="0">
                <a:solidFill>
                  <a:schemeClr val="bg1"/>
                </a:solidFill>
                <a:latin typeface="Arial" pitchFamily="34" charset="0"/>
                <a:ea typeface="Arial" pitchFamily="34" charset="-122"/>
                <a:cs typeface="Arial" pitchFamily="34" charset="-120"/>
              </a:rPr>
              <a:t>4   hat bis 1972 als Fotorealist ausgestellt,</a:t>
            </a:r>
            <a:endParaRPr lang="en-US" sz="1400" dirty="0"/>
          </a:p>
          <a:p>
            <a:pPr indent="0" marL="0">
              <a:spcAft>
                <a:spcPts val="600"/>
              </a:spcAft>
              <a:buNone/>
            </a:pPr>
            <a:r>
              <a:rPr lang="en-US" sz="1400" dirty="0">
                <a:solidFill>
                  <a:schemeClr val="bg1"/>
                </a:solidFill>
                <a:latin typeface="Arial" pitchFamily="34" charset="0"/>
                <a:ea typeface="Arial" pitchFamily="34" charset="-122"/>
                <a:cs typeface="Arial" pitchFamily="34" charset="-120"/>
              </a:rPr>
              <a:t>5   hat mindestens fünf Jahre fotorealistisch gearbeitet.</a:t>
            </a:r>
            <a:endParaRPr lang="en-US" sz="14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03 · MOTIVE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Das Alltägliche wird bildwürdig</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Shape 3"/>
          <p:cNvSpPr/>
          <p:nvPr/>
        </p:nvSpPr>
        <p:spPr>
          <a:xfrm>
            <a:off x="777240" y="1965960"/>
            <a:ext cx="566928" cy="566928"/>
          </a:xfrm>
          <a:prstGeom prst="ellipse">
            <a:avLst/>
          </a:prstGeom>
          <a:solidFill>
            <a:schemeClr val="accent4"/>
          </a:solidFill>
          <a:ln w="15875">
            <a:solidFill>
              <a:schemeClr val="accent1"/>
            </a:solidFill>
            <a:prstDash val="solid"/>
          </a:ln>
        </p:spPr>
      </p:sp>
      <p:pic>
        <p:nvPicPr>
          <p:cNvPr id="6" name="Image 0" descr="Symbol BuildingSkyscraper">    </p:cNvPr>
          <p:cNvPicPr>
            <a:picLocks noChangeAspect="1"/>
          </p:cNvPicPr>
          <p:nvPr/>
        </p:nvPicPr>
        <p:blipFill>
          <a:blip r:embed="rId1"/>
          <a:stretch>
            <a:fillRect/>
          </a:stretch>
        </p:blipFill>
        <p:spPr>
          <a:xfrm>
            <a:off x="901964" y="2090684"/>
            <a:ext cx="317480" cy="317480"/>
          </a:xfrm>
          <a:prstGeom prst="rect">
            <a:avLst/>
          </a:prstGeom>
        </p:spPr>
      </p:pic>
      <p:sp>
        <p:nvSpPr>
          <p:cNvPr id="7" name="Text 4"/>
          <p:cNvSpPr txBox="1"/>
          <p:nvPr/>
        </p:nvSpPr>
        <p:spPr>
          <a:xfrm>
            <a:off x="1508760"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Stadt &amp; Schaufenster</a:t>
            </a:r>
            <a:endParaRPr lang="en-US" sz="1700" dirty="0"/>
          </a:p>
        </p:txBody>
      </p:sp>
      <p:sp>
        <p:nvSpPr>
          <p:cNvPr id="8" name="Text 5"/>
          <p:cNvSpPr txBox="1"/>
          <p:nvPr/>
        </p:nvSpPr>
        <p:spPr>
          <a:xfrm>
            <a:off x="777240"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Spiegelungen in Glas, Chrom und Lack</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Richard Estes, Don Eddy</a:t>
            </a:r>
            <a:endParaRPr lang="en-US" sz="1500" dirty="0"/>
          </a:p>
        </p:txBody>
      </p:sp>
      <p:sp>
        <p:nvSpPr>
          <p:cNvPr id="9"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10" name="Shape 7"/>
          <p:cNvSpPr/>
          <p:nvPr/>
        </p:nvSpPr>
        <p:spPr>
          <a:xfrm>
            <a:off x="4564228" y="1965960"/>
            <a:ext cx="566928" cy="566928"/>
          </a:xfrm>
          <a:prstGeom prst="ellipse">
            <a:avLst/>
          </a:prstGeom>
          <a:solidFill>
            <a:schemeClr val="accent4"/>
          </a:solidFill>
          <a:ln w="15875">
            <a:solidFill>
              <a:schemeClr val="accent1"/>
            </a:solidFill>
            <a:prstDash val="solid"/>
          </a:ln>
        </p:spPr>
      </p:sp>
      <p:pic>
        <p:nvPicPr>
          <p:cNvPr id="11" name="Image 1" descr="Symbol Car">    </p:cNvPr>
          <p:cNvPicPr>
            <a:picLocks noChangeAspect="1"/>
          </p:cNvPicPr>
          <p:nvPr/>
        </p:nvPicPr>
        <p:blipFill>
          <a:blip r:embed="rId2"/>
          <a:stretch>
            <a:fillRect/>
          </a:stretch>
        </p:blipFill>
        <p:spPr>
          <a:xfrm>
            <a:off x="4688952" y="2090684"/>
            <a:ext cx="317480" cy="317480"/>
          </a:xfrm>
          <a:prstGeom prst="rect">
            <a:avLst/>
          </a:prstGeom>
        </p:spPr>
      </p:pic>
      <p:sp>
        <p:nvSpPr>
          <p:cNvPr id="12" name="Text 8"/>
          <p:cNvSpPr txBox="1"/>
          <p:nvPr/>
        </p:nvSpPr>
        <p:spPr>
          <a:xfrm>
            <a:off x="5295748"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Autos &amp; Motorräder</a:t>
            </a:r>
            <a:endParaRPr lang="en-US" sz="1700" dirty="0"/>
          </a:p>
        </p:txBody>
      </p:sp>
      <p:sp>
        <p:nvSpPr>
          <p:cNvPr id="13" name="Text 9"/>
          <p:cNvSpPr txBox="1"/>
          <p:nvPr/>
        </p:nvSpPr>
        <p:spPr>
          <a:xfrm>
            <a:off x="4564228"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Symbole des „American Way of Life“</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Robert Bechtle, Tom Blackwell</a:t>
            </a:r>
            <a:endParaRPr lang="en-US" sz="1500" dirty="0"/>
          </a:p>
        </p:txBody>
      </p:sp>
      <p:sp>
        <p:nvSpPr>
          <p:cNvPr id="14"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5" name="Shape 11"/>
          <p:cNvSpPr/>
          <p:nvPr/>
        </p:nvSpPr>
        <p:spPr>
          <a:xfrm>
            <a:off x="8351215" y="1965960"/>
            <a:ext cx="566928" cy="566928"/>
          </a:xfrm>
          <a:prstGeom prst="ellipse">
            <a:avLst/>
          </a:prstGeom>
          <a:solidFill>
            <a:schemeClr val="accent4"/>
          </a:solidFill>
          <a:ln w="15875">
            <a:solidFill>
              <a:schemeClr val="accent1"/>
            </a:solidFill>
            <a:prstDash val="solid"/>
          </a:ln>
        </p:spPr>
      </p:sp>
      <p:pic>
        <p:nvPicPr>
          <p:cNvPr id="16" name="Image 2" descr="Symbol ToolsKitchen2">    </p:cNvPr>
          <p:cNvPicPr>
            <a:picLocks noChangeAspect="1"/>
          </p:cNvPicPr>
          <p:nvPr/>
        </p:nvPicPr>
        <p:blipFill>
          <a:blip r:embed="rId3"/>
          <a:stretch>
            <a:fillRect/>
          </a:stretch>
        </p:blipFill>
        <p:spPr>
          <a:xfrm>
            <a:off x="8475939" y="2090684"/>
            <a:ext cx="317480" cy="317480"/>
          </a:xfrm>
          <a:prstGeom prst="rect">
            <a:avLst/>
          </a:prstGeom>
        </p:spPr>
      </p:pic>
      <p:sp>
        <p:nvSpPr>
          <p:cNvPr id="17" name="Text 12"/>
          <p:cNvSpPr txBox="1"/>
          <p:nvPr/>
        </p:nvSpPr>
        <p:spPr>
          <a:xfrm>
            <a:off x="9082735" y="1965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Diner &amp; Imbiss</a:t>
            </a:r>
            <a:endParaRPr lang="en-US" sz="1700" dirty="0"/>
          </a:p>
        </p:txBody>
      </p:sp>
      <p:sp>
        <p:nvSpPr>
          <p:cNvPr id="18" name="Text 13"/>
          <p:cNvSpPr txBox="1"/>
          <p:nvPr/>
        </p:nvSpPr>
        <p:spPr>
          <a:xfrm>
            <a:off x="8351215" y="2651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Theken, Ketchup, Kaffeetassen</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Ralph Goings</a:t>
            </a:r>
            <a:endParaRPr lang="en-US" sz="1500" dirty="0"/>
          </a:p>
        </p:txBody>
      </p:sp>
      <p:sp>
        <p:nvSpPr>
          <p:cNvPr id="19"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20" name="Shape 15"/>
          <p:cNvSpPr/>
          <p:nvPr/>
        </p:nvSpPr>
        <p:spPr>
          <a:xfrm>
            <a:off x="777240" y="4251960"/>
            <a:ext cx="566928" cy="566928"/>
          </a:xfrm>
          <a:prstGeom prst="ellipse">
            <a:avLst/>
          </a:prstGeom>
          <a:solidFill>
            <a:schemeClr val="accent4"/>
          </a:solidFill>
          <a:ln w="15875">
            <a:solidFill>
              <a:schemeClr val="accent1"/>
            </a:solidFill>
            <a:prstDash val="solid"/>
          </a:ln>
        </p:spPr>
      </p:sp>
      <p:pic>
        <p:nvPicPr>
          <p:cNvPr id="21" name="Image 3" descr="Symbol User">    </p:cNvPr>
          <p:cNvPicPr>
            <a:picLocks noChangeAspect="1"/>
          </p:cNvPicPr>
          <p:nvPr/>
        </p:nvPicPr>
        <p:blipFill>
          <a:blip r:embed="rId4"/>
          <a:stretch>
            <a:fillRect/>
          </a:stretch>
        </p:blipFill>
        <p:spPr>
          <a:xfrm>
            <a:off x="901964" y="4376684"/>
            <a:ext cx="317480" cy="317480"/>
          </a:xfrm>
          <a:prstGeom prst="rect">
            <a:avLst/>
          </a:prstGeom>
        </p:spPr>
      </p:pic>
      <p:sp>
        <p:nvSpPr>
          <p:cNvPr id="22" name="Text 16"/>
          <p:cNvSpPr txBox="1"/>
          <p:nvPr/>
        </p:nvSpPr>
        <p:spPr>
          <a:xfrm>
            <a:off x="1508760"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Porträts</a:t>
            </a:r>
            <a:endParaRPr lang="en-US" sz="1700" dirty="0"/>
          </a:p>
        </p:txBody>
      </p:sp>
      <p:sp>
        <p:nvSpPr>
          <p:cNvPr id="23" name="Text 17"/>
          <p:cNvSpPr txBox="1"/>
          <p:nvPr/>
        </p:nvSpPr>
        <p:spPr>
          <a:xfrm>
            <a:off x="777240"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Gesichter im Riesenformat</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Chuck Close, Franz Gertsch</a:t>
            </a:r>
            <a:endParaRPr lang="en-US" sz="1500" dirty="0"/>
          </a:p>
        </p:txBody>
      </p:sp>
      <p:sp>
        <p:nvSpPr>
          <p:cNvPr id="24"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5" name="Shape 19"/>
          <p:cNvSpPr/>
          <p:nvPr/>
        </p:nvSpPr>
        <p:spPr>
          <a:xfrm>
            <a:off x="4564228" y="4251960"/>
            <a:ext cx="566928" cy="566928"/>
          </a:xfrm>
          <a:prstGeom prst="ellipse">
            <a:avLst/>
          </a:prstGeom>
          <a:solidFill>
            <a:schemeClr val="accent4"/>
          </a:solidFill>
          <a:ln w="15875">
            <a:solidFill>
              <a:schemeClr val="accent1"/>
            </a:solidFill>
            <a:prstDash val="solid"/>
          </a:ln>
        </p:spPr>
      </p:sp>
      <p:pic>
        <p:nvPicPr>
          <p:cNvPr id="26" name="Image 4" descr="Symbol Candy">    </p:cNvPr>
          <p:cNvPicPr>
            <a:picLocks noChangeAspect="1"/>
          </p:cNvPicPr>
          <p:nvPr/>
        </p:nvPicPr>
        <p:blipFill>
          <a:blip r:embed="rId5"/>
          <a:stretch>
            <a:fillRect/>
          </a:stretch>
        </p:blipFill>
        <p:spPr>
          <a:xfrm>
            <a:off x="4688952" y="4376684"/>
            <a:ext cx="317480" cy="317480"/>
          </a:xfrm>
          <a:prstGeom prst="rect">
            <a:avLst/>
          </a:prstGeom>
        </p:spPr>
      </p:pic>
      <p:sp>
        <p:nvSpPr>
          <p:cNvPr id="27" name="Text 20"/>
          <p:cNvSpPr txBox="1"/>
          <p:nvPr/>
        </p:nvSpPr>
        <p:spPr>
          <a:xfrm>
            <a:off x="5295748"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Konsum &amp; Stillleben</a:t>
            </a:r>
            <a:endParaRPr lang="en-US" sz="1700" dirty="0"/>
          </a:p>
        </p:txBody>
      </p:sp>
      <p:sp>
        <p:nvSpPr>
          <p:cNvPr id="28" name="Text 21"/>
          <p:cNvSpPr txBox="1"/>
          <p:nvPr/>
        </p:nvSpPr>
        <p:spPr>
          <a:xfrm>
            <a:off x="4564228"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Kaugummiautomaten, Spielzeug, Vanitas</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Audrey Flack, Charles Bell</a:t>
            </a:r>
            <a:endParaRPr lang="en-US" sz="1500" dirty="0"/>
          </a:p>
        </p:txBody>
      </p:sp>
      <p:sp>
        <p:nvSpPr>
          <p:cNvPr id="29"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30" name="Shape 23"/>
          <p:cNvSpPr/>
          <p:nvPr/>
        </p:nvSpPr>
        <p:spPr>
          <a:xfrm>
            <a:off x="8351215" y="4251960"/>
            <a:ext cx="566928" cy="566928"/>
          </a:xfrm>
          <a:prstGeom prst="ellipse">
            <a:avLst/>
          </a:prstGeom>
          <a:solidFill>
            <a:schemeClr val="accent4"/>
          </a:solidFill>
          <a:ln w="15875">
            <a:solidFill>
              <a:schemeClr val="accent1"/>
            </a:solidFill>
            <a:prstDash val="solid"/>
          </a:ln>
        </p:spPr>
      </p:sp>
      <p:pic>
        <p:nvPicPr>
          <p:cNvPr id="31" name="Image 5" descr="Symbol Man">    </p:cNvPr>
          <p:cNvPicPr>
            <a:picLocks noChangeAspect="1"/>
          </p:cNvPicPr>
          <p:nvPr/>
        </p:nvPicPr>
        <p:blipFill>
          <a:blip r:embed="rId6"/>
          <a:stretch>
            <a:fillRect/>
          </a:stretch>
        </p:blipFill>
        <p:spPr>
          <a:xfrm>
            <a:off x="8475939" y="4376684"/>
            <a:ext cx="317480" cy="317480"/>
          </a:xfrm>
          <a:prstGeom prst="rect">
            <a:avLst/>
          </a:prstGeom>
        </p:spPr>
      </p:pic>
      <p:sp>
        <p:nvSpPr>
          <p:cNvPr id="32" name="Text 24"/>
          <p:cNvSpPr txBox="1"/>
          <p:nvPr/>
        </p:nvSpPr>
        <p:spPr>
          <a:xfrm>
            <a:off x="9082735" y="4251960"/>
            <a:ext cx="2377440" cy="566928"/>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Mensch &amp; Körper</a:t>
            </a:r>
            <a:endParaRPr lang="en-US" sz="1700" dirty="0"/>
          </a:p>
        </p:txBody>
      </p:sp>
      <p:sp>
        <p:nvSpPr>
          <p:cNvPr id="33" name="Text 25"/>
          <p:cNvSpPr txBox="1"/>
          <p:nvPr/>
        </p:nvSpPr>
        <p:spPr>
          <a:xfrm>
            <a:off x="8351215" y="4937760"/>
            <a:ext cx="3063240" cy="1005840"/>
          </a:xfrm>
          <a:prstGeom prst="rect">
            <a:avLst/>
          </a:prstGeom>
          <a:noFill/>
          <a:ln/>
        </p:spPr>
        <p:txBody>
          <a:bodyPr wrap="square" lIns="0" tIns="0" rIns="0" bIns="0" rtlCol="0" anchor="t"/>
          <a:lstStyle/>
          <a:p>
            <a:pPr indent="0" marL="0">
              <a:spcAft>
                <a:spcPts val="400"/>
              </a:spcAft>
              <a:buNone/>
            </a:pPr>
            <a:r>
              <a:rPr lang="en-US" sz="1500" dirty="0">
                <a:solidFill>
                  <a:schemeClr val="bg2"/>
                </a:solidFill>
                <a:latin typeface="Arial" pitchFamily="34" charset="0"/>
                <a:ea typeface="Arial" pitchFamily="34" charset="-122"/>
                <a:cs typeface="Arial" pitchFamily="34" charset="-120"/>
              </a:rPr>
              <a:t>lebensechte Figuren, Haut, Wasser</a:t>
            </a:r>
            <a:endParaRPr lang="en-US" sz="1500" dirty="0"/>
          </a:p>
          <a:p>
            <a:pPr indent="0" marL="0">
              <a:spcAft>
                <a:spcPts val="400"/>
              </a:spcAft>
              <a:buNone/>
            </a:pPr>
            <a:r>
              <a:rPr lang="en-US" sz="1500" b="1" dirty="0">
                <a:solidFill>
                  <a:schemeClr val="accent1"/>
                </a:solidFill>
                <a:latin typeface="Arial" pitchFamily="34" charset="0"/>
                <a:ea typeface="Arial" pitchFamily="34" charset="-122"/>
                <a:cs typeface="Arial" pitchFamily="34" charset="-120"/>
              </a:rPr>
              <a:t>Duane Hanson, Ron Mueck</a:t>
            </a:r>
            <a:endParaRPr lang="en-US" sz="15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04 · HAUPTVERTRETER</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Hauptvertreter des Fotorealismus</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Text 3"/>
          <p:cNvSpPr txBox="1"/>
          <p:nvPr/>
        </p:nvSpPr>
        <p:spPr>
          <a:xfrm>
            <a:off x="822960"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Richard Estes</a:t>
            </a:r>
            <a:endParaRPr lang="en-US" sz="2000" dirty="0"/>
          </a:p>
        </p:txBody>
      </p:sp>
      <p:sp>
        <p:nvSpPr>
          <p:cNvPr id="6" name="Text 4"/>
          <p:cNvSpPr txBox="1"/>
          <p:nvPr/>
        </p:nvSpPr>
        <p:spPr>
          <a:xfrm>
            <a:off x="822960"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 1932 · USA</a:t>
            </a:r>
            <a:endParaRPr lang="en-US" sz="1300" dirty="0"/>
          </a:p>
        </p:txBody>
      </p:sp>
      <p:sp>
        <p:nvSpPr>
          <p:cNvPr id="7" name="Text 5"/>
          <p:cNvSpPr txBox="1"/>
          <p:nvPr/>
        </p:nvSpPr>
        <p:spPr>
          <a:xfrm>
            <a:off x="822960"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Stadtansichten New Yorks mit Spiegelungen in Glas und Chrom</a:t>
            </a:r>
            <a:endParaRPr lang="en-US" sz="1600" dirty="0"/>
          </a:p>
        </p:txBody>
      </p:sp>
      <p:sp>
        <p:nvSpPr>
          <p:cNvPr id="8"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9" name="Text 7"/>
          <p:cNvSpPr txBox="1"/>
          <p:nvPr/>
        </p:nvSpPr>
        <p:spPr>
          <a:xfrm>
            <a:off x="4609948"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Chuck Close</a:t>
            </a:r>
            <a:endParaRPr lang="en-US" sz="2000" dirty="0"/>
          </a:p>
        </p:txBody>
      </p:sp>
      <p:sp>
        <p:nvSpPr>
          <p:cNvPr id="10" name="Text 8"/>
          <p:cNvSpPr txBox="1"/>
          <p:nvPr/>
        </p:nvSpPr>
        <p:spPr>
          <a:xfrm>
            <a:off x="4609948"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1940–2021 · USA</a:t>
            </a:r>
            <a:endParaRPr lang="en-US" sz="1300" dirty="0"/>
          </a:p>
        </p:txBody>
      </p:sp>
      <p:sp>
        <p:nvSpPr>
          <p:cNvPr id="11" name="Text 9"/>
          <p:cNvSpPr txBox="1"/>
          <p:nvPr/>
        </p:nvSpPr>
        <p:spPr>
          <a:xfrm>
            <a:off x="4609948"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Monumentale Porträts, im Raster übertragen</a:t>
            </a:r>
            <a:endParaRPr lang="en-US" sz="1600" dirty="0"/>
          </a:p>
        </p:txBody>
      </p:sp>
      <p:sp>
        <p:nvSpPr>
          <p:cNvPr id="12"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3" name="Text 11"/>
          <p:cNvSpPr txBox="1"/>
          <p:nvPr/>
        </p:nvSpPr>
        <p:spPr>
          <a:xfrm>
            <a:off x="8396935"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Ralph Goings</a:t>
            </a:r>
            <a:endParaRPr lang="en-US" sz="2000" dirty="0"/>
          </a:p>
        </p:txBody>
      </p:sp>
      <p:sp>
        <p:nvSpPr>
          <p:cNvPr id="14" name="Text 12"/>
          <p:cNvSpPr txBox="1"/>
          <p:nvPr/>
        </p:nvSpPr>
        <p:spPr>
          <a:xfrm>
            <a:off x="8396935" y="2395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1928–2016 · USA</a:t>
            </a:r>
            <a:endParaRPr lang="en-US" sz="1300" dirty="0"/>
          </a:p>
        </p:txBody>
      </p:sp>
      <p:sp>
        <p:nvSpPr>
          <p:cNvPr id="15" name="Text 13"/>
          <p:cNvSpPr txBox="1"/>
          <p:nvPr/>
        </p:nvSpPr>
        <p:spPr>
          <a:xfrm>
            <a:off x="8396935"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Diner, Pick-ups und Stillleben vom Imbisstisch</a:t>
            </a:r>
            <a:endParaRPr lang="en-US" sz="1600" dirty="0"/>
          </a:p>
        </p:txBody>
      </p:sp>
      <p:sp>
        <p:nvSpPr>
          <p:cNvPr id="16"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17" name="Text 15"/>
          <p:cNvSpPr txBox="1"/>
          <p:nvPr/>
        </p:nvSpPr>
        <p:spPr>
          <a:xfrm>
            <a:off x="822960"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Audrey Flack</a:t>
            </a:r>
            <a:endParaRPr lang="en-US" sz="2000" dirty="0"/>
          </a:p>
        </p:txBody>
      </p:sp>
      <p:sp>
        <p:nvSpPr>
          <p:cNvPr id="18" name="Text 16"/>
          <p:cNvSpPr txBox="1"/>
          <p:nvPr/>
        </p:nvSpPr>
        <p:spPr>
          <a:xfrm>
            <a:off x="822960"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1931–2024 · USA</a:t>
            </a:r>
            <a:endParaRPr lang="en-US" sz="1300" dirty="0"/>
          </a:p>
        </p:txBody>
      </p:sp>
      <p:sp>
        <p:nvSpPr>
          <p:cNvPr id="19" name="Text 17"/>
          <p:cNvSpPr txBox="1"/>
          <p:nvPr/>
        </p:nvSpPr>
        <p:spPr>
          <a:xfrm>
            <a:off x="822960"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Pionierin des Fotorealismus; Vanitas-Stillleben mit Airbrush</a:t>
            </a:r>
            <a:endParaRPr lang="en-US" sz="1600" dirty="0"/>
          </a:p>
        </p:txBody>
      </p:sp>
      <p:sp>
        <p:nvSpPr>
          <p:cNvPr id="20"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1" name="Text 19"/>
          <p:cNvSpPr txBox="1"/>
          <p:nvPr/>
        </p:nvSpPr>
        <p:spPr>
          <a:xfrm>
            <a:off x="4609948"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Robert Bechtle</a:t>
            </a:r>
            <a:endParaRPr lang="en-US" sz="2000" dirty="0"/>
          </a:p>
        </p:txBody>
      </p:sp>
      <p:sp>
        <p:nvSpPr>
          <p:cNvPr id="22" name="Text 20"/>
          <p:cNvSpPr txBox="1"/>
          <p:nvPr/>
        </p:nvSpPr>
        <p:spPr>
          <a:xfrm>
            <a:off x="4609948"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1932–2020 · USA</a:t>
            </a:r>
            <a:endParaRPr lang="en-US" sz="1300" dirty="0"/>
          </a:p>
        </p:txBody>
      </p:sp>
      <p:sp>
        <p:nvSpPr>
          <p:cNvPr id="23" name="Text 21"/>
          <p:cNvSpPr txBox="1"/>
          <p:nvPr/>
        </p:nvSpPr>
        <p:spPr>
          <a:xfrm>
            <a:off x="4609948"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Kalifornische Vorstadt: Autos, Häuser, Familien</a:t>
            </a:r>
            <a:endParaRPr lang="en-US" sz="1600" dirty="0"/>
          </a:p>
        </p:txBody>
      </p:sp>
      <p:sp>
        <p:nvSpPr>
          <p:cNvPr id="24"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25" name="Text 23"/>
          <p:cNvSpPr txBox="1"/>
          <p:nvPr/>
        </p:nvSpPr>
        <p:spPr>
          <a:xfrm>
            <a:off x="8396935"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Franz Gertsch</a:t>
            </a:r>
            <a:endParaRPr lang="en-US" sz="2000" dirty="0"/>
          </a:p>
        </p:txBody>
      </p:sp>
      <p:sp>
        <p:nvSpPr>
          <p:cNvPr id="26" name="Text 24"/>
          <p:cNvSpPr txBox="1"/>
          <p:nvPr/>
        </p:nvSpPr>
        <p:spPr>
          <a:xfrm>
            <a:off x="8396935" y="4681728"/>
            <a:ext cx="2971800" cy="27432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1930–2022 · Schweiz</a:t>
            </a:r>
            <a:endParaRPr lang="en-US" sz="1300" dirty="0"/>
          </a:p>
        </p:txBody>
      </p:sp>
      <p:sp>
        <p:nvSpPr>
          <p:cNvPr id="27" name="Text 25"/>
          <p:cNvSpPr txBox="1"/>
          <p:nvPr/>
        </p:nvSpPr>
        <p:spPr>
          <a:xfrm>
            <a:off x="8396935"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Bedeutendster europäischer Fotorealist; riesige Porträts</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04 · HAUPTVERTRETER</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Hauptvertreter des Hyperrealismus</a:t>
            </a:r>
            <a:endParaRPr lang="en-US" sz="3200" dirty="0"/>
          </a:p>
        </p:txBody>
      </p:sp>
      <p:sp>
        <p:nvSpPr>
          <p:cNvPr id="4" name="Shape 2"/>
          <p:cNvSpPr/>
          <p:nvPr/>
        </p:nvSpPr>
        <p:spPr>
          <a:xfrm>
            <a:off x="548640" y="1737360"/>
            <a:ext cx="3520440" cy="2011680"/>
          </a:xfrm>
          <a:prstGeom prst="rect">
            <a:avLst/>
          </a:prstGeom>
          <a:solidFill>
            <a:schemeClr val="tx2"/>
          </a:solidFill>
          <a:ln w="12700">
            <a:solidFill>
              <a:schemeClr val="tx2"/>
            </a:solidFill>
            <a:prstDash val="solid"/>
          </a:ln>
        </p:spPr>
      </p:sp>
      <p:sp>
        <p:nvSpPr>
          <p:cNvPr id="5" name="Text 3"/>
          <p:cNvSpPr txBox="1"/>
          <p:nvPr/>
        </p:nvSpPr>
        <p:spPr>
          <a:xfrm>
            <a:off x="822960"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Duane Hanson</a:t>
            </a:r>
            <a:endParaRPr lang="en-US" sz="2000" dirty="0"/>
          </a:p>
        </p:txBody>
      </p:sp>
      <p:sp>
        <p:nvSpPr>
          <p:cNvPr id="6" name="Text 4"/>
          <p:cNvSpPr txBox="1"/>
          <p:nvPr/>
        </p:nvSpPr>
        <p:spPr>
          <a:xfrm>
            <a:off x="822960"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1925–1996 · USA</a:t>
            </a:r>
            <a:endParaRPr lang="en-US" sz="1300" dirty="0"/>
          </a:p>
        </p:txBody>
      </p:sp>
      <p:sp>
        <p:nvSpPr>
          <p:cNvPr id="7" name="Text 5"/>
          <p:cNvSpPr txBox="1"/>
          <p:nvPr/>
        </p:nvSpPr>
        <p:spPr>
          <a:xfrm>
            <a:off x="822960"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Lebensgroße Figuren aus Polyester mit echter Kleidung</a:t>
            </a:r>
            <a:endParaRPr lang="en-US" sz="1600" dirty="0"/>
          </a:p>
        </p:txBody>
      </p:sp>
      <p:sp>
        <p:nvSpPr>
          <p:cNvPr id="8" name="Shape 6"/>
          <p:cNvSpPr/>
          <p:nvPr/>
        </p:nvSpPr>
        <p:spPr>
          <a:xfrm>
            <a:off x="4335628" y="1737360"/>
            <a:ext cx="3520440" cy="2011680"/>
          </a:xfrm>
          <a:prstGeom prst="rect">
            <a:avLst/>
          </a:prstGeom>
          <a:solidFill>
            <a:schemeClr val="tx2"/>
          </a:solidFill>
          <a:ln w="12700">
            <a:solidFill>
              <a:schemeClr val="tx2"/>
            </a:solidFill>
            <a:prstDash val="solid"/>
          </a:ln>
        </p:spPr>
      </p:sp>
      <p:sp>
        <p:nvSpPr>
          <p:cNvPr id="9" name="Text 7"/>
          <p:cNvSpPr txBox="1"/>
          <p:nvPr/>
        </p:nvSpPr>
        <p:spPr>
          <a:xfrm>
            <a:off x="4609948"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John De Andrea</a:t>
            </a:r>
            <a:endParaRPr lang="en-US" sz="2000" dirty="0"/>
          </a:p>
        </p:txBody>
      </p:sp>
      <p:sp>
        <p:nvSpPr>
          <p:cNvPr id="10" name="Text 8"/>
          <p:cNvSpPr txBox="1"/>
          <p:nvPr/>
        </p:nvSpPr>
        <p:spPr>
          <a:xfrm>
            <a:off x="4609948"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1941 · USA</a:t>
            </a:r>
            <a:endParaRPr lang="en-US" sz="1300" dirty="0"/>
          </a:p>
        </p:txBody>
      </p:sp>
      <p:sp>
        <p:nvSpPr>
          <p:cNvPr id="11" name="Text 9"/>
          <p:cNvSpPr txBox="1"/>
          <p:nvPr/>
        </p:nvSpPr>
        <p:spPr>
          <a:xfrm>
            <a:off x="4609948"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Lebensechte Akt-Figuren aus bemaltem Kunststoff</a:t>
            </a:r>
            <a:endParaRPr lang="en-US" sz="1600" dirty="0"/>
          </a:p>
        </p:txBody>
      </p:sp>
      <p:sp>
        <p:nvSpPr>
          <p:cNvPr id="12" name="Shape 10"/>
          <p:cNvSpPr/>
          <p:nvPr/>
        </p:nvSpPr>
        <p:spPr>
          <a:xfrm>
            <a:off x="8122615" y="1737360"/>
            <a:ext cx="3520440" cy="2011680"/>
          </a:xfrm>
          <a:prstGeom prst="rect">
            <a:avLst/>
          </a:prstGeom>
          <a:solidFill>
            <a:schemeClr val="tx2"/>
          </a:solidFill>
          <a:ln w="12700">
            <a:solidFill>
              <a:schemeClr val="tx2"/>
            </a:solidFill>
            <a:prstDash val="solid"/>
          </a:ln>
        </p:spPr>
      </p:sp>
      <p:sp>
        <p:nvSpPr>
          <p:cNvPr id="13" name="Text 11"/>
          <p:cNvSpPr txBox="1"/>
          <p:nvPr/>
        </p:nvSpPr>
        <p:spPr>
          <a:xfrm>
            <a:off x="8396935" y="1965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Ron Mueck</a:t>
            </a:r>
            <a:endParaRPr lang="en-US" sz="2000" dirty="0"/>
          </a:p>
        </p:txBody>
      </p:sp>
      <p:sp>
        <p:nvSpPr>
          <p:cNvPr id="14" name="Text 12"/>
          <p:cNvSpPr txBox="1"/>
          <p:nvPr/>
        </p:nvSpPr>
        <p:spPr>
          <a:xfrm>
            <a:off x="8396935" y="2395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1958 · Australien</a:t>
            </a:r>
            <a:endParaRPr lang="en-US" sz="1300" dirty="0"/>
          </a:p>
        </p:txBody>
      </p:sp>
      <p:sp>
        <p:nvSpPr>
          <p:cNvPr id="15" name="Text 13"/>
          <p:cNvSpPr txBox="1"/>
          <p:nvPr/>
        </p:nvSpPr>
        <p:spPr>
          <a:xfrm>
            <a:off x="8396935" y="2743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Silikon-Skulpturen mit verschobenem Maßstab</a:t>
            </a:r>
            <a:endParaRPr lang="en-US" sz="1600" dirty="0"/>
          </a:p>
        </p:txBody>
      </p:sp>
      <p:sp>
        <p:nvSpPr>
          <p:cNvPr id="16" name="Shape 14"/>
          <p:cNvSpPr/>
          <p:nvPr/>
        </p:nvSpPr>
        <p:spPr>
          <a:xfrm>
            <a:off x="548640" y="4023360"/>
            <a:ext cx="3520440" cy="2011680"/>
          </a:xfrm>
          <a:prstGeom prst="rect">
            <a:avLst/>
          </a:prstGeom>
          <a:solidFill>
            <a:schemeClr val="tx2"/>
          </a:solidFill>
          <a:ln w="12700">
            <a:solidFill>
              <a:schemeClr val="tx2"/>
            </a:solidFill>
            <a:prstDash val="solid"/>
          </a:ln>
        </p:spPr>
      </p:sp>
      <p:sp>
        <p:nvSpPr>
          <p:cNvPr id="17" name="Text 15"/>
          <p:cNvSpPr txBox="1"/>
          <p:nvPr/>
        </p:nvSpPr>
        <p:spPr>
          <a:xfrm>
            <a:off x="822960"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Gottfried Helnwein</a:t>
            </a:r>
            <a:endParaRPr lang="en-US" sz="2000" dirty="0"/>
          </a:p>
        </p:txBody>
      </p:sp>
      <p:sp>
        <p:nvSpPr>
          <p:cNvPr id="18" name="Text 16"/>
          <p:cNvSpPr txBox="1"/>
          <p:nvPr/>
        </p:nvSpPr>
        <p:spPr>
          <a:xfrm>
            <a:off x="822960"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1948 · Österreich/Irland</a:t>
            </a:r>
            <a:endParaRPr lang="en-US" sz="1300" dirty="0"/>
          </a:p>
        </p:txBody>
      </p:sp>
      <p:sp>
        <p:nvSpPr>
          <p:cNvPr id="19" name="Text 17"/>
          <p:cNvSpPr txBox="1"/>
          <p:nvPr/>
        </p:nvSpPr>
        <p:spPr>
          <a:xfrm>
            <a:off x="822960"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Kinderbilder über Gewalt und Verletzlichkeit</a:t>
            </a:r>
            <a:endParaRPr lang="en-US" sz="1600" dirty="0"/>
          </a:p>
        </p:txBody>
      </p:sp>
      <p:sp>
        <p:nvSpPr>
          <p:cNvPr id="20" name="Shape 18"/>
          <p:cNvSpPr/>
          <p:nvPr/>
        </p:nvSpPr>
        <p:spPr>
          <a:xfrm>
            <a:off x="4335628" y="4023360"/>
            <a:ext cx="3520440" cy="2011680"/>
          </a:xfrm>
          <a:prstGeom prst="rect">
            <a:avLst/>
          </a:prstGeom>
          <a:solidFill>
            <a:schemeClr val="tx2"/>
          </a:solidFill>
          <a:ln w="12700">
            <a:solidFill>
              <a:schemeClr val="tx2"/>
            </a:solidFill>
            <a:prstDash val="solid"/>
          </a:ln>
        </p:spPr>
      </p:sp>
      <p:sp>
        <p:nvSpPr>
          <p:cNvPr id="21" name="Text 19"/>
          <p:cNvSpPr txBox="1"/>
          <p:nvPr/>
        </p:nvSpPr>
        <p:spPr>
          <a:xfrm>
            <a:off x="4609948"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Roberto Bernardi</a:t>
            </a:r>
            <a:endParaRPr lang="en-US" sz="2000" dirty="0"/>
          </a:p>
        </p:txBody>
      </p:sp>
      <p:sp>
        <p:nvSpPr>
          <p:cNvPr id="22" name="Text 20"/>
          <p:cNvSpPr txBox="1"/>
          <p:nvPr/>
        </p:nvSpPr>
        <p:spPr>
          <a:xfrm>
            <a:off x="4609948"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1974 · Italien</a:t>
            </a:r>
            <a:endParaRPr lang="en-US" sz="1300" dirty="0"/>
          </a:p>
        </p:txBody>
      </p:sp>
      <p:sp>
        <p:nvSpPr>
          <p:cNvPr id="23" name="Text 21"/>
          <p:cNvSpPr txBox="1"/>
          <p:nvPr/>
        </p:nvSpPr>
        <p:spPr>
          <a:xfrm>
            <a:off x="4609948"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Glas, Süßigkeiten und Spiegelungen – schärfer als ein Foto</a:t>
            </a:r>
            <a:endParaRPr lang="en-US" sz="1600" dirty="0"/>
          </a:p>
        </p:txBody>
      </p:sp>
      <p:sp>
        <p:nvSpPr>
          <p:cNvPr id="24" name="Shape 22"/>
          <p:cNvSpPr/>
          <p:nvPr/>
        </p:nvSpPr>
        <p:spPr>
          <a:xfrm>
            <a:off x="8122615" y="4023360"/>
            <a:ext cx="3520440" cy="2011680"/>
          </a:xfrm>
          <a:prstGeom prst="rect">
            <a:avLst/>
          </a:prstGeom>
          <a:solidFill>
            <a:schemeClr val="tx2"/>
          </a:solidFill>
          <a:ln w="12700">
            <a:solidFill>
              <a:schemeClr val="tx2"/>
            </a:solidFill>
            <a:prstDash val="solid"/>
          </a:ln>
        </p:spPr>
      </p:sp>
      <p:sp>
        <p:nvSpPr>
          <p:cNvPr id="25" name="Text 23"/>
          <p:cNvSpPr txBox="1"/>
          <p:nvPr/>
        </p:nvSpPr>
        <p:spPr>
          <a:xfrm>
            <a:off x="8396935" y="4251960"/>
            <a:ext cx="297180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Alyssa Monks</a:t>
            </a:r>
            <a:endParaRPr lang="en-US" sz="2000" dirty="0"/>
          </a:p>
        </p:txBody>
      </p:sp>
      <p:sp>
        <p:nvSpPr>
          <p:cNvPr id="26" name="Text 24"/>
          <p:cNvSpPr txBox="1"/>
          <p:nvPr/>
        </p:nvSpPr>
        <p:spPr>
          <a:xfrm>
            <a:off x="8396935" y="4681728"/>
            <a:ext cx="2971800" cy="274320"/>
          </a:xfrm>
          <a:prstGeom prst="rect">
            <a:avLst/>
          </a:prstGeom>
          <a:noFill/>
          <a:ln/>
        </p:spPr>
        <p:txBody>
          <a:bodyPr wrap="square" lIns="0" tIns="0" rIns="0" bIns="0" rtlCol="0" anchor="t"/>
          <a:lstStyle/>
          <a:p>
            <a:pPr indent="0" marL="0">
              <a:buNone/>
            </a:pPr>
            <a:r>
              <a:rPr lang="en-US" sz="1300" b="1" dirty="0">
                <a:solidFill>
                  <a:schemeClr val="accent2"/>
                </a:solidFill>
                <a:latin typeface="Arial" pitchFamily="34" charset="0"/>
                <a:ea typeface="Arial" pitchFamily="34" charset="-122"/>
                <a:cs typeface="Arial" pitchFamily="34" charset="-120"/>
              </a:rPr>
              <a:t>* 1977 · USA</a:t>
            </a:r>
            <a:endParaRPr lang="en-US" sz="1300" dirty="0"/>
          </a:p>
        </p:txBody>
      </p:sp>
      <p:sp>
        <p:nvSpPr>
          <p:cNvPr id="27" name="Text 25"/>
          <p:cNvSpPr txBox="1"/>
          <p:nvPr/>
        </p:nvSpPr>
        <p:spPr>
          <a:xfrm>
            <a:off x="8396935" y="5029200"/>
            <a:ext cx="2971800" cy="86868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Körper hinter Wasser und beschlagenem Glas</a:t>
            </a:r>
            <a:endParaRPr lang="en-US" sz="16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Pioniere: Die Vorlage wird zum Bild</a:t>
            </a:r>
            <a:endParaRPr lang="en-US" sz="3200" dirty="0"/>
          </a:p>
        </p:txBody>
      </p:sp>
      <p:sp>
        <p:nvSpPr>
          <p:cNvPr id="4" name="Bildplatzhalter morley_amsterdam"/>
          <p:cNvSpPr/>
          <p:nvPr/>
        </p:nvSpPr>
        <p:spPr>
          <a:xfrm>
            <a:off x="640080" y="1783080"/>
            <a:ext cx="4404985"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591112" y="2857500"/>
            <a:ext cx="502920" cy="502920"/>
          </a:xfrm>
          <a:prstGeom prst="rect">
            <a:avLst/>
          </a:prstGeom>
        </p:spPr>
      </p:pic>
      <p:sp>
        <p:nvSpPr>
          <p:cNvPr id="6" name="Text 3"/>
          <p:cNvSpPr txBox="1"/>
          <p:nvPr/>
        </p:nvSpPr>
        <p:spPr>
          <a:xfrm>
            <a:off x="777240" y="3424428"/>
            <a:ext cx="4130665"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Malcolm Morley: SS Amsterdam in Front of Rotterdam</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4898761" y="1691640"/>
            <a:ext cx="237744" cy="0"/>
          </a:xfrm>
          <a:prstGeom prst="line">
            <a:avLst/>
          </a:prstGeom>
          <a:noFill/>
          <a:ln w="25400">
            <a:solidFill>
              <a:schemeClr val="accent1"/>
            </a:solidFill>
            <a:prstDash val="solid"/>
          </a:ln>
        </p:spPr>
      </p:sp>
      <p:sp>
        <p:nvSpPr>
          <p:cNvPr id="10" name="Shape 7"/>
          <p:cNvSpPr/>
          <p:nvPr/>
        </p:nvSpPr>
        <p:spPr>
          <a:xfrm>
            <a:off x="5136505"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4898761" y="5120640"/>
            <a:ext cx="237744" cy="0"/>
          </a:xfrm>
          <a:prstGeom prst="line">
            <a:avLst/>
          </a:prstGeom>
          <a:noFill/>
          <a:ln w="25400">
            <a:solidFill>
              <a:schemeClr val="accent1"/>
            </a:solidFill>
            <a:prstDash val="solid"/>
          </a:ln>
        </p:spPr>
      </p:sp>
      <p:sp>
        <p:nvSpPr>
          <p:cNvPr id="14" name="Shape 11"/>
          <p:cNvSpPr/>
          <p:nvPr/>
        </p:nvSpPr>
        <p:spPr>
          <a:xfrm>
            <a:off x="5136505"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Malcolm Morley,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SS Amsterdam in Front of Rotterdam</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(Die SS Amsterdam vor Rotterdam), 1966</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157 × 213 cm · Privatsammlung</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Postkarte als Vorlage – Raster für Raster übertragen</a:t>
            </a:r>
            <a:endParaRPr lang="en-US" sz="1300" dirty="0"/>
          </a:p>
        </p:txBody>
      </p:sp>
      <p:sp>
        <p:nvSpPr>
          <p:cNvPr id="16" name="Bildplatzhalter gertsch_medici"/>
          <p:cNvSpPr/>
          <p:nvPr/>
        </p:nvSpPr>
        <p:spPr>
          <a:xfrm>
            <a:off x="6415888" y="1783080"/>
            <a:ext cx="486918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8599018" y="2857500"/>
            <a:ext cx="502920" cy="502920"/>
          </a:xfrm>
          <a:prstGeom prst="rect">
            <a:avLst/>
          </a:prstGeom>
        </p:spPr>
      </p:pic>
      <p:sp>
        <p:nvSpPr>
          <p:cNvPr id="18" name="Text 14"/>
          <p:cNvSpPr txBox="1"/>
          <p:nvPr/>
        </p:nvSpPr>
        <p:spPr>
          <a:xfrm>
            <a:off x="6553048" y="3424428"/>
            <a:ext cx="459486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Franz Gertsch: Medici</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11138764" y="1691640"/>
            <a:ext cx="237744" cy="0"/>
          </a:xfrm>
          <a:prstGeom prst="line">
            <a:avLst/>
          </a:prstGeom>
          <a:noFill/>
          <a:ln w="25400">
            <a:solidFill>
              <a:schemeClr val="accent1"/>
            </a:solidFill>
            <a:prstDash val="solid"/>
          </a:ln>
        </p:spPr>
      </p:sp>
      <p:sp>
        <p:nvSpPr>
          <p:cNvPr id="22" name="Shape 18"/>
          <p:cNvSpPr/>
          <p:nvPr/>
        </p:nvSpPr>
        <p:spPr>
          <a:xfrm>
            <a:off x="1137650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11138764" y="5120640"/>
            <a:ext cx="237744" cy="0"/>
          </a:xfrm>
          <a:prstGeom prst="line">
            <a:avLst/>
          </a:prstGeom>
          <a:noFill/>
          <a:ln w="25400">
            <a:solidFill>
              <a:schemeClr val="accent1"/>
            </a:solidFill>
            <a:prstDash val="solid"/>
          </a:ln>
        </p:spPr>
      </p:sp>
      <p:sp>
        <p:nvSpPr>
          <p:cNvPr id="26" name="Shape 22"/>
          <p:cNvSpPr/>
          <p:nvPr/>
        </p:nvSpPr>
        <p:spPr>
          <a:xfrm>
            <a:off x="1137650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Franz Gertsch,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Medici</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1971</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Dispersion auf ungrundierter Baumwolle, 400 × 600 cm · Ludwig Forum für Internationale Kunst, Aachen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Riesenformat, gezeigt auf der documenta 5 (1972)</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Amerikanischer Alltag: Auto und Schaufenster</a:t>
            </a:r>
            <a:endParaRPr lang="en-US" sz="3200" dirty="0"/>
          </a:p>
        </p:txBody>
      </p:sp>
      <p:sp>
        <p:nvSpPr>
          <p:cNvPr id="4" name="Bildplatzhalter bechtle_pontiac"/>
          <p:cNvSpPr/>
          <p:nvPr/>
        </p:nvSpPr>
        <p:spPr>
          <a:xfrm>
            <a:off x="640080" y="1783080"/>
            <a:ext cx="4544568"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660904" y="2857500"/>
            <a:ext cx="502920" cy="502920"/>
          </a:xfrm>
          <a:prstGeom prst="rect">
            <a:avLst/>
          </a:prstGeom>
        </p:spPr>
      </p:pic>
      <p:sp>
        <p:nvSpPr>
          <p:cNvPr id="6" name="Text 3"/>
          <p:cNvSpPr txBox="1"/>
          <p:nvPr/>
        </p:nvSpPr>
        <p:spPr>
          <a:xfrm>
            <a:off x="777240" y="3424428"/>
            <a:ext cx="4270248"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Robert Bechtle: '61 Pontiac</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5038344" y="1691640"/>
            <a:ext cx="237744" cy="0"/>
          </a:xfrm>
          <a:prstGeom prst="line">
            <a:avLst/>
          </a:prstGeom>
          <a:noFill/>
          <a:ln w="25400">
            <a:solidFill>
              <a:schemeClr val="accent1"/>
            </a:solidFill>
            <a:prstDash val="solid"/>
          </a:ln>
        </p:spPr>
      </p:sp>
      <p:sp>
        <p:nvSpPr>
          <p:cNvPr id="10" name="Shape 7"/>
          <p:cNvSpPr/>
          <p:nvPr/>
        </p:nvSpPr>
        <p:spPr>
          <a:xfrm>
            <a:off x="5276088"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5038344" y="5120640"/>
            <a:ext cx="237744" cy="0"/>
          </a:xfrm>
          <a:prstGeom prst="line">
            <a:avLst/>
          </a:prstGeom>
          <a:noFill/>
          <a:ln w="25400">
            <a:solidFill>
              <a:schemeClr val="accent1"/>
            </a:solidFill>
            <a:prstDash val="solid"/>
          </a:ln>
        </p:spPr>
      </p:sp>
      <p:sp>
        <p:nvSpPr>
          <p:cNvPr id="14" name="Shape 11"/>
          <p:cNvSpPr/>
          <p:nvPr/>
        </p:nvSpPr>
        <p:spPr>
          <a:xfrm>
            <a:off x="5276088"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Robert Bechtle,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'61 Pontiac</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(Pontiac von 1961), 1968–69</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152,4 × 213,4 cm · Whitney Museum of American Art, New York</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Familie vor dem Auto – wie ein Schnappschuss</a:t>
            </a:r>
            <a:endParaRPr lang="en-US" sz="1300" dirty="0"/>
          </a:p>
        </p:txBody>
      </p:sp>
      <p:sp>
        <p:nvSpPr>
          <p:cNvPr id="16" name="Bildplatzhalter eddy_shoes"/>
          <p:cNvSpPr/>
          <p:nvPr/>
        </p:nvSpPr>
        <p:spPr>
          <a:xfrm>
            <a:off x="6415888" y="1783080"/>
            <a:ext cx="3538271"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7933563" y="2857500"/>
            <a:ext cx="502920" cy="502920"/>
          </a:xfrm>
          <a:prstGeom prst="rect">
            <a:avLst/>
          </a:prstGeom>
        </p:spPr>
      </p:pic>
      <p:sp>
        <p:nvSpPr>
          <p:cNvPr id="18" name="Text 14"/>
          <p:cNvSpPr txBox="1"/>
          <p:nvPr/>
        </p:nvSpPr>
        <p:spPr>
          <a:xfrm>
            <a:off x="6553048" y="3424428"/>
            <a:ext cx="3263951"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Don Eddy: New Shoes for H</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9807854" y="1691640"/>
            <a:ext cx="237744" cy="0"/>
          </a:xfrm>
          <a:prstGeom prst="line">
            <a:avLst/>
          </a:prstGeom>
          <a:noFill/>
          <a:ln w="25400">
            <a:solidFill>
              <a:schemeClr val="accent1"/>
            </a:solidFill>
            <a:prstDash val="solid"/>
          </a:ln>
        </p:spPr>
      </p:sp>
      <p:sp>
        <p:nvSpPr>
          <p:cNvPr id="22" name="Shape 18"/>
          <p:cNvSpPr/>
          <p:nvPr/>
        </p:nvSpPr>
        <p:spPr>
          <a:xfrm>
            <a:off x="1004559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9807854" y="5120640"/>
            <a:ext cx="237744" cy="0"/>
          </a:xfrm>
          <a:prstGeom prst="line">
            <a:avLst/>
          </a:prstGeom>
          <a:noFill/>
          <a:ln w="25400">
            <a:solidFill>
              <a:schemeClr val="accent1"/>
            </a:solidFill>
            <a:prstDash val="solid"/>
          </a:ln>
        </p:spPr>
      </p:sp>
      <p:sp>
        <p:nvSpPr>
          <p:cNvPr id="26" name="Shape 22"/>
          <p:cNvSpPr/>
          <p:nvPr/>
        </p:nvSpPr>
        <p:spPr>
          <a:xfrm>
            <a:off x="1004559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Don Eddy,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New Shoes for H</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(Neue Schuhe für H), 1973–74</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Acryl auf Leinwand, 111,8 × 121,9 cm · Cleveland Museum of Art</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Schaufenster: Spiegelung und Durchblick überlagern sich</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Konsum und Vergänglichkeit</a:t>
            </a:r>
            <a:endParaRPr lang="en-US" sz="3200" dirty="0"/>
          </a:p>
        </p:txBody>
      </p:sp>
      <p:sp>
        <p:nvSpPr>
          <p:cNvPr id="4" name="Bildplatzhalter flack_marilyn"/>
          <p:cNvSpPr/>
          <p:nvPr/>
        </p:nvSpPr>
        <p:spPr>
          <a:xfrm>
            <a:off x="640080" y="1783080"/>
            <a:ext cx="3246120"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011680" y="2857500"/>
            <a:ext cx="502920" cy="502920"/>
          </a:xfrm>
          <a:prstGeom prst="rect">
            <a:avLst/>
          </a:prstGeom>
        </p:spPr>
      </p:pic>
      <p:sp>
        <p:nvSpPr>
          <p:cNvPr id="6" name="Text 3"/>
          <p:cNvSpPr txBox="1"/>
          <p:nvPr/>
        </p:nvSpPr>
        <p:spPr>
          <a:xfrm>
            <a:off x="777240" y="3424428"/>
            <a:ext cx="297180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Audrey Flack: Marilyn (Vanitas)</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739896" y="1691640"/>
            <a:ext cx="237744" cy="0"/>
          </a:xfrm>
          <a:prstGeom prst="line">
            <a:avLst/>
          </a:prstGeom>
          <a:noFill/>
          <a:ln w="25400">
            <a:solidFill>
              <a:schemeClr val="accent1"/>
            </a:solidFill>
            <a:prstDash val="solid"/>
          </a:ln>
        </p:spPr>
      </p:sp>
      <p:sp>
        <p:nvSpPr>
          <p:cNvPr id="10" name="Shape 7"/>
          <p:cNvSpPr/>
          <p:nvPr/>
        </p:nvSpPr>
        <p:spPr>
          <a:xfrm>
            <a:off x="3977640"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3739896" y="5120640"/>
            <a:ext cx="237744" cy="0"/>
          </a:xfrm>
          <a:prstGeom prst="line">
            <a:avLst/>
          </a:prstGeom>
          <a:noFill/>
          <a:ln w="25400">
            <a:solidFill>
              <a:schemeClr val="accent1"/>
            </a:solidFill>
            <a:prstDash val="solid"/>
          </a:ln>
        </p:spPr>
      </p:sp>
      <p:sp>
        <p:nvSpPr>
          <p:cNvPr id="14" name="Shape 11"/>
          <p:cNvSpPr/>
          <p:nvPr/>
        </p:nvSpPr>
        <p:spPr>
          <a:xfrm>
            <a:off x="3977640"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Audrey Flack,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Marilyn (Vanitas)</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1977</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über Acryl auf Leinwand, 243,8 × 243,8 cm · University of Arizona Museum of Art, Tucson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Vanitas-Stillleben: Schönheit und Vergänglichkeit</a:t>
            </a:r>
            <a:endParaRPr lang="en-US" sz="1300" dirty="0"/>
          </a:p>
        </p:txBody>
      </p:sp>
      <p:sp>
        <p:nvSpPr>
          <p:cNvPr id="16" name="Bildplatzhalter bell_gumball"/>
          <p:cNvSpPr/>
          <p:nvPr/>
        </p:nvSpPr>
        <p:spPr>
          <a:xfrm>
            <a:off x="6415888" y="1783080"/>
            <a:ext cx="324612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7787488" y="2857500"/>
            <a:ext cx="502920" cy="502920"/>
          </a:xfrm>
          <a:prstGeom prst="rect">
            <a:avLst/>
          </a:prstGeom>
        </p:spPr>
      </p:pic>
      <p:sp>
        <p:nvSpPr>
          <p:cNvPr id="18" name="Text 14"/>
          <p:cNvSpPr txBox="1"/>
          <p:nvPr/>
        </p:nvSpPr>
        <p:spPr>
          <a:xfrm>
            <a:off x="6553048" y="3424428"/>
            <a:ext cx="297180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Charles Bell: Gumball No. 10: Sugar Daddy</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9515704" y="1691640"/>
            <a:ext cx="237744" cy="0"/>
          </a:xfrm>
          <a:prstGeom prst="line">
            <a:avLst/>
          </a:prstGeom>
          <a:noFill/>
          <a:ln w="25400">
            <a:solidFill>
              <a:schemeClr val="accent1"/>
            </a:solidFill>
            <a:prstDash val="solid"/>
          </a:ln>
        </p:spPr>
      </p:sp>
      <p:sp>
        <p:nvSpPr>
          <p:cNvPr id="22" name="Shape 18"/>
          <p:cNvSpPr/>
          <p:nvPr/>
        </p:nvSpPr>
        <p:spPr>
          <a:xfrm>
            <a:off x="975344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9515704" y="5120640"/>
            <a:ext cx="237744" cy="0"/>
          </a:xfrm>
          <a:prstGeom prst="line">
            <a:avLst/>
          </a:prstGeom>
          <a:noFill/>
          <a:ln w="25400">
            <a:solidFill>
              <a:schemeClr val="accent1"/>
            </a:solidFill>
            <a:prstDash val="solid"/>
          </a:ln>
        </p:spPr>
      </p:sp>
      <p:sp>
        <p:nvSpPr>
          <p:cNvPr id="26" name="Shape 22"/>
          <p:cNvSpPr/>
          <p:nvPr/>
        </p:nvSpPr>
        <p:spPr>
          <a:xfrm>
            <a:off x="975344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Charles Bell,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Gumball No. 10: Sugar Daddy</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(Kaugummiautomat Nr. 10), 1975</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167,6 × 167,6 cm · Privatsammlung</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Konsumgut als Großformat – Glas, Glanz, Farbe</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Hyperrealismus: Der Mensch als Skulptur</a:t>
            </a:r>
            <a:endParaRPr lang="en-US" sz="3200" dirty="0"/>
          </a:p>
        </p:txBody>
      </p:sp>
      <p:sp>
        <p:nvSpPr>
          <p:cNvPr id="4" name="Bildplatzhalter hanson_supermarket"/>
          <p:cNvSpPr/>
          <p:nvPr/>
        </p:nvSpPr>
        <p:spPr>
          <a:xfrm>
            <a:off x="640080" y="1783080"/>
            <a:ext cx="2596896"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1687068" y="2857500"/>
            <a:ext cx="502920" cy="502920"/>
          </a:xfrm>
          <a:prstGeom prst="rect">
            <a:avLst/>
          </a:prstGeom>
        </p:spPr>
      </p:pic>
      <p:sp>
        <p:nvSpPr>
          <p:cNvPr id="6" name="Text 3"/>
          <p:cNvSpPr txBox="1"/>
          <p:nvPr/>
        </p:nvSpPr>
        <p:spPr>
          <a:xfrm>
            <a:off x="777240" y="3424428"/>
            <a:ext cx="2322576"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Duane Hanson: Supermarket Lady</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3090672" y="1691640"/>
            <a:ext cx="237744" cy="0"/>
          </a:xfrm>
          <a:prstGeom prst="line">
            <a:avLst/>
          </a:prstGeom>
          <a:noFill/>
          <a:ln w="25400">
            <a:solidFill>
              <a:schemeClr val="accent1"/>
            </a:solidFill>
            <a:prstDash val="solid"/>
          </a:ln>
        </p:spPr>
      </p:sp>
      <p:sp>
        <p:nvSpPr>
          <p:cNvPr id="10" name="Shape 7"/>
          <p:cNvSpPr/>
          <p:nvPr/>
        </p:nvSpPr>
        <p:spPr>
          <a:xfrm>
            <a:off x="3328416"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3090672" y="5120640"/>
            <a:ext cx="237744" cy="0"/>
          </a:xfrm>
          <a:prstGeom prst="line">
            <a:avLst/>
          </a:prstGeom>
          <a:noFill/>
          <a:ln w="25400">
            <a:solidFill>
              <a:schemeClr val="accent1"/>
            </a:solidFill>
            <a:prstDash val="solid"/>
          </a:ln>
        </p:spPr>
      </p:sp>
      <p:sp>
        <p:nvSpPr>
          <p:cNvPr id="14" name="Shape 11"/>
          <p:cNvSpPr/>
          <p:nvPr/>
        </p:nvSpPr>
        <p:spPr>
          <a:xfrm>
            <a:off x="3328416"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Duane Hanson,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Supermarket Lady</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(Supermarkt-Frau), 1969</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Polyester, Glasfaser, Kleidung, Einkaufswagen, lebensgroß · Ludwig Forum für Internationale Kunst, Aachen</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Lebensechte Skulptur aus dem Alltag</a:t>
            </a:r>
            <a:endParaRPr lang="en-US" sz="1300" dirty="0"/>
          </a:p>
        </p:txBody>
      </p:sp>
      <p:sp>
        <p:nvSpPr>
          <p:cNvPr id="16" name="Bildplatzhalter mueck_boy"/>
          <p:cNvSpPr/>
          <p:nvPr/>
        </p:nvSpPr>
        <p:spPr>
          <a:xfrm>
            <a:off x="6415888" y="1783080"/>
            <a:ext cx="2921508"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7625182" y="2857500"/>
            <a:ext cx="502920" cy="502920"/>
          </a:xfrm>
          <a:prstGeom prst="rect">
            <a:avLst/>
          </a:prstGeom>
        </p:spPr>
      </p:pic>
      <p:sp>
        <p:nvSpPr>
          <p:cNvPr id="18" name="Text 14"/>
          <p:cNvSpPr txBox="1"/>
          <p:nvPr/>
        </p:nvSpPr>
        <p:spPr>
          <a:xfrm>
            <a:off x="6553048" y="3424428"/>
            <a:ext cx="2647188"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Ron Mueck: Boy</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9191092" y="1691640"/>
            <a:ext cx="237744" cy="0"/>
          </a:xfrm>
          <a:prstGeom prst="line">
            <a:avLst/>
          </a:prstGeom>
          <a:noFill/>
          <a:ln w="25400">
            <a:solidFill>
              <a:schemeClr val="accent1"/>
            </a:solidFill>
            <a:prstDash val="solid"/>
          </a:ln>
        </p:spPr>
      </p:sp>
      <p:sp>
        <p:nvSpPr>
          <p:cNvPr id="22" name="Shape 18"/>
          <p:cNvSpPr/>
          <p:nvPr/>
        </p:nvSpPr>
        <p:spPr>
          <a:xfrm>
            <a:off x="9428836"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9191092" y="5120640"/>
            <a:ext cx="237744" cy="0"/>
          </a:xfrm>
          <a:prstGeom prst="line">
            <a:avLst/>
          </a:prstGeom>
          <a:noFill/>
          <a:ln w="25400">
            <a:solidFill>
              <a:schemeClr val="accent1"/>
            </a:solidFill>
            <a:prstDash val="solid"/>
          </a:ln>
        </p:spPr>
      </p:sp>
      <p:sp>
        <p:nvSpPr>
          <p:cNvPr id="26" name="Shape 22"/>
          <p:cNvSpPr/>
          <p:nvPr/>
        </p:nvSpPr>
        <p:spPr>
          <a:xfrm>
            <a:off x="9428836"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Ron Mueck,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Boy</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(Junge), 1999</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Glasfaser, Silikon, Harz, 490 × 490 × 240 cm · ARoS Aarhus Kunstmuseum</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Riesig vergrößert – jede Pore sichtbar</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05 · WERKBEISPIELE</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Hyperrealismus heute: schärfer als das Foto</a:t>
            </a:r>
            <a:endParaRPr lang="en-US" sz="3200" dirty="0"/>
          </a:p>
        </p:txBody>
      </p:sp>
      <p:sp>
        <p:nvSpPr>
          <p:cNvPr id="4" name="Bildplatzhalter helnwein_x"/>
          <p:cNvSpPr/>
          <p:nvPr/>
        </p:nvSpPr>
        <p:spPr>
          <a:xfrm>
            <a:off x="640080" y="1783080"/>
            <a:ext cx="5128870" cy="3246120"/>
          </a:xfrm>
          <a:prstGeom prst="rect">
            <a:avLst/>
          </a:prstGeom>
          <a:solidFill>
            <a:schemeClr val="tx2"/>
          </a:solidFill>
          <a:ln w="12700">
            <a:solidFill>
              <a:schemeClr val="accent3"/>
            </a:solidFill>
            <a:prstDash val="dash"/>
          </a:ln>
        </p:spPr>
      </p:sp>
      <p:pic>
        <p:nvPicPr>
          <p:cNvPr id="5" name="Image 0" descr="Platzhalter-Symbol">    </p:cNvPr>
          <p:cNvPicPr>
            <a:picLocks noChangeAspect="1"/>
          </p:cNvPicPr>
          <p:nvPr/>
        </p:nvPicPr>
        <p:blipFill>
          <a:blip r:embed="rId1"/>
          <a:stretch>
            <a:fillRect/>
          </a:stretch>
        </p:blipFill>
        <p:spPr>
          <a:xfrm>
            <a:off x="2953055" y="2857500"/>
            <a:ext cx="502920" cy="502920"/>
          </a:xfrm>
          <a:prstGeom prst="rect">
            <a:avLst/>
          </a:prstGeom>
        </p:spPr>
      </p:pic>
      <p:sp>
        <p:nvSpPr>
          <p:cNvPr id="6" name="Text 3"/>
          <p:cNvSpPr txBox="1"/>
          <p:nvPr/>
        </p:nvSpPr>
        <p:spPr>
          <a:xfrm>
            <a:off x="777240" y="3424428"/>
            <a:ext cx="485455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Gottfried Helnwein: Epiphany I (Adoration of the Magi)</a:t>
            </a:r>
            <a:endParaRPr lang="en-US" sz="1100" dirty="0"/>
          </a:p>
        </p:txBody>
      </p:sp>
      <p:sp>
        <p:nvSpPr>
          <p:cNvPr id="7" name="Shape 4"/>
          <p:cNvSpPr/>
          <p:nvPr/>
        </p:nvSpPr>
        <p:spPr>
          <a:xfrm>
            <a:off x="548640" y="1691640"/>
            <a:ext cx="237744" cy="0"/>
          </a:xfrm>
          <a:prstGeom prst="line">
            <a:avLst/>
          </a:prstGeom>
          <a:noFill/>
          <a:ln w="25400">
            <a:solidFill>
              <a:schemeClr val="accent1"/>
            </a:solidFill>
            <a:prstDash val="solid"/>
          </a:ln>
        </p:spPr>
      </p:sp>
      <p:sp>
        <p:nvSpPr>
          <p:cNvPr id="8" name="Shape 5"/>
          <p:cNvSpPr/>
          <p:nvPr/>
        </p:nvSpPr>
        <p:spPr>
          <a:xfrm>
            <a:off x="548640" y="1691640"/>
            <a:ext cx="0" cy="237744"/>
          </a:xfrm>
          <a:prstGeom prst="line">
            <a:avLst/>
          </a:prstGeom>
          <a:noFill/>
          <a:ln w="25400">
            <a:solidFill>
              <a:schemeClr val="accent1"/>
            </a:solidFill>
            <a:prstDash val="solid"/>
          </a:ln>
        </p:spPr>
      </p:sp>
      <p:sp>
        <p:nvSpPr>
          <p:cNvPr id="9" name="Shape 6"/>
          <p:cNvSpPr/>
          <p:nvPr/>
        </p:nvSpPr>
        <p:spPr>
          <a:xfrm>
            <a:off x="5622646" y="1691640"/>
            <a:ext cx="237744" cy="0"/>
          </a:xfrm>
          <a:prstGeom prst="line">
            <a:avLst/>
          </a:prstGeom>
          <a:noFill/>
          <a:ln w="25400">
            <a:solidFill>
              <a:schemeClr val="accent1"/>
            </a:solidFill>
            <a:prstDash val="solid"/>
          </a:ln>
        </p:spPr>
      </p:sp>
      <p:sp>
        <p:nvSpPr>
          <p:cNvPr id="10" name="Shape 7"/>
          <p:cNvSpPr/>
          <p:nvPr/>
        </p:nvSpPr>
        <p:spPr>
          <a:xfrm>
            <a:off x="5860390" y="1691640"/>
            <a:ext cx="0" cy="237744"/>
          </a:xfrm>
          <a:prstGeom prst="line">
            <a:avLst/>
          </a:prstGeom>
          <a:noFill/>
          <a:ln w="25400">
            <a:solidFill>
              <a:schemeClr val="accent1"/>
            </a:solidFill>
            <a:prstDash val="solid"/>
          </a:ln>
        </p:spPr>
      </p:sp>
      <p:sp>
        <p:nvSpPr>
          <p:cNvPr id="11" name="Shape 8"/>
          <p:cNvSpPr/>
          <p:nvPr/>
        </p:nvSpPr>
        <p:spPr>
          <a:xfrm>
            <a:off x="548640" y="5120640"/>
            <a:ext cx="237744" cy="0"/>
          </a:xfrm>
          <a:prstGeom prst="line">
            <a:avLst/>
          </a:prstGeom>
          <a:noFill/>
          <a:ln w="25400">
            <a:solidFill>
              <a:schemeClr val="accent1"/>
            </a:solidFill>
            <a:prstDash val="solid"/>
          </a:ln>
        </p:spPr>
      </p:sp>
      <p:sp>
        <p:nvSpPr>
          <p:cNvPr id="12" name="Shape 9"/>
          <p:cNvSpPr/>
          <p:nvPr/>
        </p:nvSpPr>
        <p:spPr>
          <a:xfrm>
            <a:off x="548640" y="4882896"/>
            <a:ext cx="0" cy="237744"/>
          </a:xfrm>
          <a:prstGeom prst="line">
            <a:avLst/>
          </a:prstGeom>
          <a:noFill/>
          <a:ln w="25400">
            <a:solidFill>
              <a:schemeClr val="accent1"/>
            </a:solidFill>
            <a:prstDash val="solid"/>
          </a:ln>
        </p:spPr>
      </p:sp>
      <p:sp>
        <p:nvSpPr>
          <p:cNvPr id="13" name="Shape 10"/>
          <p:cNvSpPr/>
          <p:nvPr/>
        </p:nvSpPr>
        <p:spPr>
          <a:xfrm>
            <a:off x="5622646" y="5120640"/>
            <a:ext cx="237744" cy="0"/>
          </a:xfrm>
          <a:prstGeom prst="line">
            <a:avLst/>
          </a:prstGeom>
          <a:noFill/>
          <a:ln w="25400">
            <a:solidFill>
              <a:schemeClr val="accent1"/>
            </a:solidFill>
            <a:prstDash val="solid"/>
          </a:ln>
        </p:spPr>
      </p:sp>
      <p:sp>
        <p:nvSpPr>
          <p:cNvPr id="14" name="Shape 11"/>
          <p:cNvSpPr/>
          <p:nvPr/>
        </p:nvSpPr>
        <p:spPr>
          <a:xfrm>
            <a:off x="5860390" y="4882896"/>
            <a:ext cx="0" cy="237744"/>
          </a:xfrm>
          <a:prstGeom prst="line">
            <a:avLst/>
          </a:prstGeom>
          <a:noFill/>
          <a:ln w="25400">
            <a:solidFill>
              <a:schemeClr val="accent1"/>
            </a:solidFill>
            <a:prstDash val="solid"/>
          </a:ln>
        </p:spPr>
      </p:sp>
      <p:sp>
        <p:nvSpPr>
          <p:cNvPr id="15" name="Text 12"/>
          <p:cNvSpPr txBox="1"/>
          <p:nvPr/>
        </p:nvSpPr>
        <p:spPr>
          <a:xfrm>
            <a:off x="640080"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Gottfried Helnwein,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Epiphany I (Adoration of the Magi)</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(Epiphanie I (Anbetung der Könige)), 1996</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und Acryl auf Leinwand, 210 × 333 cm · San Francisco Museum of Modern Art</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Hyperrealismus als Provokation</a:t>
            </a:r>
            <a:endParaRPr lang="en-US" sz="1300" dirty="0"/>
          </a:p>
        </p:txBody>
      </p:sp>
      <p:sp>
        <p:nvSpPr>
          <p:cNvPr id="16" name="Bildplatzhalter bernardi_x"/>
          <p:cNvSpPr/>
          <p:nvPr/>
        </p:nvSpPr>
        <p:spPr>
          <a:xfrm>
            <a:off x="6415888" y="1783080"/>
            <a:ext cx="4869180" cy="3246120"/>
          </a:xfrm>
          <a:prstGeom prst="rect">
            <a:avLst/>
          </a:prstGeom>
          <a:solidFill>
            <a:schemeClr val="tx2"/>
          </a:solidFill>
          <a:ln w="12700">
            <a:solidFill>
              <a:schemeClr val="accent3"/>
            </a:solidFill>
            <a:prstDash val="dash"/>
          </a:ln>
        </p:spPr>
      </p:sp>
      <p:pic>
        <p:nvPicPr>
          <p:cNvPr id="17" name="Image 1" descr="Platzhalter-Symbol">    </p:cNvPr>
          <p:cNvPicPr>
            <a:picLocks noChangeAspect="1"/>
          </p:cNvPicPr>
          <p:nvPr/>
        </p:nvPicPr>
        <p:blipFill>
          <a:blip r:embed="rId2"/>
          <a:stretch>
            <a:fillRect/>
          </a:stretch>
        </p:blipFill>
        <p:spPr>
          <a:xfrm>
            <a:off x="8599018" y="2857500"/>
            <a:ext cx="502920" cy="502920"/>
          </a:xfrm>
          <a:prstGeom prst="rect">
            <a:avLst/>
          </a:prstGeom>
        </p:spPr>
      </p:pic>
      <p:sp>
        <p:nvSpPr>
          <p:cNvPr id="18" name="Text 14"/>
          <p:cNvSpPr txBox="1"/>
          <p:nvPr/>
        </p:nvSpPr>
        <p:spPr>
          <a:xfrm>
            <a:off x="6553048" y="3424428"/>
            <a:ext cx="4594860" cy="731520"/>
          </a:xfrm>
          <a:prstGeom prst="rect">
            <a:avLst/>
          </a:prstGeom>
          <a:noFill/>
          <a:ln/>
        </p:spPr>
        <p:txBody>
          <a:bodyPr wrap="square" lIns="0" tIns="0" rIns="0" bIns="0" rtlCol="0" anchor="t">
            <a:normAutofit/>
          </a:bodyPr>
          <a:lstStyle/>
          <a:p>
            <a:pPr algn="ctr" indent="0" marL="0">
              <a:buNone/>
            </a:pPr>
            <a:r>
              <a:rPr lang="en-US" sz="1100" b="1" dirty="0">
                <a:solidFill>
                  <a:schemeClr val="accent5"/>
                </a:solidFill>
                <a:latin typeface="Arial" pitchFamily="34" charset="0"/>
                <a:ea typeface="Arial" pitchFamily="34" charset="-122"/>
                <a:cs typeface="Arial" pitchFamily="34" charset="-120"/>
              </a:rPr>
              <a:t>Abbildung einfügen</a:t>
            </a:r>
            <a:endParaRPr lang="en-US" sz="1100" dirty="0"/>
          </a:p>
          <a:p>
            <a:pPr algn="ctr" indent="0" marL="0">
              <a:buNone/>
            </a:pPr>
            <a:r>
              <a:rPr lang="en-US" sz="1100" dirty="0">
                <a:solidFill>
                  <a:schemeClr val="accent5"/>
                </a:solidFill>
                <a:latin typeface="Arial" pitchFamily="34" charset="0"/>
                <a:ea typeface="Arial" pitchFamily="34" charset="-122"/>
                <a:cs typeface="Arial" pitchFamily="34" charset="-120"/>
              </a:rPr>
              <a:t>Roberto Bernardi: Tutti Frutti</a:t>
            </a:r>
            <a:endParaRPr lang="en-US" sz="1100" dirty="0"/>
          </a:p>
        </p:txBody>
      </p:sp>
      <p:sp>
        <p:nvSpPr>
          <p:cNvPr id="19" name="Shape 15"/>
          <p:cNvSpPr/>
          <p:nvPr/>
        </p:nvSpPr>
        <p:spPr>
          <a:xfrm>
            <a:off x="6324448" y="1691640"/>
            <a:ext cx="237744" cy="0"/>
          </a:xfrm>
          <a:prstGeom prst="line">
            <a:avLst/>
          </a:prstGeom>
          <a:noFill/>
          <a:ln w="25400">
            <a:solidFill>
              <a:schemeClr val="accent1"/>
            </a:solidFill>
            <a:prstDash val="solid"/>
          </a:ln>
        </p:spPr>
      </p:sp>
      <p:sp>
        <p:nvSpPr>
          <p:cNvPr id="20" name="Shape 16"/>
          <p:cNvSpPr/>
          <p:nvPr/>
        </p:nvSpPr>
        <p:spPr>
          <a:xfrm>
            <a:off x="6324448" y="1691640"/>
            <a:ext cx="0" cy="237744"/>
          </a:xfrm>
          <a:prstGeom prst="line">
            <a:avLst/>
          </a:prstGeom>
          <a:noFill/>
          <a:ln w="25400">
            <a:solidFill>
              <a:schemeClr val="accent1"/>
            </a:solidFill>
            <a:prstDash val="solid"/>
          </a:ln>
        </p:spPr>
      </p:sp>
      <p:sp>
        <p:nvSpPr>
          <p:cNvPr id="21" name="Shape 17"/>
          <p:cNvSpPr/>
          <p:nvPr/>
        </p:nvSpPr>
        <p:spPr>
          <a:xfrm>
            <a:off x="11138764" y="1691640"/>
            <a:ext cx="237744" cy="0"/>
          </a:xfrm>
          <a:prstGeom prst="line">
            <a:avLst/>
          </a:prstGeom>
          <a:noFill/>
          <a:ln w="25400">
            <a:solidFill>
              <a:schemeClr val="accent1"/>
            </a:solidFill>
            <a:prstDash val="solid"/>
          </a:ln>
        </p:spPr>
      </p:sp>
      <p:sp>
        <p:nvSpPr>
          <p:cNvPr id="22" name="Shape 18"/>
          <p:cNvSpPr/>
          <p:nvPr/>
        </p:nvSpPr>
        <p:spPr>
          <a:xfrm>
            <a:off x="11376508" y="1691640"/>
            <a:ext cx="0" cy="237744"/>
          </a:xfrm>
          <a:prstGeom prst="line">
            <a:avLst/>
          </a:prstGeom>
          <a:noFill/>
          <a:ln w="25400">
            <a:solidFill>
              <a:schemeClr val="accent1"/>
            </a:solidFill>
            <a:prstDash val="solid"/>
          </a:ln>
        </p:spPr>
      </p:sp>
      <p:sp>
        <p:nvSpPr>
          <p:cNvPr id="23" name="Shape 19"/>
          <p:cNvSpPr/>
          <p:nvPr/>
        </p:nvSpPr>
        <p:spPr>
          <a:xfrm>
            <a:off x="6324448" y="5120640"/>
            <a:ext cx="237744" cy="0"/>
          </a:xfrm>
          <a:prstGeom prst="line">
            <a:avLst/>
          </a:prstGeom>
          <a:noFill/>
          <a:ln w="25400">
            <a:solidFill>
              <a:schemeClr val="accent1"/>
            </a:solidFill>
            <a:prstDash val="solid"/>
          </a:ln>
        </p:spPr>
      </p:sp>
      <p:sp>
        <p:nvSpPr>
          <p:cNvPr id="24" name="Shape 20"/>
          <p:cNvSpPr/>
          <p:nvPr/>
        </p:nvSpPr>
        <p:spPr>
          <a:xfrm>
            <a:off x="6324448" y="4882896"/>
            <a:ext cx="0" cy="237744"/>
          </a:xfrm>
          <a:prstGeom prst="line">
            <a:avLst/>
          </a:prstGeom>
          <a:noFill/>
          <a:ln w="25400">
            <a:solidFill>
              <a:schemeClr val="accent1"/>
            </a:solidFill>
            <a:prstDash val="solid"/>
          </a:ln>
        </p:spPr>
      </p:sp>
      <p:sp>
        <p:nvSpPr>
          <p:cNvPr id="25" name="Shape 21"/>
          <p:cNvSpPr/>
          <p:nvPr/>
        </p:nvSpPr>
        <p:spPr>
          <a:xfrm>
            <a:off x="11138764" y="5120640"/>
            <a:ext cx="237744" cy="0"/>
          </a:xfrm>
          <a:prstGeom prst="line">
            <a:avLst/>
          </a:prstGeom>
          <a:noFill/>
          <a:ln w="25400">
            <a:solidFill>
              <a:schemeClr val="accent1"/>
            </a:solidFill>
            <a:prstDash val="solid"/>
          </a:ln>
        </p:spPr>
      </p:sp>
      <p:sp>
        <p:nvSpPr>
          <p:cNvPr id="26" name="Shape 22"/>
          <p:cNvSpPr/>
          <p:nvPr/>
        </p:nvSpPr>
        <p:spPr>
          <a:xfrm>
            <a:off x="11376508" y="4882896"/>
            <a:ext cx="0" cy="237744"/>
          </a:xfrm>
          <a:prstGeom prst="line">
            <a:avLst/>
          </a:prstGeom>
          <a:noFill/>
          <a:ln w="25400">
            <a:solidFill>
              <a:schemeClr val="accent1"/>
            </a:solidFill>
            <a:prstDash val="solid"/>
          </a:ln>
        </p:spPr>
      </p:sp>
      <p:sp>
        <p:nvSpPr>
          <p:cNvPr id="27" name="Text 23"/>
          <p:cNvSpPr txBox="1"/>
          <p:nvPr/>
        </p:nvSpPr>
        <p:spPr>
          <a:xfrm>
            <a:off x="6415888" y="5257800"/>
            <a:ext cx="5135728" cy="777240"/>
          </a:xfrm>
          <a:prstGeom prst="rect">
            <a:avLst/>
          </a:prstGeom>
          <a:noFill/>
          <a:ln/>
        </p:spPr>
        <p:txBody>
          <a:bodyPr wrap="square" lIns="0" tIns="0" rIns="0" bIns="0" rtlCol="0" anchor="t"/>
          <a:lstStyle/>
          <a:p>
            <a:pPr indent="0" marL="0">
              <a:spcAft>
                <a:spcPts val="200"/>
              </a:spcAft>
              <a:buNone/>
            </a:pPr>
            <a:r>
              <a:rPr lang="en-US" sz="1300" b="1" dirty="0">
                <a:solidFill>
                  <a:schemeClr val="bg1"/>
                </a:solidFill>
                <a:latin typeface="Arial" pitchFamily="34" charset="0"/>
                <a:ea typeface="Arial" pitchFamily="34" charset="-122"/>
                <a:cs typeface="Arial" pitchFamily="34" charset="-120"/>
              </a:rPr>
              <a:t>Roberto Bernardi, </a:t>
            </a:r>
            <a:pPr indent="0" marL="0">
              <a:spcAft>
                <a:spcPts val="200"/>
              </a:spcAft>
              <a:buNone/>
            </a:pPr>
            <a:r>
              <a:rPr lang="en-US" sz="1300" b="1" i="1" dirty="0">
                <a:solidFill>
                  <a:schemeClr val="bg1"/>
                </a:solidFill>
                <a:latin typeface="Arial" pitchFamily="34" charset="0"/>
                <a:ea typeface="Arial" pitchFamily="34" charset="-122"/>
                <a:cs typeface="Arial" pitchFamily="34" charset="-120"/>
              </a:rPr>
              <a:t>Tutti Frutti</a:t>
            </a:r>
            <a:pPr indent="0" marL="0">
              <a:spcAft>
                <a:spcPts val="200"/>
              </a:spcAft>
              <a:buNone/>
            </a:pPr>
            <a:r>
              <a:rPr lang="en-US" sz="1300" b="1" dirty="0">
                <a:solidFill>
                  <a:schemeClr val="bg1"/>
                </a:solidFill>
                <a:latin typeface="Arial" pitchFamily="34" charset="0"/>
                <a:ea typeface="Arial" pitchFamily="34" charset="-122"/>
                <a:cs typeface="Arial" pitchFamily="34" charset="-120"/>
              </a:rPr>
              <a:t>, 2008</a:t>
            </a:r>
            <a:endParaRPr lang="en-US" sz="1300" dirty="0"/>
          </a:p>
          <a:p>
            <a:pPr indent="0" marL="0">
              <a:spcAft>
                <a:spcPts val="200"/>
              </a:spcAft>
              <a:buNone/>
            </a:pPr>
            <a:r>
              <a:rPr lang="en-US" sz="1100" dirty="0">
                <a:solidFill>
                  <a:schemeClr val="bg2"/>
                </a:solidFill>
                <a:latin typeface="Arial" pitchFamily="34" charset="0"/>
                <a:ea typeface="Arial" pitchFamily="34" charset="-122"/>
                <a:cs typeface="Arial" pitchFamily="34" charset="-120"/>
              </a:rPr>
              <a:t>Öl auf Leinwand, 100 × 150 cm · Privatsammlung</a:t>
            </a:r>
            <a:endParaRPr lang="en-US" sz="1300" dirty="0"/>
          </a:p>
          <a:p>
            <a:pPr indent="0" marL="0">
              <a:spcAft>
                <a:spcPts val="200"/>
              </a:spcAft>
              <a:buNone/>
            </a:pPr>
            <a:r>
              <a:rPr lang="en-US" sz="1300" dirty="0">
                <a:solidFill>
                  <a:schemeClr val="accent1"/>
                </a:solidFill>
                <a:latin typeface="Arial" pitchFamily="34" charset="0"/>
                <a:ea typeface="Arial" pitchFamily="34" charset="-122"/>
                <a:cs typeface="Arial" pitchFamily="34" charset="-120"/>
              </a:rPr>
              <a:t>→ Glas und Süßigkeiten – schärfer als jedes Foto</a:t>
            </a:r>
            <a:endParaRPr lang="en-US" sz="13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06 · FAZIT</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Mehr als bloßes Abmalen?</a:t>
            </a:r>
            <a:endParaRPr lang="en-US" sz="3200" dirty="0"/>
          </a:p>
        </p:txBody>
      </p:sp>
      <p:sp>
        <p:nvSpPr>
          <p:cNvPr id="4" name="Shape 2"/>
          <p:cNvSpPr/>
          <p:nvPr/>
        </p:nvSpPr>
        <p:spPr>
          <a:xfrm>
            <a:off x="548640" y="1737360"/>
            <a:ext cx="4572000" cy="4434840"/>
          </a:xfrm>
          <a:prstGeom prst="rect">
            <a:avLst/>
          </a:prstGeom>
          <a:solidFill>
            <a:schemeClr val="tx2"/>
          </a:solidFill>
          <a:ln w="12700">
            <a:solidFill>
              <a:schemeClr val="tx2"/>
            </a:solidFill>
            <a:prstDash val="solid"/>
          </a:ln>
        </p:spPr>
      </p:sp>
      <p:pic>
        <p:nvPicPr>
          <p:cNvPr id="5" name="Image 0" descr="Zitat-Symbol">    </p:cNvPr>
          <p:cNvPicPr>
            <a:picLocks noChangeAspect="1"/>
          </p:cNvPicPr>
          <p:nvPr/>
        </p:nvPicPr>
        <p:blipFill>
          <a:blip r:embed="rId1"/>
          <a:stretch>
            <a:fillRect/>
          </a:stretch>
        </p:blipFill>
        <p:spPr>
          <a:xfrm>
            <a:off x="868680" y="2011680"/>
            <a:ext cx="548640" cy="548640"/>
          </a:xfrm>
          <a:prstGeom prst="rect">
            <a:avLst/>
          </a:prstGeom>
        </p:spPr>
      </p:pic>
      <p:sp>
        <p:nvSpPr>
          <p:cNvPr id="6" name="Text 3"/>
          <p:cNvSpPr txBox="1"/>
          <p:nvPr/>
        </p:nvSpPr>
        <p:spPr>
          <a:xfrm>
            <a:off x="868680" y="2743200"/>
            <a:ext cx="3931920" cy="2377440"/>
          </a:xfrm>
          <a:prstGeom prst="rect">
            <a:avLst/>
          </a:prstGeom>
          <a:noFill/>
          <a:ln/>
        </p:spPr>
        <p:txBody>
          <a:bodyPr wrap="square" lIns="0" tIns="0" rIns="0" bIns="0" rtlCol="0" anchor="t"/>
          <a:lstStyle/>
          <a:p>
            <a:pPr indent="0" marL="0">
              <a:buNone/>
            </a:pPr>
            <a:r>
              <a:rPr lang="en-US" sz="2800" b="1" dirty="0">
                <a:solidFill>
                  <a:schemeClr val="bg1"/>
                </a:solidFill>
                <a:latin typeface="Georgia" pitchFamily="34" charset="0"/>
                <a:ea typeface="Georgia" pitchFamily="34" charset="-122"/>
                <a:cs typeface="Georgia" pitchFamily="34" charset="-120"/>
              </a:rPr>
              <a:t>Ist es Kunst, ein Foto perfekt abzumalen?</a:t>
            </a:r>
            <a:endParaRPr lang="en-US" sz="2800" dirty="0"/>
          </a:p>
        </p:txBody>
      </p:sp>
      <p:sp>
        <p:nvSpPr>
          <p:cNvPr id="7" name="Text 4"/>
          <p:cNvSpPr txBox="1"/>
          <p:nvPr/>
        </p:nvSpPr>
        <p:spPr>
          <a:xfrm>
            <a:off x="868680" y="5212080"/>
            <a:ext cx="3931920" cy="7315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Frage an euch – was meint ihr?</a:t>
            </a:r>
            <a:endParaRPr lang="en-US" sz="1400" dirty="0"/>
          </a:p>
        </p:txBody>
      </p:sp>
      <p:sp>
        <p:nvSpPr>
          <p:cNvPr id="8" name="Shape 5"/>
          <p:cNvSpPr/>
          <p:nvPr/>
        </p:nvSpPr>
        <p:spPr>
          <a:xfrm>
            <a:off x="5577840" y="1737360"/>
            <a:ext cx="566928" cy="566928"/>
          </a:xfrm>
          <a:prstGeom prst="ellipse">
            <a:avLst/>
          </a:prstGeom>
          <a:solidFill>
            <a:schemeClr val="accent4"/>
          </a:solidFill>
          <a:ln w="15875">
            <a:solidFill>
              <a:schemeClr val="accent1"/>
            </a:solidFill>
            <a:prstDash val="solid"/>
          </a:ln>
        </p:spPr>
      </p:sp>
      <p:pic>
        <p:nvPicPr>
          <p:cNvPr id="9" name="Image 1" descr="Symbol AlertTriangle">    </p:cNvPr>
          <p:cNvPicPr>
            <a:picLocks noChangeAspect="1"/>
          </p:cNvPicPr>
          <p:nvPr/>
        </p:nvPicPr>
        <p:blipFill>
          <a:blip r:embed="rId2"/>
          <a:stretch>
            <a:fillRect/>
          </a:stretch>
        </p:blipFill>
        <p:spPr>
          <a:xfrm>
            <a:off x="5702564" y="1862084"/>
            <a:ext cx="317480" cy="317480"/>
          </a:xfrm>
          <a:prstGeom prst="rect">
            <a:avLst/>
          </a:prstGeom>
        </p:spPr>
      </p:pic>
      <p:sp>
        <p:nvSpPr>
          <p:cNvPr id="10" name="Text 6"/>
          <p:cNvSpPr txBox="1"/>
          <p:nvPr/>
        </p:nvSpPr>
        <p:spPr>
          <a:xfrm>
            <a:off x="6355080" y="173736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Kritik</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Vorwurf des bloßen Abmalens: technisch perfekt, aber ohne eigene Idee.</a:t>
            </a:r>
            <a:endParaRPr lang="en-US" sz="1700" dirty="0"/>
          </a:p>
        </p:txBody>
      </p:sp>
      <p:sp>
        <p:nvSpPr>
          <p:cNvPr id="11" name="Shape 7"/>
          <p:cNvSpPr/>
          <p:nvPr/>
        </p:nvSpPr>
        <p:spPr>
          <a:xfrm>
            <a:off x="5577840" y="3246120"/>
            <a:ext cx="566928" cy="566928"/>
          </a:xfrm>
          <a:prstGeom prst="ellipse">
            <a:avLst/>
          </a:prstGeom>
          <a:solidFill>
            <a:schemeClr val="accent4"/>
          </a:solidFill>
          <a:ln w="15875">
            <a:solidFill>
              <a:schemeClr val="accent1"/>
            </a:solidFill>
            <a:prstDash val="solid"/>
          </a:ln>
        </p:spPr>
      </p:sp>
      <p:pic>
        <p:nvPicPr>
          <p:cNvPr id="12" name="Image 2" descr="Symbol Eye">    </p:cNvPr>
          <p:cNvPicPr>
            <a:picLocks noChangeAspect="1"/>
          </p:cNvPicPr>
          <p:nvPr/>
        </p:nvPicPr>
        <p:blipFill>
          <a:blip r:embed="rId3"/>
          <a:stretch>
            <a:fillRect/>
          </a:stretch>
        </p:blipFill>
        <p:spPr>
          <a:xfrm>
            <a:off x="5702564" y="3370844"/>
            <a:ext cx="317480" cy="317480"/>
          </a:xfrm>
          <a:prstGeom prst="rect">
            <a:avLst/>
          </a:prstGeom>
        </p:spPr>
      </p:pic>
      <p:sp>
        <p:nvSpPr>
          <p:cNvPr id="13" name="Text 8"/>
          <p:cNvSpPr txBox="1"/>
          <p:nvPr/>
        </p:nvSpPr>
        <p:spPr>
          <a:xfrm>
            <a:off x="6355080" y="324612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Bedeutung</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Thema ist die Wahrnehmung: Wie sehr vertrauen wir Bildern – und was ist „echt“?</a:t>
            </a:r>
            <a:endParaRPr lang="en-US" sz="1700" dirty="0"/>
          </a:p>
        </p:txBody>
      </p:sp>
      <p:sp>
        <p:nvSpPr>
          <p:cNvPr id="14" name="Shape 9"/>
          <p:cNvSpPr/>
          <p:nvPr/>
        </p:nvSpPr>
        <p:spPr>
          <a:xfrm>
            <a:off x="5577840" y="4754880"/>
            <a:ext cx="566928" cy="566928"/>
          </a:xfrm>
          <a:prstGeom prst="ellipse">
            <a:avLst/>
          </a:prstGeom>
          <a:solidFill>
            <a:schemeClr val="accent4"/>
          </a:solidFill>
          <a:ln w="15875">
            <a:solidFill>
              <a:schemeClr val="accent1"/>
            </a:solidFill>
            <a:prstDash val="solid"/>
          </a:ln>
        </p:spPr>
      </p:sp>
      <p:pic>
        <p:nvPicPr>
          <p:cNvPr id="15" name="Image 3" descr="Symbol DeviceMobile">    </p:cNvPr>
          <p:cNvPicPr>
            <a:picLocks noChangeAspect="1"/>
          </p:cNvPicPr>
          <p:nvPr/>
        </p:nvPicPr>
        <p:blipFill>
          <a:blip r:embed="rId4"/>
          <a:stretch>
            <a:fillRect/>
          </a:stretch>
        </p:blipFill>
        <p:spPr>
          <a:xfrm>
            <a:off x="5702564" y="4879604"/>
            <a:ext cx="317480" cy="317480"/>
          </a:xfrm>
          <a:prstGeom prst="rect">
            <a:avLst/>
          </a:prstGeom>
        </p:spPr>
      </p:pic>
      <p:sp>
        <p:nvSpPr>
          <p:cNvPr id="16" name="Text 10"/>
          <p:cNvSpPr txBox="1"/>
          <p:nvPr/>
        </p:nvSpPr>
        <p:spPr>
          <a:xfrm>
            <a:off x="6355080" y="4754880"/>
            <a:ext cx="5287975" cy="1371600"/>
          </a:xfrm>
          <a:prstGeom prst="rect">
            <a:avLst/>
          </a:prstGeom>
          <a:noFill/>
          <a:ln/>
        </p:spPr>
        <p:txBody>
          <a:bodyPr wrap="square" lIns="0" tIns="0" rIns="0" bIns="0" rtlCol="0" anchor="t"/>
          <a:lstStyle/>
          <a:p>
            <a:pPr indent="0" marL="0">
              <a:spcAft>
                <a:spcPts val="300"/>
              </a:spcAft>
              <a:buNone/>
            </a:pPr>
            <a:r>
              <a:rPr lang="en-US" sz="1700" b="1" dirty="0">
                <a:solidFill>
                  <a:schemeClr val="bg1"/>
                </a:solidFill>
                <a:latin typeface="Arial" pitchFamily="34" charset="0"/>
                <a:ea typeface="Arial" pitchFamily="34" charset="-122"/>
                <a:cs typeface="Arial" pitchFamily="34" charset="-120"/>
              </a:rPr>
              <a:t>Aktualität</a:t>
            </a:r>
            <a:endParaRPr lang="en-US" sz="1700" dirty="0"/>
          </a:p>
          <a:p>
            <a:pPr indent="0" marL="0">
              <a:spcAft>
                <a:spcPts val="300"/>
              </a:spcAft>
              <a:buNone/>
            </a:pPr>
            <a:r>
              <a:rPr lang="en-US" sz="1400" dirty="0">
                <a:solidFill>
                  <a:schemeClr val="bg2"/>
                </a:solidFill>
                <a:latin typeface="Arial" pitchFamily="34" charset="0"/>
                <a:ea typeface="Arial" pitchFamily="34" charset="-122"/>
                <a:cs typeface="Arial" pitchFamily="34" charset="-120"/>
              </a:rPr>
              <a:t>In Zeiten von Smartphone, Filtern und KI-Bildern aktueller denn je.</a:t>
            </a:r>
            <a:endParaRPr lang="en-US" sz="17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QUELLEN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Quellen</a:t>
            </a:r>
            <a:endParaRPr lang="en-US" sz="3200" dirty="0"/>
          </a:p>
        </p:txBody>
      </p:sp>
      <p:sp>
        <p:nvSpPr>
          <p:cNvPr id="4" name="Text 2"/>
          <p:cNvSpPr txBox="1"/>
          <p:nvPr/>
        </p:nvSpPr>
        <p:spPr>
          <a:xfrm>
            <a:off x="548640" y="1691640"/>
            <a:ext cx="5410048"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Literatur</a:t>
            </a:r>
            <a:endParaRPr lang="en-US" sz="1500" dirty="0"/>
          </a:p>
        </p:txBody>
      </p:sp>
      <p:sp>
        <p:nvSpPr>
          <p:cNvPr id="5" name="Text 3"/>
          <p:cNvSpPr txBox="1"/>
          <p:nvPr/>
        </p:nvSpPr>
        <p:spPr>
          <a:xfrm>
            <a:off x="548640" y="2148840"/>
            <a:ext cx="5410048" cy="4023360"/>
          </a:xfrm>
          <a:prstGeom prst="rect">
            <a:avLst/>
          </a:prstGeom>
          <a:noFill/>
          <a:ln/>
        </p:spPr>
        <p:txBody>
          <a:bodyPr wrap="square" lIns="0" tIns="0" rIns="0" bIns="0" rtlCol="0" anchor="t"/>
          <a:lstStyle/>
          <a:p>
            <a:pPr indent="0" marL="0">
              <a:spcAft>
                <a:spcPts val="600"/>
              </a:spcAft>
              <a:buNone/>
            </a:pPr>
            <a:r>
              <a:rPr lang="en-US" sz="1100" dirty="0">
                <a:solidFill>
                  <a:schemeClr val="bg1"/>
                </a:solidFill>
                <a:latin typeface="Arial" pitchFamily="34" charset="0"/>
                <a:ea typeface="Arial" pitchFamily="34" charset="-122"/>
                <a:cs typeface="Arial" pitchFamily="34" charset="-120"/>
              </a:rPr>
              <a:t>(wird nach der Recherche ergänzt)</a:t>
            </a:r>
            <a:endParaRPr lang="en-US" sz="1100" dirty="0"/>
          </a:p>
        </p:txBody>
      </p:sp>
      <p:sp>
        <p:nvSpPr>
          <p:cNvPr id="6" name="Text 4"/>
          <p:cNvSpPr txBox="1"/>
          <p:nvPr/>
        </p:nvSpPr>
        <p:spPr>
          <a:xfrm>
            <a:off x="6233008" y="1691640"/>
            <a:ext cx="5410048" cy="365760"/>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Internet</a:t>
            </a:r>
            <a:endParaRPr lang="en-US" sz="1500" dirty="0"/>
          </a:p>
        </p:txBody>
      </p:sp>
      <p:sp>
        <p:nvSpPr>
          <p:cNvPr id="7" name="Text 5"/>
          <p:cNvSpPr txBox="1"/>
          <p:nvPr/>
        </p:nvSpPr>
        <p:spPr>
          <a:xfrm>
            <a:off x="6233008" y="2148840"/>
            <a:ext cx="5410048" cy="4023360"/>
          </a:xfrm>
          <a:prstGeom prst="rect">
            <a:avLst/>
          </a:prstGeom>
          <a:noFill/>
          <a:ln/>
        </p:spPr>
        <p:txBody>
          <a:bodyPr wrap="square" lIns="0" tIns="0" rIns="0" bIns="0" rtlCol="0" anchor="t"/>
          <a:lstStyle/>
          <a:p>
            <a:pPr indent="0" marL="0">
              <a:spcAft>
                <a:spcPts val="600"/>
              </a:spcAft>
              <a:buNone/>
            </a:pPr>
            <a:r>
              <a:rPr lang="en-US" sz="1100" dirty="0">
                <a:solidFill>
                  <a:schemeClr val="bg1"/>
                </a:solidFill>
                <a:latin typeface="Arial" pitchFamily="34" charset="0"/>
                <a:ea typeface="Arial" pitchFamily="34" charset="-122"/>
                <a:cs typeface="Arial" pitchFamily="34" charset="-120"/>
              </a:rPr>
              <a:t>(wird nach der Recherche ergänzt)</a:t>
            </a:r>
            <a:endParaRPr lang="en-US" sz="11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94415" cy="292608"/>
          </a:xfrm>
          <a:prstGeom prst="rect">
            <a:avLst/>
          </a:prstGeom>
          <a:noFill/>
          <a:ln/>
        </p:spPr>
        <p:txBody>
          <a:bodyPr wrap="square" lIns="0" tIns="0" rIns="0" bIns="0" rtlCol="0" anchor="ctr"/>
          <a:lstStyle/>
          <a:p>
            <a:pPr algn="l" indent="0" marL="0">
              <a:buNone/>
            </a:pPr>
            <a:r>
              <a:rPr lang="en-US" sz="1200" b="1" spc="300" kern="0" dirty="0">
                <a:solidFill>
                  <a:schemeClr val="accent1"/>
                </a:solidFill>
                <a:latin typeface="Arial" pitchFamily="34" charset="0"/>
                <a:ea typeface="Arial" pitchFamily="34" charset="-122"/>
                <a:cs typeface="Arial" pitchFamily="34" charset="-120"/>
              </a:rPr>
              <a:t>QUELLEN</a:t>
            </a:r>
            <a:endParaRPr lang="en-US" sz="1200" dirty="0"/>
          </a:p>
        </p:txBody>
      </p:sp>
      <p:sp>
        <p:nvSpPr>
          <p:cNvPr id="3" name="Text 0"/>
          <p:cNvSpPr/>
          <p:nvPr>
            <p:ph idx="101" type="title" hasCustomPrompt="1"/>
          </p:nvPr>
        </p:nvSpPr>
        <p:spPr>
          <a:xfrm>
            <a:off x="548640" y="694944"/>
            <a:ext cx="11094415" cy="749808"/>
          </a:xfrm>
          <a:prstGeom prst="rect">
            <a:avLst/>
          </a:prstGeom>
          <a:noFill/>
          <a:ln/>
        </p:spPr>
        <p:txBody>
          <a:bodyPr wrap="square" lIns="0" tIns="0" rIns="0" bIns="0" rtlCol="0" anchor="t"/>
          <a:lstStyle/>
          <a:p>
            <a:pPr algn="l" indent="0" marL="0">
              <a:buNone/>
            </a:pPr>
            <a:r>
              <a:rPr lang="en-US" sz="3200" b="1" dirty="0">
                <a:solidFill>
                  <a:schemeClr val="bg1"/>
                </a:solidFill>
                <a:latin typeface="Georgia" pitchFamily="34" charset="0"/>
                <a:ea typeface="Georgia" pitchFamily="34" charset="-122"/>
                <a:cs typeface="Georgia" pitchFamily="34" charset="-120"/>
              </a:rPr>
              <a:t>Bildnachweise</a:t>
            </a:r>
            <a:endParaRPr lang="en-US" sz="3200" dirty="0"/>
          </a:p>
        </p:txBody>
      </p:sp>
      <p:sp>
        <p:nvSpPr>
          <p:cNvPr id="4" name="Text 2"/>
          <p:cNvSpPr txBox="1"/>
          <p:nvPr/>
        </p:nvSpPr>
        <p:spPr>
          <a:xfrm>
            <a:off x="548640" y="1691640"/>
            <a:ext cx="5410048" cy="4480560"/>
          </a:xfrm>
          <a:prstGeom prst="rect">
            <a:avLst/>
          </a:prstGeom>
          <a:noFill/>
          <a:ln/>
        </p:spPr>
        <p:txBody>
          <a:bodyPr wrap="square" lIns="0" tIns="0" rIns="0" bIns="0" rtlCol="0" anchor="t"/>
          <a:lstStyle/>
          <a:p>
            <a:pPr indent="0" marL="0">
              <a:spcAft>
                <a:spcPts val="500"/>
              </a:spcAft>
              <a:buNone/>
            </a:pPr>
            <a:r>
              <a:rPr lang="en-US" sz="1000" dirty="0">
                <a:solidFill>
                  <a:schemeClr val="bg1"/>
                </a:solidFill>
                <a:latin typeface="Arial" pitchFamily="34" charset="0"/>
                <a:ea typeface="Arial" pitchFamily="34" charset="-122"/>
                <a:cs typeface="Arial" pitchFamily="34" charset="-120"/>
              </a:rPr>
              <a:t>(wird nach der Recherche ergänzt)</a:t>
            </a:r>
            <a:endParaRPr lang="en-US" sz="1000" dirty="0"/>
          </a:p>
        </p:txBody>
      </p:sp>
      <p:sp>
        <p:nvSpPr>
          <p:cNvPr id="5" name="Text 3"/>
          <p:cNvSpPr txBox="1"/>
          <p:nvPr/>
        </p:nvSpPr>
        <p:spPr>
          <a:xfrm>
            <a:off x="6233008" y="1691640"/>
            <a:ext cx="5410048" cy="4480560"/>
          </a:xfrm>
          <a:prstGeom prst="rect">
            <a:avLst/>
          </a:prstGeom>
          <a:noFill/>
          <a:ln/>
        </p:spPr>
        <p:txBody>
          <a:bodyPr wrap="square" lIns="0" tIns="0" rIns="0" bIns="0" rtlCol="0" anchor="t"/>
          <a:lstStyle/>
          <a:p>
            <a:pPr indent="0" marL="0">
              <a:spcAft>
                <a:spcPts val="500"/>
              </a:spcAft>
              <a:buNone/>
            </a:pPr>
            <a:endParaRPr lang="en-US" sz="1000" dirty="0"/>
          </a:p>
        </p:txBody>
      </p:sp>
      <p:sp>
        <p:nvSpPr>
          <p:cNvPr id="25" name="Slide Number Placeholder 0"/>
          <p:cNvSpPr>
            <a:spLocks noGrp="1"/>
          </p:cNvSpPr>
          <p:nvPr>
            <p:ph type="sldNum" sz="quarter" idx="4294967295"/>
          </p:nvPr>
        </p:nvSpPr>
        <p:spPr>
          <a:xfrm>
            <a:off x="10911535" y="638251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A8A3"/>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Dunkelkammer">
  <a:themeElements>
    <a:clrScheme name="Dunkelkammer">
      <a:dk1>
        <a:srgbClr val="141414"/>
      </a:dk1>
      <a:lt1>
        <a:srgbClr val="F5F5F2"/>
      </a:lt1>
      <a:dk2>
        <a:srgbClr val="242424"/>
      </a:dk2>
      <a:lt2>
        <a:srgbClr val="A8A8A3"/>
      </a:lt2>
      <a:accent1>
        <a:srgbClr val="F5B21B"/>
      </a:accent1>
      <a:accent2>
        <a:srgbClr val="8CC4D6"/>
      </a:accent2>
      <a:accent3>
        <a:srgbClr val="3A3A3A"/>
      </a:accent3>
      <a:accent4>
        <a:srgbClr val="1C1C1C"/>
      </a:accent4>
      <a:accent5>
        <a:srgbClr val="6F6F6A"/>
      </a:accent5>
      <a:accent6>
        <a:srgbClr val="DADAD5"/>
      </a:accent6>
      <a:hlink>
        <a:srgbClr val="F5B21B"/>
      </a:hlink>
      <a:folHlink>
        <a:srgbClr val="C9941A"/>
      </a:folHlink>
    </a:clrScheme>
    <a:fontScheme name="Dunkelkamm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Fotorealismus &amp; Hyperrealismus</dc:title>
  <dc:subject>Referat zu Kunstepochen</dc:subject>
  <dc:creator>Referat Kunst</dc:creator>
  <cp:lastModifiedBy>Referat Kunst</cp:lastModifiedBy>
  <cp:revision>1</cp:revision>
  <dcterms:created xsi:type="dcterms:W3CDTF">2026-10-25T12:35:44Z</dcterms:created>
  <dcterms:modified xsi:type="dcterms:W3CDTF">2026-10-25T12:35:44Z</dcterms:modified>
</cp:coreProperties>
</file>